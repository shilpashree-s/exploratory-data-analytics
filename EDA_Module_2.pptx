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y="5143500" cx="9144000"/>
  <p:notesSz cx="5143500" cy="9144000"/>
  <p:embeddedFontLst>
    <p:embeddedFont>
      <p:font typeface="Red Hat Display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3" roundtripDataSignature="AMtx7mjNdiMwSSIfh6b315JRvsNp3Zkd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2997F6-8EFB-4589-B066-1F20035BF573}">
  <a:tblStyle styleId="{B92997F6-8EFB-4589-B066-1F20035BF57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edHatDisplay-boldItalic.fntdata"/><Relationship Id="rId61" Type="http://schemas.openxmlformats.org/officeDocument/2006/relationships/font" Target="fonts/RedHatDisplay-italic.fntdata"/><Relationship Id="rId20" Type="http://schemas.openxmlformats.org/officeDocument/2006/relationships/slide" Target="slides/slide14.xml"/><Relationship Id="rId63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RedHatDisplay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RedHatDisplay-regular.fntdata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08748be71_0_36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3d08748be71_0_367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08748be71_0_5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d08748be71_0_5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3d08748be71_0_5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d08748be71_0_5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g3d08748be71_0_5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4" name="Google Shape;474;g3d08748be71_0_5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d08748be71_0_70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4" name="Google Shape;624;g3d08748be71_0_700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d08748be71_0_872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g3d08748be71_0_872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9" name="Google Shape;64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4" name="Google Shape;74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5" name="Google Shape;74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6" name="Google Shape;8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7" name="Google Shape;84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2" name="Google Shape;9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3" name="Google Shape;9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0" name="Google Shape;113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1" name="Google Shape;113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1" name="Google Shape;12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2" name="Google Shape;126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6" name="Google Shape;13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7" name="Google Shape;138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4" name="Google Shape;1554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5" name="Google Shape;1555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5" name="Google Shape;157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6" name="Google Shape;157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3" name="Google Shape;179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4" name="Google Shape;179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0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2" name="Google Shape;208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3" name="Google Shape;208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5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Google Shape;2236;g3d3dc0cb4f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7" name="Google Shape;2237;g3d3dc0cb4f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8" name="Google Shape;2238;g3d3dc0cb4f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4" name="Shape 2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5" name="Google Shape;242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6" name="Google Shape;242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7" name="Google Shape;242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0" name="Shape 2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" name="Google Shape;262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2" name="Google Shape;262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3" name="Google Shape;262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2" name="Shape 2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3" name="Google Shape;275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4" name="Google Shape;275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5" name="Google Shape;275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6" name="Shape 2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7" name="Google Shape;292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8" name="Google Shape;292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9" name="Google Shape;292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7" name="Shape 3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8" name="Google Shape;309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9" name="Google Shape;309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0" name="Google Shape;310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6" name="Shape 3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7" name="Google Shape;3197;g3d4ede4960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8" name="Google Shape;3198;g3d4ede4960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9" name="Google Shape;3199;g3d4ede4960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3" name="Shape 3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4" name="Google Shape;320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5" name="Google Shape;320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6" name="Google Shape;320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2" name="Shape 3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3" name="Google Shape;3213;g386fd86d3e8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4" name="Google Shape;3214;g386fd86d3e8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5" name="Google Shape;3215;g386fd86d3e8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2" name="Shape 3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3" name="Google Shape;3223;g386fd86d3e8_0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4" name="Google Shape;3224;g386fd86d3e8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5" name="Google Shape;3225;g386fd86d3e8_0_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3" name="Shape 3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4" name="Google Shape;3234;g386fd86d3e8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5" name="Google Shape;3235;g386fd86d3e8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6" name="Google Shape;3236;g386fd86d3e8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2" name="Shape 3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3" name="Google Shape;3243;g386fd86d3e8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4" name="Google Shape;3244;g386fd86d3e8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5" name="Google Shape;3245;g386fd86d3e8_0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1" name="Shape 3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2" name="Google Shape;3252;g386fd86d3e8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3" name="Google Shape;3253;g386fd86d3e8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4" name="Google Shape;3254;g386fd86d3e8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0" name="Shape 3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1" name="Google Shape;3261;g386fd86d3e8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2" name="Google Shape;3262;g386fd86d3e8_0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3" name="Google Shape;3263;g386fd86d3e8_0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9" name="Shape 3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0" name="Google Shape;3270;g386fd86d3e8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1" name="Google Shape;3271;g386fd86d3e8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2" name="Google Shape;3272;g386fd86d3e8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8" name="Shape 3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9" name="Google Shape;3279;g386fd86d3e8_0_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0" name="Google Shape;3280;g386fd86d3e8_0_1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1" name="Google Shape;3281;g386fd86d3e8_0_1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7" name="Shape 3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8" name="Google Shape;3288;g386fd86d3e8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9" name="Google Shape;3289;g386fd86d3e8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0" name="Google Shape;3290;g386fd86d3e8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6" name="Shape 3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" name="Google Shape;3297;g386fd86d3e8_0_2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8" name="Google Shape;3298;g386fd86d3e8_0_2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9" name="Google Shape;3299;g386fd86d3e8_0_2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5" name="Shape 3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6" name="Google Shape;3306;g386fd86d3e8_0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7" name="Google Shape;3307;g386fd86d3e8_0_1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8" name="Google Shape;3308;g386fd86d3e8_0_1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6" name="Shape 3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" name="Google Shape;3317;g386fd86d3e8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8" name="Google Shape;3318;g386fd86d3e8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9" name="Google Shape;3319;g386fd86d3e8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5" name="Shape 3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6" name="Google Shape;3326;g386fd86d3e8_0_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7" name="Google Shape;3327;g386fd86d3e8_0_1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8" name="Google Shape;3328;g386fd86d3e8_0_1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5" name="Shape 3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6" name="Google Shape;3336;g386fd86d3e8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7" name="Google Shape;3337;g386fd86d3e8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8" name="Google Shape;3338;g386fd86d3e8_0_1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5" name="Shape 3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6" name="Google Shape;3346;g386fd86d3e8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7" name="Google Shape;3347;g386fd86d3e8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8" name="Google Shape;3348;g386fd86d3e8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4" name="Shape 3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5" name="Google Shape;3355;g386fd86d3e8_0_1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6" name="Google Shape;3356;g386fd86d3e8_0_1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7" name="Google Shape;3357;g386fd86d3e8_0_1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3" name="Shape 3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4" name="Google Shape;3364;g386fd86d3e8_0_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5" name="Google Shape;3365;g386fd86d3e8_0_1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6" name="Google Shape;3366;g386fd86d3e8_0_1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2" name="Shape 3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3" name="Google Shape;3373;g386fd86d3e8_0_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4" name="Google Shape;3374;g386fd86d3e8_0_1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5" name="Google Shape;3375;g386fd86d3e8_0_1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1" name="Shape 3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2" name="Google Shape;3382;g386fd86d3e8_0_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3" name="Google Shape;3383;g386fd86d3e8_0_1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4" name="Google Shape;3384;g386fd86d3e8_0_1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0" name="Shape 3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1" name="Google Shape;3391;g386fd86d3e8_0_1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2" name="Google Shape;3392;g386fd86d3e8_0_1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3" name="Google Shape;3393;g386fd86d3e8_0_1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9" name="Shape 3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0" name="Google Shape;3400;g386fd86d3e8_0_1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1" name="Google Shape;3401;g386fd86d3e8_0_1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2" name="Google Shape;3402;g386fd86d3e8_0_1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8" name="Shape 3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" name="Google Shape;3409;g386fd86d3e8_0_2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0" name="Google Shape;3410;g386fd86d3e8_0_2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1" name="Google Shape;3411;g386fd86d3e8_0_2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7" name="Shape 3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8" name="Google Shape;3418;g386fd86d3e8_0_2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9" name="Google Shape;3419;g386fd86d3e8_0_2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0" name="Google Shape;3420;g386fd86d3e8_0_2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6" name="Shape 3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7" name="Google Shape;3427;g386fd86d3e8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8" name="Google Shape;3428;g386fd86d3e8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9" name="Google Shape;3429;g386fd86d3e8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5" name="Shape 3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6" name="Google Shape;3436;g1a60b15045870692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7" name="Google Shape;3437;g1a60b15045870692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8" name="Google Shape;3438;g1a60b15045870692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08748be71_0_8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g3d08748be71_0_8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g3d08748be71_0_8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d08748be71_0_889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3" name="Google Shape;23;g3d08748be71_0_889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4" name="Google Shape;24;g3d08748be71_0_889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d08748be71_0_893"/>
          <p:cNvSpPr txBox="1"/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7" name="Google Shape;27;g3d08748be71_0_893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g3d08748be71_0_89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9" name="Google Shape;29;g3d08748be71_0_89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0" name="Google Shape;30;g3d08748be71_0_89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d08748be71_0_89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3" name="Google Shape;33;g3d08748be71_0_899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34" name="Google Shape;34;g3d08748be71_0_899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5" name="Google Shape;35;g3d08748be71_0_899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6" name="Google Shape;36;g3d08748be71_0_899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d08748be71_0_905"/>
          <p:cNvSpPr txBox="1"/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9" name="Google Shape;39;g3d08748be71_0_905"/>
          <p:cNvSpPr txBox="1"/>
          <p:nvPr>
            <p:ph idx="1" type="body"/>
          </p:nvPr>
        </p:nvSpPr>
        <p:spPr>
          <a:xfrm>
            <a:off x="361156" y="1453357"/>
            <a:ext cx="38862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g3d08748be71_0_905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1" name="Google Shape;41;g3d08748be71_0_905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2" name="Google Shape;42;g3d08748be71_0_905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d08748be71_0_91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5" name="Google Shape;45;g3d08748be71_0_911"/>
          <p:cNvSpPr txBox="1"/>
          <p:nvPr>
            <p:ph idx="1" type="body"/>
          </p:nvPr>
        </p:nvSpPr>
        <p:spPr>
          <a:xfrm>
            <a:off x="2286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46" name="Google Shape;46;g3d08748be71_0_911"/>
          <p:cNvSpPr txBox="1"/>
          <p:nvPr>
            <p:ph idx="2" type="body"/>
          </p:nvPr>
        </p:nvSpPr>
        <p:spPr>
          <a:xfrm>
            <a:off x="23241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47" name="Google Shape;47;g3d08748be71_0_91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8" name="Google Shape;48;g3d08748be71_0_91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9" name="Google Shape;49;g3d08748be71_0_91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08748be71_0_9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2" name="Google Shape;52;g3d08748be71_0_918"/>
          <p:cNvSpPr txBox="1"/>
          <p:nvPr>
            <p:ph idx="1" type="body"/>
          </p:nvPr>
        </p:nvSpPr>
        <p:spPr>
          <a:xfrm>
            <a:off x="228600" y="767556"/>
            <a:ext cx="202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53" name="Google Shape;53;g3d08748be71_0_918"/>
          <p:cNvSpPr txBox="1"/>
          <p:nvPr>
            <p:ph idx="2" type="body"/>
          </p:nvPr>
        </p:nvSpPr>
        <p:spPr>
          <a:xfrm>
            <a:off x="228600" y="1087438"/>
            <a:ext cx="20202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54" name="Google Shape;54;g3d08748be71_0_918"/>
          <p:cNvSpPr txBox="1"/>
          <p:nvPr>
            <p:ph idx="3" type="body"/>
          </p:nvPr>
        </p:nvSpPr>
        <p:spPr>
          <a:xfrm>
            <a:off x="2322513" y="767556"/>
            <a:ext cx="2021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55" name="Google Shape;55;g3d08748be71_0_918"/>
          <p:cNvSpPr txBox="1"/>
          <p:nvPr>
            <p:ph idx="4" type="body"/>
          </p:nvPr>
        </p:nvSpPr>
        <p:spPr>
          <a:xfrm>
            <a:off x="2322513" y="1087438"/>
            <a:ext cx="20211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56" name="Google Shape;56;g3d08748be71_0_918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7" name="Google Shape;57;g3d08748be71_0_918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g3d08748be71_0_918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08748be71_0_927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1" name="Google Shape;61;g3d08748be71_0_927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g3d08748be71_0_927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3" name="Google Shape;63;g3d08748be71_0_927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08748be71_0_932"/>
          <p:cNvSpPr txBox="1"/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6" name="Google Shape;66;g3d08748be71_0_932"/>
          <p:cNvSpPr txBox="1"/>
          <p:nvPr>
            <p:ph idx="1" type="body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67" name="Google Shape;67;g3d08748be71_0_932"/>
          <p:cNvSpPr txBox="1"/>
          <p:nvPr>
            <p:ph idx="2" type="body"/>
          </p:nvPr>
        </p:nvSpPr>
        <p:spPr>
          <a:xfrm>
            <a:off x="228600" y="717550"/>
            <a:ext cx="1504200" cy="23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68" name="Google Shape;68;g3d08748be71_0_93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9" name="Google Shape;69;g3d08748be71_0_93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g3d08748be71_0_93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08748be71_0_939"/>
          <p:cNvSpPr txBox="1"/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3" name="Google Shape;73;g3d08748be71_0_939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g3d08748be71_0_939"/>
          <p:cNvSpPr txBox="1"/>
          <p:nvPr>
            <p:ph idx="1" type="body"/>
          </p:nvPr>
        </p:nvSpPr>
        <p:spPr>
          <a:xfrm>
            <a:off x="896144" y="2683669"/>
            <a:ext cx="27432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75" name="Google Shape;75;g3d08748be71_0_939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g3d08748be71_0_939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g3d08748be71_0_939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08748be71_0_94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g3d08748be71_0_946"/>
          <p:cNvSpPr txBox="1"/>
          <p:nvPr>
            <p:ph idx="1" type="body"/>
          </p:nvPr>
        </p:nvSpPr>
        <p:spPr>
          <a:xfrm rot="5400000">
            <a:off x="1154400" y="-125700"/>
            <a:ext cx="2263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81" name="Google Shape;81;g3d08748be71_0_946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2" name="Google Shape;82;g3d08748be71_0_946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g3d08748be71_0_946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08748be71_0_952"/>
          <p:cNvSpPr txBox="1"/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6" name="Google Shape;86;g3d08748be71_0_952"/>
          <p:cNvSpPr txBox="1"/>
          <p:nvPr>
            <p:ph idx="1" type="body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87" name="Google Shape;87;g3d08748be71_0_95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8" name="Google Shape;88;g3d08748be71_0_95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9" name="Google Shape;89;g3d08748be71_0_95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d08748be71_0_88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g3d08748be71_0_883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g3d08748be71_0_88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g3d08748be71_0_88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g3d08748be71_0_88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Relationship Id="rId4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91440" y="0"/>
            <a:ext cx="45720" cy="51435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320040" y="50292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9E8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9E8A"/>
                </a:solidFill>
                <a:latin typeface="Calibri"/>
                <a:ea typeface="Calibri"/>
                <a:cs typeface="Calibri"/>
                <a:sym typeface="Calibri"/>
              </a:rPr>
              <a:t>EXPLORATORY DATA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320040" y="877824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CCE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ECCE0"/>
                </a:solidFill>
                <a:latin typeface="Calibri"/>
                <a:ea typeface="Calibri"/>
                <a:cs typeface="Calibri"/>
                <a:sym typeface="Calibri"/>
              </a:rPr>
              <a:t>Module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320040" y="128016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Transformation &amp; Wrangling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320040" y="2304288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CC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ECCE0"/>
                </a:solidFill>
                <a:latin typeface="Calibri"/>
                <a:ea typeface="Calibri"/>
                <a:cs typeface="Calibri"/>
                <a:sym typeface="Calibri"/>
              </a:rPr>
              <a:t>Merging · Joins · Pivoting · Missing Values · Binning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320040" y="2724912"/>
            <a:ext cx="3657600" cy="36576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320040" y="2834640"/>
            <a:ext cx="6400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CC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ECCE0"/>
                </a:solidFill>
                <a:latin typeface="Calibri"/>
                <a:ea typeface="Calibri"/>
                <a:cs typeface="Calibri"/>
                <a:sym typeface="Calibri"/>
              </a:rPr>
              <a:t>Mrs. Shilpashree S  |  Mrs. Vinutha 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CC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ECCE0"/>
                </a:solidFill>
                <a:latin typeface="Calibri"/>
                <a:ea typeface="Calibri"/>
                <a:cs typeface="Calibri"/>
                <a:sym typeface="Calibri"/>
              </a:rPr>
              <a:t>Assistant Professors, Dept. of CS &amp; E  |  23CSE422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08748be71_0_367"/>
          <p:cNvSpPr/>
          <p:nvPr/>
        </p:nvSpPr>
        <p:spPr>
          <a:xfrm>
            <a:off x="81785" y="1135570"/>
            <a:ext cx="690785" cy="690785"/>
          </a:xfrm>
          <a:custGeom>
            <a:rect b="b" l="l" r="r" t="t"/>
            <a:pathLst>
              <a:path extrusionOk="0" h="1381570" w="1381570">
                <a:moveTo>
                  <a:pt x="0" y="0"/>
                </a:moveTo>
                <a:lnTo>
                  <a:pt x="1381570" y="0"/>
                </a:lnTo>
                <a:lnTo>
                  <a:pt x="1381570" y="1381570"/>
                </a:lnTo>
                <a:lnTo>
                  <a:pt x="0" y="1381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g3d08748be71_0_367"/>
          <p:cNvSpPr/>
          <p:nvPr/>
        </p:nvSpPr>
        <p:spPr>
          <a:xfrm>
            <a:off x="81785" y="1818095"/>
            <a:ext cx="690785" cy="690785"/>
          </a:xfrm>
          <a:custGeom>
            <a:rect b="b" l="l" r="r" t="t"/>
            <a:pathLst>
              <a:path extrusionOk="0" h="1381570" w="1381570">
                <a:moveTo>
                  <a:pt x="0" y="0"/>
                </a:moveTo>
                <a:lnTo>
                  <a:pt x="1381570" y="0"/>
                </a:lnTo>
                <a:lnTo>
                  <a:pt x="1381570" y="1381570"/>
                </a:lnTo>
                <a:lnTo>
                  <a:pt x="0" y="1381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g3d08748be71_0_367"/>
          <p:cNvSpPr/>
          <p:nvPr/>
        </p:nvSpPr>
        <p:spPr>
          <a:xfrm>
            <a:off x="99401" y="2523167"/>
            <a:ext cx="690785" cy="690785"/>
          </a:xfrm>
          <a:custGeom>
            <a:rect b="b" l="l" r="r" t="t"/>
            <a:pathLst>
              <a:path extrusionOk="0" h="1381570" w="1381570">
                <a:moveTo>
                  <a:pt x="0" y="0"/>
                </a:moveTo>
                <a:lnTo>
                  <a:pt x="1381570" y="0"/>
                </a:lnTo>
                <a:lnTo>
                  <a:pt x="1381570" y="1381571"/>
                </a:lnTo>
                <a:lnTo>
                  <a:pt x="0" y="1381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8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0" name="Google Shape;110;g3d08748be71_0_367"/>
          <p:cNvGrpSpPr/>
          <p:nvPr/>
        </p:nvGrpSpPr>
        <p:grpSpPr>
          <a:xfrm>
            <a:off x="142859" y="1223588"/>
            <a:ext cx="514746" cy="514746"/>
            <a:chOff x="0" y="0"/>
            <a:chExt cx="812800" cy="812800"/>
          </a:xfrm>
        </p:grpSpPr>
        <p:sp>
          <p:nvSpPr>
            <p:cNvPr id="111" name="Google Shape;111;g3d08748be71_0_36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3d08748be71_0_36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68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g3d08748be71_0_367"/>
          <p:cNvGrpSpPr/>
          <p:nvPr/>
        </p:nvGrpSpPr>
        <p:grpSpPr>
          <a:xfrm>
            <a:off x="169802" y="1877582"/>
            <a:ext cx="514746" cy="514746"/>
            <a:chOff x="0" y="0"/>
            <a:chExt cx="812800" cy="812800"/>
          </a:xfrm>
        </p:grpSpPr>
        <p:sp>
          <p:nvSpPr>
            <p:cNvPr id="114" name="Google Shape;114;g3d08748be71_0_36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g3d08748be71_0_36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68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g3d08748be71_0_367"/>
          <p:cNvGrpSpPr/>
          <p:nvPr/>
        </p:nvGrpSpPr>
        <p:grpSpPr>
          <a:xfrm>
            <a:off x="187419" y="2611185"/>
            <a:ext cx="514746" cy="514746"/>
            <a:chOff x="0" y="0"/>
            <a:chExt cx="812800" cy="812800"/>
          </a:xfrm>
        </p:grpSpPr>
        <p:sp>
          <p:nvSpPr>
            <p:cNvPr id="117" name="Google Shape;117;g3d08748be71_0_36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g3d08748be71_0_36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68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g3d08748be71_0_367"/>
          <p:cNvSpPr txBox="1"/>
          <p:nvPr/>
        </p:nvSpPr>
        <p:spPr>
          <a:xfrm>
            <a:off x="907090" y="1576747"/>
            <a:ext cx="375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7ABE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Identify and remove duplicate data.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d08748be71_0_367"/>
          <p:cNvSpPr txBox="1"/>
          <p:nvPr/>
        </p:nvSpPr>
        <p:spPr>
          <a:xfrm>
            <a:off x="907090" y="2272295"/>
            <a:ext cx="37587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7000" lvl="1" marL="2667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5B7AB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B7ABE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Transform keys with built-in meanings into generic keys.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d08748be71_0_367"/>
          <p:cNvSpPr txBox="1"/>
          <p:nvPr/>
        </p:nvSpPr>
        <p:spPr>
          <a:xfrm>
            <a:off x="924707" y="3028850"/>
            <a:ext cx="37587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7000" lvl="1" marL="2667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5B7AB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B7ABE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Remove outdated, inaccurate, or incomplete information without changing its meaning.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d08748be71_0_367"/>
          <p:cNvSpPr txBox="1"/>
          <p:nvPr/>
        </p:nvSpPr>
        <p:spPr>
          <a:xfrm>
            <a:off x="907089" y="1283999"/>
            <a:ext cx="296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4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Data Deduplication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d08748be71_0_367"/>
          <p:cNvSpPr txBox="1"/>
          <p:nvPr/>
        </p:nvSpPr>
        <p:spPr>
          <a:xfrm>
            <a:off x="907090" y="1979546"/>
            <a:ext cx="387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4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Key Restructuring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d08748be71_0_367"/>
          <p:cNvSpPr txBox="1"/>
          <p:nvPr/>
        </p:nvSpPr>
        <p:spPr>
          <a:xfrm>
            <a:off x="924707" y="2736101"/>
            <a:ext cx="296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4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Data Cleansing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d08748be71_0_367"/>
          <p:cNvSpPr txBox="1"/>
          <p:nvPr/>
        </p:nvSpPr>
        <p:spPr>
          <a:xfrm>
            <a:off x="187221" y="1354464"/>
            <a:ext cx="48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4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01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d08748be71_0_367"/>
          <p:cNvSpPr txBox="1"/>
          <p:nvPr/>
        </p:nvSpPr>
        <p:spPr>
          <a:xfrm>
            <a:off x="187221" y="2008459"/>
            <a:ext cx="48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4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02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d08748be71_0_367"/>
          <p:cNvSpPr txBox="1"/>
          <p:nvPr/>
        </p:nvSpPr>
        <p:spPr>
          <a:xfrm>
            <a:off x="204838" y="2742062"/>
            <a:ext cx="48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4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03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d08748be71_0_367"/>
          <p:cNvSpPr txBox="1"/>
          <p:nvPr/>
        </p:nvSpPr>
        <p:spPr>
          <a:xfrm>
            <a:off x="541485" y="607378"/>
            <a:ext cx="849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B7ABE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Data transformation is a set of techniques used to convert data from one format or structure to another, ensuring compatibility and enhancing interoperability.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d08748be71_0_367"/>
          <p:cNvSpPr txBox="1"/>
          <p:nvPr/>
        </p:nvSpPr>
        <p:spPr>
          <a:xfrm>
            <a:off x="2609340" y="68232"/>
            <a:ext cx="3666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Data Transformation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d08748be71_0_367"/>
          <p:cNvSpPr/>
          <p:nvPr/>
        </p:nvSpPr>
        <p:spPr>
          <a:xfrm>
            <a:off x="7076901" y="-1047507"/>
            <a:ext cx="2783531" cy="1897862"/>
          </a:xfrm>
          <a:custGeom>
            <a:rect b="b" l="l" r="r" t="t"/>
            <a:pathLst>
              <a:path extrusionOk="0" h="3795724" w="5567062">
                <a:moveTo>
                  <a:pt x="0" y="0"/>
                </a:moveTo>
                <a:lnTo>
                  <a:pt x="5567062" y="0"/>
                </a:lnTo>
                <a:lnTo>
                  <a:pt x="5567062" y="3795724"/>
                </a:lnTo>
                <a:lnTo>
                  <a:pt x="0" y="3795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g3d08748be71_0_367"/>
          <p:cNvSpPr/>
          <p:nvPr/>
        </p:nvSpPr>
        <p:spPr>
          <a:xfrm rot="-223140">
            <a:off x="-149486" y="104267"/>
            <a:ext cx="1411866" cy="795779"/>
          </a:xfrm>
          <a:custGeom>
            <a:rect b="b" l="l" r="r" t="t"/>
            <a:pathLst>
              <a:path extrusionOk="0" h="1588206" w="2817785">
                <a:moveTo>
                  <a:pt x="0" y="0"/>
                </a:moveTo>
                <a:lnTo>
                  <a:pt x="2817785" y="0"/>
                </a:lnTo>
                <a:lnTo>
                  <a:pt x="2817785" y="1588206"/>
                </a:lnTo>
                <a:lnTo>
                  <a:pt x="0" y="15882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g3d08748be71_0_367"/>
          <p:cNvSpPr/>
          <p:nvPr/>
        </p:nvSpPr>
        <p:spPr>
          <a:xfrm rot="2833555">
            <a:off x="7817891" y="4224244"/>
            <a:ext cx="1575960" cy="2278644"/>
          </a:xfrm>
          <a:custGeom>
            <a:rect b="b" l="l" r="r" t="t"/>
            <a:pathLst>
              <a:path extrusionOk="0" h="4568036" w="3147792">
                <a:moveTo>
                  <a:pt x="0" y="0"/>
                </a:moveTo>
                <a:lnTo>
                  <a:pt x="3147791" y="0"/>
                </a:lnTo>
                <a:lnTo>
                  <a:pt x="3147791" y="4568035"/>
                </a:lnTo>
                <a:lnTo>
                  <a:pt x="0" y="45680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g3d08748be71_0_367"/>
          <p:cNvSpPr/>
          <p:nvPr/>
        </p:nvSpPr>
        <p:spPr>
          <a:xfrm>
            <a:off x="4748612" y="1102677"/>
            <a:ext cx="662300" cy="662300"/>
          </a:xfrm>
          <a:custGeom>
            <a:rect b="b" l="l" r="r" t="t"/>
            <a:pathLst>
              <a:path extrusionOk="0" h="1324600" w="1324600">
                <a:moveTo>
                  <a:pt x="0" y="0"/>
                </a:moveTo>
                <a:lnTo>
                  <a:pt x="1324600" y="0"/>
                </a:lnTo>
                <a:lnTo>
                  <a:pt x="1324600" y="1324600"/>
                </a:lnTo>
                <a:lnTo>
                  <a:pt x="0" y="1324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g3d08748be71_0_367"/>
          <p:cNvSpPr/>
          <p:nvPr/>
        </p:nvSpPr>
        <p:spPr>
          <a:xfrm>
            <a:off x="4748612" y="1799045"/>
            <a:ext cx="662300" cy="662300"/>
          </a:xfrm>
          <a:custGeom>
            <a:rect b="b" l="l" r="r" t="t"/>
            <a:pathLst>
              <a:path extrusionOk="0" h="1324600" w="1324600">
                <a:moveTo>
                  <a:pt x="0" y="0"/>
                </a:moveTo>
                <a:lnTo>
                  <a:pt x="1324600" y="0"/>
                </a:lnTo>
                <a:lnTo>
                  <a:pt x="1324600" y="1324600"/>
                </a:lnTo>
                <a:lnTo>
                  <a:pt x="0" y="1324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g3d08748be71_0_367"/>
          <p:cNvSpPr/>
          <p:nvPr/>
        </p:nvSpPr>
        <p:spPr>
          <a:xfrm>
            <a:off x="4765502" y="2468901"/>
            <a:ext cx="662300" cy="662300"/>
          </a:xfrm>
          <a:custGeom>
            <a:rect b="b" l="l" r="r" t="t"/>
            <a:pathLst>
              <a:path extrusionOk="0" h="1324600" w="1324600">
                <a:moveTo>
                  <a:pt x="0" y="0"/>
                </a:moveTo>
                <a:lnTo>
                  <a:pt x="1324599" y="0"/>
                </a:lnTo>
                <a:lnTo>
                  <a:pt x="1324599" y="1324599"/>
                </a:lnTo>
                <a:lnTo>
                  <a:pt x="0" y="13245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8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6" name="Google Shape;136;g3d08748be71_0_367"/>
          <p:cNvGrpSpPr/>
          <p:nvPr/>
        </p:nvGrpSpPr>
        <p:grpSpPr>
          <a:xfrm>
            <a:off x="4807168" y="1187065"/>
            <a:ext cx="493532" cy="493532"/>
            <a:chOff x="0" y="0"/>
            <a:chExt cx="812800" cy="812800"/>
          </a:xfrm>
        </p:grpSpPr>
        <p:sp>
          <p:nvSpPr>
            <p:cNvPr id="137" name="Google Shape;137;g3d08748be71_0_36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g3d08748be71_0_36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68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g3d08748be71_0_367"/>
          <p:cNvGrpSpPr/>
          <p:nvPr/>
        </p:nvGrpSpPr>
        <p:grpSpPr>
          <a:xfrm>
            <a:off x="4833000" y="1883433"/>
            <a:ext cx="493532" cy="493532"/>
            <a:chOff x="0" y="0"/>
            <a:chExt cx="812800" cy="812800"/>
          </a:xfrm>
        </p:grpSpPr>
        <p:sp>
          <p:nvSpPr>
            <p:cNvPr id="140" name="Google Shape;140;g3d08748be71_0_36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g3d08748be71_0_36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68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g3d08748be71_0_367"/>
          <p:cNvGrpSpPr/>
          <p:nvPr/>
        </p:nvGrpSpPr>
        <p:grpSpPr>
          <a:xfrm>
            <a:off x="4849890" y="2627539"/>
            <a:ext cx="493532" cy="493532"/>
            <a:chOff x="0" y="0"/>
            <a:chExt cx="812800" cy="812800"/>
          </a:xfrm>
        </p:grpSpPr>
        <p:sp>
          <p:nvSpPr>
            <p:cNvPr id="143" name="Google Shape;143;g3d08748be71_0_36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g3d08748be71_0_36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68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g3d08748be71_0_367"/>
          <p:cNvSpPr txBox="1"/>
          <p:nvPr/>
        </p:nvSpPr>
        <p:spPr>
          <a:xfrm>
            <a:off x="5539885" y="1576792"/>
            <a:ext cx="3603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7000" lvl="1" marL="2667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5B7AB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B7ABE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Create rules to generate additional information from the source data.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d08748be71_0_367"/>
          <p:cNvSpPr txBox="1"/>
          <p:nvPr/>
        </p:nvSpPr>
        <p:spPr>
          <a:xfrm>
            <a:off x="5539885" y="2272340"/>
            <a:ext cx="3603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7000" lvl="1" marL="2667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5B7AB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B7ABE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Searching, extracting, summarize and preserve important information for reporting systems.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d08748be71_0_367"/>
          <p:cNvSpPr txBox="1"/>
          <p:nvPr/>
        </p:nvSpPr>
        <p:spPr>
          <a:xfrm>
            <a:off x="5556774" y="3038194"/>
            <a:ext cx="35865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7000" lvl="1" marL="2667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5B7AB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B7ABE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Convert and merge different data types into a common structure or schema.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d08748be71_0_367"/>
          <p:cNvSpPr txBox="1"/>
          <p:nvPr/>
        </p:nvSpPr>
        <p:spPr>
          <a:xfrm>
            <a:off x="5539885" y="1296901"/>
            <a:ext cx="2846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Data Derivation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d08748be71_0_367"/>
          <p:cNvSpPr txBox="1"/>
          <p:nvPr/>
        </p:nvSpPr>
        <p:spPr>
          <a:xfrm>
            <a:off x="5539885" y="1993599"/>
            <a:ext cx="3714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Data Aggregation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d08748be71_0_367"/>
          <p:cNvSpPr txBox="1"/>
          <p:nvPr/>
        </p:nvSpPr>
        <p:spPr>
          <a:xfrm>
            <a:off x="5556774" y="2758303"/>
            <a:ext cx="2846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Data Integration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d08748be71_0_367"/>
          <p:cNvSpPr txBox="1"/>
          <p:nvPr/>
        </p:nvSpPr>
        <p:spPr>
          <a:xfrm>
            <a:off x="4849700" y="1312349"/>
            <a:ext cx="459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06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d08748be71_0_367"/>
          <p:cNvSpPr txBox="1"/>
          <p:nvPr/>
        </p:nvSpPr>
        <p:spPr>
          <a:xfrm>
            <a:off x="4849700" y="2008716"/>
            <a:ext cx="459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07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d08748be71_0_367"/>
          <p:cNvSpPr txBox="1"/>
          <p:nvPr/>
        </p:nvSpPr>
        <p:spPr>
          <a:xfrm>
            <a:off x="4866591" y="2752822"/>
            <a:ext cx="459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08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d08748be71_0_367"/>
          <p:cNvSpPr/>
          <p:nvPr/>
        </p:nvSpPr>
        <p:spPr>
          <a:xfrm>
            <a:off x="126543" y="3371160"/>
            <a:ext cx="690785" cy="690785"/>
          </a:xfrm>
          <a:custGeom>
            <a:rect b="b" l="l" r="r" t="t"/>
            <a:pathLst>
              <a:path extrusionOk="0" h="1381570" w="1381570">
                <a:moveTo>
                  <a:pt x="0" y="0"/>
                </a:moveTo>
                <a:lnTo>
                  <a:pt x="1381570" y="0"/>
                </a:lnTo>
                <a:lnTo>
                  <a:pt x="1381570" y="1381570"/>
                </a:lnTo>
                <a:lnTo>
                  <a:pt x="0" y="1381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8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5" name="Google Shape;155;g3d08748be71_0_367"/>
          <p:cNvGrpSpPr/>
          <p:nvPr/>
        </p:nvGrpSpPr>
        <p:grpSpPr>
          <a:xfrm>
            <a:off x="214560" y="3459178"/>
            <a:ext cx="514746" cy="514746"/>
            <a:chOff x="0" y="0"/>
            <a:chExt cx="812800" cy="812800"/>
          </a:xfrm>
        </p:grpSpPr>
        <p:sp>
          <p:nvSpPr>
            <p:cNvPr id="156" name="Google Shape;156;g3d08748be71_0_36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g3d08748be71_0_36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68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g3d08748be71_0_367"/>
          <p:cNvSpPr txBox="1"/>
          <p:nvPr/>
        </p:nvSpPr>
        <p:spPr>
          <a:xfrm>
            <a:off x="951848" y="3785405"/>
            <a:ext cx="37587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7000" lvl="1" marL="2667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5B7AB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B7ABE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Formulate rules or algorithms to validate data against known issues.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d08748be71_0_367"/>
          <p:cNvSpPr txBox="1"/>
          <p:nvPr/>
        </p:nvSpPr>
        <p:spPr>
          <a:xfrm>
            <a:off x="951848" y="3492656"/>
            <a:ext cx="296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4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Data Validation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d08748be71_0_367"/>
          <p:cNvSpPr txBox="1"/>
          <p:nvPr/>
        </p:nvSpPr>
        <p:spPr>
          <a:xfrm>
            <a:off x="231979" y="3590054"/>
            <a:ext cx="48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4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04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d08748be71_0_367"/>
          <p:cNvSpPr/>
          <p:nvPr/>
        </p:nvSpPr>
        <p:spPr>
          <a:xfrm>
            <a:off x="4785928" y="3312175"/>
            <a:ext cx="662300" cy="662300"/>
          </a:xfrm>
          <a:custGeom>
            <a:rect b="b" l="l" r="r" t="t"/>
            <a:pathLst>
              <a:path extrusionOk="0" h="1324600" w="1324600">
                <a:moveTo>
                  <a:pt x="0" y="0"/>
                </a:moveTo>
                <a:lnTo>
                  <a:pt x="1324600" y="0"/>
                </a:lnTo>
                <a:lnTo>
                  <a:pt x="1324600" y="1324600"/>
                </a:lnTo>
                <a:lnTo>
                  <a:pt x="0" y="1324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8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2" name="Google Shape;162;g3d08748be71_0_367"/>
          <p:cNvGrpSpPr/>
          <p:nvPr/>
        </p:nvGrpSpPr>
        <p:grpSpPr>
          <a:xfrm>
            <a:off x="4870316" y="3477545"/>
            <a:ext cx="493532" cy="493532"/>
            <a:chOff x="0" y="0"/>
            <a:chExt cx="812800" cy="812800"/>
          </a:xfrm>
        </p:grpSpPr>
        <p:sp>
          <p:nvSpPr>
            <p:cNvPr id="163" name="Google Shape;163;g3d08748be71_0_36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g3d08748be71_0_36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68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g3d08748be71_0_367"/>
          <p:cNvSpPr txBox="1"/>
          <p:nvPr/>
        </p:nvSpPr>
        <p:spPr>
          <a:xfrm>
            <a:off x="5577201" y="3807666"/>
            <a:ext cx="35832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7000" lvl="1" marL="2667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5B7AB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B7ABE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Identify and extract relevant information for specific users.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d08748be71_0_367"/>
          <p:cNvSpPr txBox="1"/>
          <p:nvPr/>
        </p:nvSpPr>
        <p:spPr>
          <a:xfrm>
            <a:off x="4887016" y="3583638"/>
            <a:ext cx="459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09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d08748be71_0_367"/>
          <p:cNvSpPr txBox="1"/>
          <p:nvPr/>
        </p:nvSpPr>
        <p:spPr>
          <a:xfrm>
            <a:off x="5632974" y="3552738"/>
            <a:ext cx="2846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Data Filtering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d08748be71_0_367"/>
          <p:cNvSpPr/>
          <p:nvPr/>
        </p:nvSpPr>
        <p:spPr>
          <a:xfrm>
            <a:off x="4762899" y="4138145"/>
            <a:ext cx="662300" cy="662300"/>
          </a:xfrm>
          <a:custGeom>
            <a:rect b="b" l="l" r="r" t="t"/>
            <a:pathLst>
              <a:path extrusionOk="0" h="1324600" w="1324600">
                <a:moveTo>
                  <a:pt x="0" y="0"/>
                </a:moveTo>
                <a:lnTo>
                  <a:pt x="1324600" y="0"/>
                </a:lnTo>
                <a:lnTo>
                  <a:pt x="1324600" y="1324600"/>
                </a:lnTo>
                <a:lnTo>
                  <a:pt x="0" y="1324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8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9" name="Google Shape;169;g3d08748be71_0_367"/>
          <p:cNvGrpSpPr/>
          <p:nvPr/>
        </p:nvGrpSpPr>
        <p:grpSpPr>
          <a:xfrm>
            <a:off x="4847288" y="4222533"/>
            <a:ext cx="493532" cy="493532"/>
            <a:chOff x="0" y="0"/>
            <a:chExt cx="812800" cy="812800"/>
          </a:xfrm>
        </p:grpSpPr>
        <p:sp>
          <p:nvSpPr>
            <p:cNvPr id="170" name="Google Shape;170;g3d08748be71_0_36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g3d08748be71_0_36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68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g3d08748be71_0_367"/>
          <p:cNvSpPr txBox="1"/>
          <p:nvPr/>
        </p:nvSpPr>
        <p:spPr>
          <a:xfrm>
            <a:off x="5554172" y="4633636"/>
            <a:ext cx="35832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7000" lvl="1" marL="2667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5B7AB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B7ABE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Establish relationships between two or more tables.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d08748be71_0_367"/>
          <p:cNvSpPr txBox="1"/>
          <p:nvPr/>
        </p:nvSpPr>
        <p:spPr>
          <a:xfrm>
            <a:off x="4863988" y="4347816"/>
            <a:ext cx="459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10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d08748be71_0_367"/>
          <p:cNvSpPr txBox="1"/>
          <p:nvPr/>
        </p:nvSpPr>
        <p:spPr>
          <a:xfrm>
            <a:off x="5609946" y="4378708"/>
            <a:ext cx="2846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Data Joining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d08748be71_0_367"/>
          <p:cNvSpPr/>
          <p:nvPr/>
        </p:nvSpPr>
        <p:spPr>
          <a:xfrm>
            <a:off x="155196" y="4142907"/>
            <a:ext cx="662300" cy="662300"/>
          </a:xfrm>
          <a:custGeom>
            <a:rect b="b" l="l" r="r" t="t"/>
            <a:pathLst>
              <a:path extrusionOk="0" h="1324600" w="1324600">
                <a:moveTo>
                  <a:pt x="0" y="0"/>
                </a:moveTo>
                <a:lnTo>
                  <a:pt x="1324600" y="0"/>
                </a:lnTo>
                <a:lnTo>
                  <a:pt x="1324600" y="1324600"/>
                </a:lnTo>
                <a:lnTo>
                  <a:pt x="0" y="1324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8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6" name="Google Shape;176;g3d08748be71_0_367"/>
          <p:cNvGrpSpPr/>
          <p:nvPr/>
        </p:nvGrpSpPr>
        <p:grpSpPr>
          <a:xfrm>
            <a:off x="239584" y="4227296"/>
            <a:ext cx="493532" cy="493532"/>
            <a:chOff x="0" y="0"/>
            <a:chExt cx="812800" cy="812800"/>
          </a:xfrm>
        </p:grpSpPr>
        <p:sp>
          <p:nvSpPr>
            <p:cNvPr id="177" name="Google Shape;177;g3d08748be71_0_36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g3d08748be71_0_36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68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" name="Google Shape;179;g3d08748be71_0_367"/>
          <p:cNvSpPr txBox="1"/>
          <p:nvPr/>
        </p:nvSpPr>
        <p:spPr>
          <a:xfrm>
            <a:off x="946469" y="4638398"/>
            <a:ext cx="358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7000" lvl="1" marL="2667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5B7AB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B7ABE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Convert data from one format to another.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d08748be71_0_367"/>
          <p:cNvSpPr txBox="1"/>
          <p:nvPr/>
        </p:nvSpPr>
        <p:spPr>
          <a:xfrm>
            <a:off x="256284" y="4352579"/>
            <a:ext cx="459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08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d08748be71_0_367"/>
          <p:cNvSpPr txBox="1"/>
          <p:nvPr/>
        </p:nvSpPr>
        <p:spPr>
          <a:xfrm>
            <a:off x="1002243" y="4383470"/>
            <a:ext cx="2846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Format Revisioning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08748be71_0_520"/>
          <p:cNvSpPr txBox="1"/>
          <p:nvPr/>
        </p:nvSpPr>
        <p:spPr>
          <a:xfrm>
            <a:off x="149400" y="2115275"/>
            <a:ext cx="884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Merging Database-Style DataFrames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"/>
          <p:cNvSpPr/>
          <p:nvPr/>
        </p:nvSpPr>
        <p:spPr>
          <a:xfrm>
            <a:off x="0" y="0"/>
            <a:ext cx="82296" cy="804672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"/>
          <p:cNvSpPr/>
          <p:nvPr/>
        </p:nvSpPr>
        <p:spPr>
          <a:xfrm>
            <a:off x="182880" y="64008"/>
            <a:ext cx="8778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pd.concat() — Vertical Concatenation  (axis=0)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"/>
          <p:cNvSpPr/>
          <p:nvPr/>
        </p:nvSpPr>
        <p:spPr>
          <a:xfrm>
            <a:off x="182880" y="493776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C8E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FC8E0"/>
                </a:solidFill>
                <a:latin typeface="Calibri"/>
                <a:ea typeface="Calibri"/>
                <a:cs typeface="Calibri"/>
                <a:sym typeface="Calibri"/>
              </a:rPr>
              <a:t>Stacking rows from two DataFrames that share the same columns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"/>
          <p:cNvSpPr/>
          <p:nvPr/>
        </p:nvSpPr>
        <p:spPr>
          <a:xfrm>
            <a:off x="201168" y="4910328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F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FC8"/>
                </a:solidFill>
                <a:latin typeface="Calibri"/>
                <a:ea typeface="Calibri"/>
                <a:cs typeface="Calibri"/>
                <a:sym typeface="Calibri"/>
              </a:rPr>
              <a:t>EDA | Module 2 | 23CSE422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"/>
          <p:cNvSpPr/>
          <p:nvPr/>
        </p:nvSpPr>
        <p:spPr>
          <a:xfrm>
            <a:off x="201168" y="841248"/>
            <a:ext cx="54864" cy="237744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"/>
          <p:cNvSpPr/>
          <p:nvPr/>
        </p:nvSpPr>
        <p:spPr>
          <a:xfrm>
            <a:off x="292608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df1  (Batch A)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"/>
          <p:cNvSpPr/>
          <p:nvPr/>
        </p:nvSpPr>
        <p:spPr>
          <a:xfrm>
            <a:off x="201168" y="1097280"/>
            <a:ext cx="658368" cy="237744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"/>
          <p:cNvSpPr/>
          <p:nvPr/>
        </p:nvSpPr>
        <p:spPr>
          <a:xfrm>
            <a:off x="246888" y="1115568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"/>
          <p:cNvSpPr/>
          <p:nvPr/>
        </p:nvSpPr>
        <p:spPr>
          <a:xfrm>
            <a:off x="859536" y="1097280"/>
            <a:ext cx="658368" cy="237744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"/>
          <p:cNvSpPr/>
          <p:nvPr/>
        </p:nvSpPr>
        <p:spPr>
          <a:xfrm>
            <a:off x="905256" y="1115568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"/>
          <p:cNvSpPr/>
          <p:nvPr/>
        </p:nvSpPr>
        <p:spPr>
          <a:xfrm>
            <a:off x="1517904" y="1097280"/>
            <a:ext cx="658368" cy="237744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"/>
          <p:cNvSpPr/>
          <p:nvPr/>
        </p:nvSpPr>
        <p:spPr>
          <a:xfrm>
            <a:off x="1563624" y="1115568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"/>
          <p:cNvSpPr/>
          <p:nvPr/>
        </p:nvSpPr>
        <p:spPr>
          <a:xfrm>
            <a:off x="2176272" y="1097280"/>
            <a:ext cx="658368" cy="237744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"/>
          <p:cNvSpPr/>
          <p:nvPr/>
        </p:nvSpPr>
        <p:spPr>
          <a:xfrm>
            <a:off x="2221992" y="1115568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"/>
          <p:cNvSpPr/>
          <p:nvPr/>
        </p:nvSpPr>
        <p:spPr>
          <a:xfrm>
            <a:off x="201168" y="1335024"/>
            <a:ext cx="658368" cy="23774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"/>
          <p:cNvSpPr/>
          <p:nvPr/>
        </p:nvSpPr>
        <p:spPr>
          <a:xfrm>
            <a:off x="246888" y="135331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"/>
          <p:cNvSpPr/>
          <p:nvPr/>
        </p:nvSpPr>
        <p:spPr>
          <a:xfrm>
            <a:off x="859536" y="1335024"/>
            <a:ext cx="658368" cy="23774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"/>
          <p:cNvSpPr/>
          <p:nvPr/>
        </p:nvSpPr>
        <p:spPr>
          <a:xfrm>
            <a:off x="905256" y="135331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Alice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"/>
          <p:cNvSpPr/>
          <p:nvPr/>
        </p:nvSpPr>
        <p:spPr>
          <a:xfrm>
            <a:off x="1517904" y="1335024"/>
            <a:ext cx="658368" cy="23774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"/>
          <p:cNvSpPr/>
          <p:nvPr/>
        </p:nvSpPr>
        <p:spPr>
          <a:xfrm>
            <a:off x="1563624" y="135331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"/>
          <p:cNvSpPr/>
          <p:nvPr/>
        </p:nvSpPr>
        <p:spPr>
          <a:xfrm>
            <a:off x="2176272" y="1335024"/>
            <a:ext cx="658368" cy="23774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"/>
          <p:cNvSpPr/>
          <p:nvPr/>
        </p:nvSpPr>
        <p:spPr>
          <a:xfrm>
            <a:off x="2221992" y="135331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"/>
          <p:cNvSpPr/>
          <p:nvPr/>
        </p:nvSpPr>
        <p:spPr>
          <a:xfrm>
            <a:off x="201168" y="1572768"/>
            <a:ext cx="658368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"/>
          <p:cNvSpPr/>
          <p:nvPr/>
        </p:nvSpPr>
        <p:spPr>
          <a:xfrm>
            <a:off x="246888" y="1591056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"/>
          <p:cNvSpPr/>
          <p:nvPr/>
        </p:nvSpPr>
        <p:spPr>
          <a:xfrm>
            <a:off x="859536" y="1572768"/>
            <a:ext cx="658368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"/>
          <p:cNvSpPr/>
          <p:nvPr/>
        </p:nvSpPr>
        <p:spPr>
          <a:xfrm>
            <a:off x="905256" y="1591056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Bob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"/>
          <p:cNvSpPr/>
          <p:nvPr/>
        </p:nvSpPr>
        <p:spPr>
          <a:xfrm>
            <a:off x="1517904" y="1572768"/>
            <a:ext cx="658368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"/>
          <p:cNvSpPr/>
          <p:nvPr/>
        </p:nvSpPr>
        <p:spPr>
          <a:xfrm>
            <a:off x="1563624" y="1591056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"/>
          <p:cNvSpPr/>
          <p:nvPr/>
        </p:nvSpPr>
        <p:spPr>
          <a:xfrm>
            <a:off x="2176272" y="1572768"/>
            <a:ext cx="658368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"/>
          <p:cNvSpPr/>
          <p:nvPr/>
        </p:nvSpPr>
        <p:spPr>
          <a:xfrm>
            <a:off x="2221992" y="1591056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"/>
          <p:cNvSpPr/>
          <p:nvPr/>
        </p:nvSpPr>
        <p:spPr>
          <a:xfrm>
            <a:off x="201168" y="1810512"/>
            <a:ext cx="658368" cy="23774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"/>
          <p:cNvSpPr/>
          <p:nvPr/>
        </p:nvSpPr>
        <p:spPr>
          <a:xfrm>
            <a:off x="246888" y="1828800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"/>
          <p:cNvSpPr/>
          <p:nvPr/>
        </p:nvSpPr>
        <p:spPr>
          <a:xfrm>
            <a:off x="859536" y="1810512"/>
            <a:ext cx="658368" cy="23774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"/>
          <p:cNvSpPr/>
          <p:nvPr/>
        </p:nvSpPr>
        <p:spPr>
          <a:xfrm>
            <a:off x="905256" y="1828800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Carol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"/>
          <p:cNvSpPr/>
          <p:nvPr/>
        </p:nvSpPr>
        <p:spPr>
          <a:xfrm>
            <a:off x="1517904" y="1810512"/>
            <a:ext cx="658368" cy="23774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"/>
          <p:cNvSpPr/>
          <p:nvPr/>
        </p:nvSpPr>
        <p:spPr>
          <a:xfrm>
            <a:off x="1563624" y="1828800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"/>
          <p:cNvSpPr/>
          <p:nvPr/>
        </p:nvSpPr>
        <p:spPr>
          <a:xfrm>
            <a:off x="2176272" y="1810512"/>
            <a:ext cx="658368" cy="23774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"/>
          <p:cNvSpPr/>
          <p:nvPr/>
        </p:nvSpPr>
        <p:spPr>
          <a:xfrm>
            <a:off x="2221992" y="1828800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"/>
          <p:cNvSpPr/>
          <p:nvPr/>
        </p:nvSpPr>
        <p:spPr>
          <a:xfrm>
            <a:off x="201168" y="2414016"/>
            <a:ext cx="54864" cy="237744"/>
          </a:xfrm>
          <a:prstGeom prst="rect">
            <a:avLst/>
          </a:prstGeom>
          <a:solidFill>
            <a:srgbClr val="D4850A"/>
          </a:solidFill>
          <a:ln cap="flat" cmpd="sng" w="12700">
            <a:solidFill>
              <a:srgbClr val="D485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"/>
          <p:cNvSpPr/>
          <p:nvPr/>
        </p:nvSpPr>
        <p:spPr>
          <a:xfrm>
            <a:off x="292608" y="2414016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50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4850A"/>
                </a:solidFill>
                <a:latin typeface="Calibri"/>
                <a:ea typeface="Calibri"/>
                <a:cs typeface="Calibri"/>
                <a:sym typeface="Calibri"/>
              </a:rPr>
              <a:t>df2  (Batch B)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"/>
          <p:cNvSpPr/>
          <p:nvPr/>
        </p:nvSpPr>
        <p:spPr>
          <a:xfrm>
            <a:off x="201168" y="2670048"/>
            <a:ext cx="658368" cy="237744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"/>
          <p:cNvSpPr/>
          <p:nvPr/>
        </p:nvSpPr>
        <p:spPr>
          <a:xfrm>
            <a:off x="246888" y="2688336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"/>
          <p:cNvSpPr/>
          <p:nvPr/>
        </p:nvSpPr>
        <p:spPr>
          <a:xfrm>
            <a:off x="859536" y="2670048"/>
            <a:ext cx="658368" cy="237744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"/>
          <p:cNvSpPr/>
          <p:nvPr/>
        </p:nvSpPr>
        <p:spPr>
          <a:xfrm>
            <a:off x="905256" y="2688336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"/>
          <p:cNvSpPr/>
          <p:nvPr/>
        </p:nvSpPr>
        <p:spPr>
          <a:xfrm>
            <a:off x="1517904" y="2670048"/>
            <a:ext cx="658368" cy="237744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"/>
          <p:cNvSpPr/>
          <p:nvPr/>
        </p:nvSpPr>
        <p:spPr>
          <a:xfrm>
            <a:off x="1563624" y="2688336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"/>
          <p:cNvSpPr/>
          <p:nvPr/>
        </p:nvSpPr>
        <p:spPr>
          <a:xfrm>
            <a:off x="2176272" y="2670048"/>
            <a:ext cx="658368" cy="237744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"/>
          <p:cNvSpPr/>
          <p:nvPr/>
        </p:nvSpPr>
        <p:spPr>
          <a:xfrm>
            <a:off x="2221992" y="2688336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"/>
          <p:cNvSpPr/>
          <p:nvPr/>
        </p:nvSpPr>
        <p:spPr>
          <a:xfrm>
            <a:off x="201168" y="2907792"/>
            <a:ext cx="658368" cy="23774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"/>
          <p:cNvSpPr/>
          <p:nvPr/>
        </p:nvSpPr>
        <p:spPr>
          <a:xfrm>
            <a:off x="246888" y="2926080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"/>
          <p:cNvSpPr/>
          <p:nvPr/>
        </p:nvSpPr>
        <p:spPr>
          <a:xfrm>
            <a:off x="859536" y="2907792"/>
            <a:ext cx="658368" cy="23774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"/>
          <p:cNvSpPr/>
          <p:nvPr/>
        </p:nvSpPr>
        <p:spPr>
          <a:xfrm>
            <a:off x="905256" y="2926080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David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"/>
          <p:cNvSpPr/>
          <p:nvPr/>
        </p:nvSpPr>
        <p:spPr>
          <a:xfrm>
            <a:off x="1517904" y="2907792"/>
            <a:ext cx="658368" cy="23774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"/>
          <p:cNvSpPr/>
          <p:nvPr/>
        </p:nvSpPr>
        <p:spPr>
          <a:xfrm>
            <a:off x="1563624" y="2926080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"/>
          <p:cNvSpPr/>
          <p:nvPr/>
        </p:nvSpPr>
        <p:spPr>
          <a:xfrm>
            <a:off x="2176272" y="2907792"/>
            <a:ext cx="658368" cy="23774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"/>
          <p:cNvSpPr/>
          <p:nvPr/>
        </p:nvSpPr>
        <p:spPr>
          <a:xfrm>
            <a:off x="2221992" y="2926080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"/>
          <p:cNvSpPr/>
          <p:nvPr/>
        </p:nvSpPr>
        <p:spPr>
          <a:xfrm>
            <a:off x="201168" y="3145536"/>
            <a:ext cx="658368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"/>
          <p:cNvSpPr/>
          <p:nvPr/>
        </p:nvSpPr>
        <p:spPr>
          <a:xfrm>
            <a:off x="246888" y="3163824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"/>
          <p:cNvSpPr/>
          <p:nvPr/>
        </p:nvSpPr>
        <p:spPr>
          <a:xfrm>
            <a:off x="859536" y="3145536"/>
            <a:ext cx="658368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"/>
          <p:cNvSpPr/>
          <p:nvPr/>
        </p:nvSpPr>
        <p:spPr>
          <a:xfrm>
            <a:off x="905256" y="3163824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Eva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"/>
          <p:cNvSpPr/>
          <p:nvPr/>
        </p:nvSpPr>
        <p:spPr>
          <a:xfrm>
            <a:off x="1517904" y="3145536"/>
            <a:ext cx="658368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"/>
          <p:cNvSpPr/>
          <p:nvPr/>
        </p:nvSpPr>
        <p:spPr>
          <a:xfrm>
            <a:off x="1563624" y="3163824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65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"/>
          <p:cNvSpPr/>
          <p:nvPr/>
        </p:nvSpPr>
        <p:spPr>
          <a:xfrm>
            <a:off x="2176272" y="3145536"/>
            <a:ext cx="658368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"/>
          <p:cNvSpPr/>
          <p:nvPr/>
        </p:nvSpPr>
        <p:spPr>
          <a:xfrm>
            <a:off x="2221992" y="3163824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"/>
          <p:cNvSpPr/>
          <p:nvPr/>
        </p:nvSpPr>
        <p:spPr>
          <a:xfrm>
            <a:off x="2944368" y="22860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"/>
          <p:cNvSpPr/>
          <p:nvPr/>
        </p:nvSpPr>
        <p:spPr>
          <a:xfrm>
            <a:off x="2926080" y="2542032"/>
            <a:ext cx="4389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axis=0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"/>
          <p:cNvSpPr/>
          <p:nvPr/>
        </p:nvSpPr>
        <p:spPr>
          <a:xfrm>
            <a:off x="3383280" y="841248"/>
            <a:ext cx="54864" cy="237744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"/>
          <p:cNvSpPr/>
          <p:nvPr/>
        </p:nvSpPr>
        <p:spPr>
          <a:xfrm>
            <a:off x="3474720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9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9E8A"/>
                </a:solidFill>
                <a:latin typeface="Calibri"/>
                <a:ea typeface="Calibri"/>
                <a:cs typeface="Calibri"/>
                <a:sym typeface="Calibri"/>
              </a:rPr>
              <a:t>Result — pd.concat([df1,df2], ignore_index=True)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"/>
          <p:cNvSpPr/>
          <p:nvPr/>
        </p:nvSpPr>
        <p:spPr>
          <a:xfrm>
            <a:off x="3383280" y="1097280"/>
            <a:ext cx="708600" cy="237600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"/>
          <p:cNvSpPr/>
          <p:nvPr/>
        </p:nvSpPr>
        <p:spPr>
          <a:xfrm>
            <a:off x="3429000" y="1115574"/>
            <a:ext cx="4389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"/>
          <p:cNvSpPr/>
          <p:nvPr/>
        </p:nvSpPr>
        <p:spPr>
          <a:xfrm>
            <a:off x="4091940" y="1097280"/>
            <a:ext cx="708660" cy="237744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"/>
          <p:cNvSpPr/>
          <p:nvPr/>
        </p:nvSpPr>
        <p:spPr>
          <a:xfrm>
            <a:off x="4137660" y="1115568"/>
            <a:ext cx="6172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"/>
          <p:cNvSpPr/>
          <p:nvPr/>
        </p:nvSpPr>
        <p:spPr>
          <a:xfrm>
            <a:off x="4800600" y="1097280"/>
            <a:ext cx="708660" cy="237744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"/>
          <p:cNvSpPr/>
          <p:nvPr/>
        </p:nvSpPr>
        <p:spPr>
          <a:xfrm>
            <a:off x="4846320" y="1115568"/>
            <a:ext cx="6172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"/>
          <p:cNvSpPr/>
          <p:nvPr/>
        </p:nvSpPr>
        <p:spPr>
          <a:xfrm>
            <a:off x="5509250" y="1097275"/>
            <a:ext cx="478200" cy="237600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"/>
          <p:cNvSpPr/>
          <p:nvPr/>
        </p:nvSpPr>
        <p:spPr>
          <a:xfrm>
            <a:off x="5554975" y="1042550"/>
            <a:ext cx="41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"/>
          <p:cNvSpPr/>
          <p:nvPr/>
        </p:nvSpPr>
        <p:spPr>
          <a:xfrm>
            <a:off x="3383280" y="1335024"/>
            <a:ext cx="708660" cy="23774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"/>
          <p:cNvSpPr/>
          <p:nvPr/>
        </p:nvSpPr>
        <p:spPr>
          <a:xfrm>
            <a:off x="3429000" y="1353312"/>
            <a:ext cx="6172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"/>
          <p:cNvSpPr/>
          <p:nvPr/>
        </p:nvSpPr>
        <p:spPr>
          <a:xfrm>
            <a:off x="4091940" y="1335024"/>
            <a:ext cx="708660" cy="23774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"/>
          <p:cNvSpPr/>
          <p:nvPr/>
        </p:nvSpPr>
        <p:spPr>
          <a:xfrm>
            <a:off x="4137660" y="1353312"/>
            <a:ext cx="6172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Alice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"/>
          <p:cNvSpPr/>
          <p:nvPr/>
        </p:nvSpPr>
        <p:spPr>
          <a:xfrm>
            <a:off x="4800600" y="1335024"/>
            <a:ext cx="708660" cy="23774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"/>
          <p:cNvSpPr/>
          <p:nvPr/>
        </p:nvSpPr>
        <p:spPr>
          <a:xfrm>
            <a:off x="4846320" y="1353312"/>
            <a:ext cx="6172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"/>
          <p:cNvSpPr/>
          <p:nvPr/>
        </p:nvSpPr>
        <p:spPr>
          <a:xfrm>
            <a:off x="5509253" y="1335025"/>
            <a:ext cx="478200" cy="2376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"/>
          <p:cNvSpPr/>
          <p:nvPr/>
        </p:nvSpPr>
        <p:spPr>
          <a:xfrm>
            <a:off x="5554977" y="1353303"/>
            <a:ext cx="4116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"/>
          <p:cNvSpPr/>
          <p:nvPr/>
        </p:nvSpPr>
        <p:spPr>
          <a:xfrm>
            <a:off x="3383280" y="1572768"/>
            <a:ext cx="70866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"/>
          <p:cNvSpPr/>
          <p:nvPr/>
        </p:nvSpPr>
        <p:spPr>
          <a:xfrm>
            <a:off x="3429000" y="1591056"/>
            <a:ext cx="6172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"/>
          <p:cNvSpPr/>
          <p:nvPr/>
        </p:nvSpPr>
        <p:spPr>
          <a:xfrm>
            <a:off x="4091940" y="1572768"/>
            <a:ext cx="70866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"/>
          <p:cNvSpPr/>
          <p:nvPr/>
        </p:nvSpPr>
        <p:spPr>
          <a:xfrm>
            <a:off x="4137660" y="1591056"/>
            <a:ext cx="6172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Bob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"/>
          <p:cNvSpPr/>
          <p:nvPr/>
        </p:nvSpPr>
        <p:spPr>
          <a:xfrm>
            <a:off x="4800600" y="1572768"/>
            <a:ext cx="70866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"/>
          <p:cNvSpPr/>
          <p:nvPr/>
        </p:nvSpPr>
        <p:spPr>
          <a:xfrm>
            <a:off x="4846320" y="1591056"/>
            <a:ext cx="6172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"/>
          <p:cNvSpPr/>
          <p:nvPr/>
        </p:nvSpPr>
        <p:spPr>
          <a:xfrm>
            <a:off x="5509253" y="1572775"/>
            <a:ext cx="4782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"/>
          <p:cNvSpPr/>
          <p:nvPr/>
        </p:nvSpPr>
        <p:spPr>
          <a:xfrm>
            <a:off x="5554977" y="1591051"/>
            <a:ext cx="4116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"/>
          <p:cNvSpPr/>
          <p:nvPr/>
        </p:nvSpPr>
        <p:spPr>
          <a:xfrm>
            <a:off x="3383280" y="1810512"/>
            <a:ext cx="708660" cy="23774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"/>
          <p:cNvSpPr/>
          <p:nvPr/>
        </p:nvSpPr>
        <p:spPr>
          <a:xfrm>
            <a:off x="3429000" y="1828800"/>
            <a:ext cx="6172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"/>
          <p:cNvSpPr/>
          <p:nvPr/>
        </p:nvSpPr>
        <p:spPr>
          <a:xfrm>
            <a:off x="4091940" y="1810512"/>
            <a:ext cx="708660" cy="23774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"/>
          <p:cNvSpPr/>
          <p:nvPr/>
        </p:nvSpPr>
        <p:spPr>
          <a:xfrm>
            <a:off x="4137660" y="1828800"/>
            <a:ext cx="6172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Carol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"/>
          <p:cNvSpPr/>
          <p:nvPr/>
        </p:nvSpPr>
        <p:spPr>
          <a:xfrm>
            <a:off x="4800600" y="1810512"/>
            <a:ext cx="708660" cy="23774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"/>
          <p:cNvSpPr/>
          <p:nvPr/>
        </p:nvSpPr>
        <p:spPr>
          <a:xfrm>
            <a:off x="4846320" y="1828800"/>
            <a:ext cx="6172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"/>
          <p:cNvSpPr/>
          <p:nvPr/>
        </p:nvSpPr>
        <p:spPr>
          <a:xfrm>
            <a:off x="5509250" y="1810650"/>
            <a:ext cx="4782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"/>
          <p:cNvSpPr/>
          <p:nvPr/>
        </p:nvSpPr>
        <p:spPr>
          <a:xfrm>
            <a:off x="5611700" y="1773988"/>
            <a:ext cx="478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"/>
          <p:cNvSpPr/>
          <p:nvPr/>
        </p:nvSpPr>
        <p:spPr>
          <a:xfrm>
            <a:off x="3383280" y="2048256"/>
            <a:ext cx="708660" cy="237744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"/>
          <p:cNvSpPr/>
          <p:nvPr/>
        </p:nvSpPr>
        <p:spPr>
          <a:xfrm>
            <a:off x="3429000" y="2066544"/>
            <a:ext cx="6172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"/>
          <p:cNvSpPr/>
          <p:nvPr/>
        </p:nvSpPr>
        <p:spPr>
          <a:xfrm>
            <a:off x="4091940" y="2048256"/>
            <a:ext cx="708660" cy="237744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"/>
          <p:cNvSpPr/>
          <p:nvPr/>
        </p:nvSpPr>
        <p:spPr>
          <a:xfrm>
            <a:off x="4137660" y="2066544"/>
            <a:ext cx="6172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David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"/>
          <p:cNvSpPr/>
          <p:nvPr/>
        </p:nvSpPr>
        <p:spPr>
          <a:xfrm>
            <a:off x="4800600" y="2048256"/>
            <a:ext cx="708660" cy="237744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"/>
          <p:cNvSpPr/>
          <p:nvPr/>
        </p:nvSpPr>
        <p:spPr>
          <a:xfrm>
            <a:off x="4846320" y="2066544"/>
            <a:ext cx="6172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"/>
          <p:cNvSpPr/>
          <p:nvPr/>
        </p:nvSpPr>
        <p:spPr>
          <a:xfrm>
            <a:off x="5509253" y="2048248"/>
            <a:ext cx="478200" cy="274200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"/>
          <p:cNvSpPr/>
          <p:nvPr/>
        </p:nvSpPr>
        <p:spPr>
          <a:xfrm>
            <a:off x="5554976" y="2066549"/>
            <a:ext cx="4389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"/>
          <p:cNvSpPr/>
          <p:nvPr/>
        </p:nvSpPr>
        <p:spPr>
          <a:xfrm>
            <a:off x="3383280" y="2286000"/>
            <a:ext cx="708660" cy="237744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"/>
          <p:cNvSpPr/>
          <p:nvPr/>
        </p:nvSpPr>
        <p:spPr>
          <a:xfrm>
            <a:off x="3429000" y="2304288"/>
            <a:ext cx="6172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"/>
          <p:cNvSpPr/>
          <p:nvPr/>
        </p:nvSpPr>
        <p:spPr>
          <a:xfrm>
            <a:off x="4091940" y="2286000"/>
            <a:ext cx="708660" cy="237744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"/>
          <p:cNvSpPr/>
          <p:nvPr/>
        </p:nvSpPr>
        <p:spPr>
          <a:xfrm>
            <a:off x="4137660" y="2304288"/>
            <a:ext cx="6172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Eva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"/>
          <p:cNvSpPr/>
          <p:nvPr/>
        </p:nvSpPr>
        <p:spPr>
          <a:xfrm>
            <a:off x="4800600" y="2286000"/>
            <a:ext cx="708660" cy="237744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"/>
          <p:cNvSpPr/>
          <p:nvPr/>
        </p:nvSpPr>
        <p:spPr>
          <a:xfrm>
            <a:off x="4846320" y="2304288"/>
            <a:ext cx="6172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65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"/>
          <p:cNvSpPr/>
          <p:nvPr/>
        </p:nvSpPr>
        <p:spPr>
          <a:xfrm>
            <a:off x="5509250" y="2286000"/>
            <a:ext cx="478200" cy="237600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"/>
          <p:cNvSpPr/>
          <p:nvPr/>
        </p:nvSpPr>
        <p:spPr>
          <a:xfrm>
            <a:off x="5554976" y="2304299"/>
            <a:ext cx="478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"/>
          <p:cNvSpPr/>
          <p:nvPr/>
        </p:nvSpPr>
        <p:spPr>
          <a:xfrm>
            <a:off x="6089900" y="841250"/>
            <a:ext cx="3054300" cy="2286000"/>
          </a:xfrm>
          <a:prstGeom prst="rect">
            <a:avLst/>
          </a:prstGeom>
          <a:solidFill>
            <a:srgbClr val="1A2B3C"/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"/>
          <p:cNvSpPr/>
          <p:nvPr/>
        </p:nvSpPr>
        <p:spPr>
          <a:xfrm>
            <a:off x="6089898" y="868686"/>
            <a:ext cx="2615100" cy="1830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"/>
          <p:cNvSpPr/>
          <p:nvPr/>
        </p:nvSpPr>
        <p:spPr>
          <a:xfrm>
            <a:off x="6144775" y="882411"/>
            <a:ext cx="1280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"/>
          <p:cNvSpPr/>
          <p:nvPr/>
        </p:nvSpPr>
        <p:spPr>
          <a:xfrm>
            <a:off x="6144775" y="1051550"/>
            <a:ext cx="2999100" cy="20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df1 = pd.DataFrame({'Name':['Alice','Bob','Carol'],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          'Marks':[82,91,74],         </a:t>
            </a:r>
            <a:endParaRPr b="0" i="0" sz="880" u="none" cap="none" strike="noStrike">
              <a:solidFill>
                <a:srgbClr val="A8D8E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          ‘Grade':['B','A','C']})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df2 = pd.DataFrame({'Name':['David','Eva'],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                'Marks':[88,65],      </a:t>
            </a:r>
            <a:endParaRPr b="0" i="0" sz="880" u="none" cap="none" strike="noStrike">
              <a:solidFill>
                <a:srgbClr val="A8D8E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                ‘Grade':['A','C']})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Stack vertically — more rows, same columns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result = pd.concat([df1, df2], axis=0, ignore_index=True)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"/>
          <p:cNvSpPr/>
          <p:nvPr/>
        </p:nvSpPr>
        <p:spPr>
          <a:xfrm>
            <a:off x="201168" y="4279392"/>
            <a:ext cx="5943600" cy="329184"/>
          </a:xfrm>
          <a:prstGeom prst="rect">
            <a:avLst/>
          </a:prstGeom>
          <a:solidFill>
            <a:srgbClr val="C0392B">
              <a:alpha val="10196"/>
            </a:srgbClr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"/>
          <p:cNvSpPr/>
          <p:nvPr/>
        </p:nvSpPr>
        <p:spPr>
          <a:xfrm>
            <a:off x="201168" y="4279392"/>
            <a:ext cx="54864" cy="32918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"/>
          <p:cNvSpPr/>
          <p:nvPr/>
        </p:nvSpPr>
        <p:spPr>
          <a:xfrm>
            <a:off x="310896" y="4315968"/>
            <a:ext cx="5779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⚠️ Without ignore_index=True the index repeats as 0,1,2,0,1 — causes bugs in .loc[] filtering later.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"/>
          <p:cNvSpPr/>
          <p:nvPr/>
        </p:nvSpPr>
        <p:spPr>
          <a:xfrm>
            <a:off x="6327648" y="4279392"/>
            <a:ext cx="2615184" cy="329184"/>
          </a:xfrm>
          <a:prstGeom prst="rect">
            <a:avLst/>
          </a:prstGeom>
          <a:solidFill>
            <a:srgbClr val="1A7A34">
              <a:alpha val="10196"/>
            </a:srgbClr>
          </a:solidFill>
          <a:ln cap="flat" cmpd="sng" w="15225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"/>
          <p:cNvSpPr/>
          <p:nvPr/>
        </p:nvSpPr>
        <p:spPr>
          <a:xfrm>
            <a:off x="6327648" y="4279392"/>
            <a:ext cx="54864" cy="329184"/>
          </a:xfrm>
          <a:prstGeom prst="rect">
            <a:avLst/>
          </a:prstGeom>
          <a:solidFill>
            <a:srgbClr val="1A7A34"/>
          </a:solidFill>
          <a:ln cap="flat" cmpd="sng" w="12700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"/>
          <p:cNvSpPr/>
          <p:nvPr/>
        </p:nvSpPr>
        <p:spPr>
          <a:xfrm>
            <a:off x="6437376" y="4315968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🌐 Use case: combining monthly CSV files, merging exam batches.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"/>
          <p:cNvSpPr/>
          <p:nvPr/>
        </p:nvSpPr>
        <p:spPr>
          <a:xfrm>
            <a:off x="0" y="0"/>
            <a:ext cx="82296" cy="804672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"/>
          <p:cNvSpPr/>
          <p:nvPr/>
        </p:nvSpPr>
        <p:spPr>
          <a:xfrm>
            <a:off x="182880" y="64008"/>
            <a:ext cx="8778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pd.concat() — Horizontal Concatenation  (axis=1)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"/>
          <p:cNvSpPr/>
          <p:nvPr/>
        </p:nvSpPr>
        <p:spPr>
          <a:xfrm>
            <a:off x="182880" y="493776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C8E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FC8E0"/>
                </a:solidFill>
                <a:latin typeface="Calibri"/>
                <a:ea typeface="Calibri"/>
                <a:cs typeface="Calibri"/>
                <a:sym typeface="Calibri"/>
              </a:rPr>
              <a:t>Placing DataFrames side-by-side when they share the same rows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"/>
          <p:cNvSpPr/>
          <p:nvPr/>
        </p:nvSpPr>
        <p:spPr>
          <a:xfrm>
            <a:off x="201168" y="4910328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F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FC8"/>
                </a:solidFill>
                <a:latin typeface="Calibri"/>
                <a:ea typeface="Calibri"/>
                <a:cs typeface="Calibri"/>
                <a:sym typeface="Calibri"/>
              </a:rPr>
              <a:t>EDA | Module 2 | 23CSE422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"/>
          <p:cNvSpPr/>
          <p:nvPr/>
        </p:nvSpPr>
        <p:spPr>
          <a:xfrm>
            <a:off x="201168" y="841248"/>
            <a:ext cx="54864" cy="237744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"/>
          <p:cNvSpPr/>
          <p:nvPr/>
        </p:nvSpPr>
        <p:spPr>
          <a:xfrm>
            <a:off x="292608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df_SE  (SE marks)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"/>
          <p:cNvSpPr/>
          <p:nvPr/>
        </p:nvSpPr>
        <p:spPr>
          <a:xfrm>
            <a:off x="201168" y="1097280"/>
            <a:ext cx="792480" cy="246888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"/>
          <p:cNvSpPr/>
          <p:nvPr/>
        </p:nvSpPr>
        <p:spPr>
          <a:xfrm>
            <a:off x="246888" y="1115568"/>
            <a:ext cx="701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"/>
          <p:cNvSpPr/>
          <p:nvPr/>
        </p:nvSpPr>
        <p:spPr>
          <a:xfrm>
            <a:off x="993648" y="1097280"/>
            <a:ext cx="792480" cy="246888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"/>
          <p:cNvSpPr/>
          <p:nvPr/>
        </p:nvSpPr>
        <p:spPr>
          <a:xfrm>
            <a:off x="1039368" y="1115568"/>
            <a:ext cx="701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"/>
          <p:cNvSpPr/>
          <p:nvPr/>
        </p:nvSpPr>
        <p:spPr>
          <a:xfrm>
            <a:off x="1786128" y="1097280"/>
            <a:ext cx="792480" cy="246888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"/>
          <p:cNvSpPr/>
          <p:nvPr/>
        </p:nvSpPr>
        <p:spPr>
          <a:xfrm>
            <a:off x="1831848" y="1115568"/>
            <a:ext cx="701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SE_Marks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"/>
          <p:cNvSpPr/>
          <p:nvPr/>
        </p:nvSpPr>
        <p:spPr>
          <a:xfrm>
            <a:off x="201168" y="1344168"/>
            <a:ext cx="79248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"/>
          <p:cNvSpPr/>
          <p:nvPr/>
        </p:nvSpPr>
        <p:spPr>
          <a:xfrm>
            <a:off x="246888" y="1362456"/>
            <a:ext cx="701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"/>
          <p:cNvSpPr/>
          <p:nvPr/>
        </p:nvSpPr>
        <p:spPr>
          <a:xfrm>
            <a:off x="993648" y="1344168"/>
            <a:ext cx="79248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"/>
          <p:cNvSpPr/>
          <p:nvPr/>
        </p:nvSpPr>
        <p:spPr>
          <a:xfrm>
            <a:off x="1039368" y="1362456"/>
            <a:ext cx="701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Alice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"/>
          <p:cNvSpPr/>
          <p:nvPr/>
        </p:nvSpPr>
        <p:spPr>
          <a:xfrm>
            <a:off x="1786128" y="1344168"/>
            <a:ext cx="79248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"/>
          <p:cNvSpPr/>
          <p:nvPr/>
        </p:nvSpPr>
        <p:spPr>
          <a:xfrm>
            <a:off x="1831848" y="1362456"/>
            <a:ext cx="701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"/>
          <p:cNvSpPr/>
          <p:nvPr/>
        </p:nvSpPr>
        <p:spPr>
          <a:xfrm>
            <a:off x="201168" y="1591056"/>
            <a:ext cx="792480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"/>
          <p:cNvSpPr/>
          <p:nvPr/>
        </p:nvSpPr>
        <p:spPr>
          <a:xfrm>
            <a:off x="246888" y="1609344"/>
            <a:ext cx="701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"/>
          <p:cNvSpPr/>
          <p:nvPr/>
        </p:nvSpPr>
        <p:spPr>
          <a:xfrm>
            <a:off x="993648" y="1591056"/>
            <a:ext cx="792480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"/>
          <p:cNvSpPr/>
          <p:nvPr/>
        </p:nvSpPr>
        <p:spPr>
          <a:xfrm>
            <a:off x="1039368" y="1609344"/>
            <a:ext cx="701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Bob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"/>
          <p:cNvSpPr/>
          <p:nvPr/>
        </p:nvSpPr>
        <p:spPr>
          <a:xfrm>
            <a:off x="1786128" y="1591056"/>
            <a:ext cx="792480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"/>
          <p:cNvSpPr/>
          <p:nvPr/>
        </p:nvSpPr>
        <p:spPr>
          <a:xfrm>
            <a:off x="1831848" y="1609344"/>
            <a:ext cx="701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"/>
          <p:cNvSpPr/>
          <p:nvPr/>
        </p:nvSpPr>
        <p:spPr>
          <a:xfrm>
            <a:off x="201168" y="1837944"/>
            <a:ext cx="79248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"/>
          <p:cNvSpPr/>
          <p:nvPr/>
        </p:nvSpPr>
        <p:spPr>
          <a:xfrm>
            <a:off x="246888" y="1856232"/>
            <a:ext cx="701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"/>
          <p:cNvSpPr/>
          <p:nvPr/>
        </p:nvSpPr>
        <p:spPr>
          <a:xfrm>
            <a:off x="993648" y="1837944"/>
            <a:ext cx="79248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"/>
          <p:cNvSpPr/>
          <p:nvPr/>
        </p:nvSpPr>
        <p:spPr>
          <a:xfrm>
            <a:off x="1039368" y="1856232"/>
            <a:ext cx="701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Carol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"/>
          <p:cNvSpPr/>
          <p:nvPr/>
        </p:nvSpPr>
        <p:spPr>
          <a:xfrm>
            <a:off x="1786128" y="1837944"/>
            <a:ext cx="79248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"/>
          <p:cNvSpPr/>
          <p:nvPr/>
        </p:nvSpPr>
        <p:spPr>
          <a:xfrm>
            <a:off x="1831848" y="1856232"/>
            <a:ext cx="701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"/>
          <p:cNvSpPr/>
          <p:nvPr/>
        </p:nvSpPr>
        <p:spPr>
          <a:xfrm>
            <a:off x="201168" y="2414016"/>
            <a:ext cx="54864" cy="237744"/>
          </a:xfrm>
          <a:prstGeom prst="rect">
            <a:avLst/>
          </a:prstGeom>
          <a:solidFill>
            <a:srgbClr val="D4850A"/>
          </a:solidFill>
          <a:ln cap="flat" cmpd="sng" w="12700">
            <a:solidFill>
              <a:srgbClr val="D485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"/>
          <p:cNvSpPr/>
          <p:nvPr/>
        </p:nvSpPr>
        <p:spPr>
          <a:xfrm>
            <a:off x="292608" y="2414016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50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4850A"/>
                </a:solidFill>
                <a:latin typeface="Calibri"/>
                <a:ea typeface="Calibri"/>
                <a:cs typeface="Calibri"/>
                <a:sym typeface="Calibri"/>
              </a:rPr>
              <a:t>df_ML  (ML marks)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"/>
          <p:cNvSpPr/>
          <p:nvPr/>
        </p:nvSpPr>
        <p:spPr>
          <a:xfrm>
            <a:off x="201168" y="2670048"/>
            <a:ext cx="792480" cy="246888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"/>
          <p:cNvSpPr/>
          <p:nvPr/>
        </p:nvSpPr>
        <p:spPr>
          <a:xfrm>
            <a:off x="246888" y="2688336"/>
            <a:ext cx="701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"/>
          <p:cNvSpPr/>
          <p:nvPr/>
        </p:nvSpPr>
        <p:spPr>
          <a:xfrm>
            <a:off x="993648" y="2670048"/>
            <a:ext cx="792480" cy="246888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"/>
          <p:cNvSpPr/>
          <p:nvPr/>
        </p:nvSpPr>
        <p:spPr>
          <a:xfrm>
            <a:off x="1039368" y="2688336"/>
            <a:ext cx="701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"/>
          <p:cNvSpPr/>
          <p:nvPr/>
        </p:nvSpPr>
        <p:spPr>
          <a:xfrm>
            <a:off x="1786128" y="2670048"/>
            <a:ext cx="792480" cy="246888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"/>
          <p:cNvSpPr/>
          <p:nvPr/>
        </p:nvSpPr>
        <p:spPr>
          <a:xfrm>
            <a:off x="1831848" y="2688336"/>
            <a:ext cx="701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ML_Marks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"/>
          <p:cNvSpPr/>
          <p:nvPr/>
        </p:nvSpPr>
        <p:spPr>
          <a:xfrm>
            <a:off x="201168" y="2916936"/>
            <a:ext cx="79248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"/>
          <p:cNvSpPr/>
          <p:nvPr/>
        </p:nvSpPr>
        <p:spPr>
          <a:xfrm>
            <a:off x="246888" y="2935224"/>
            <a:ext cx="701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"/>
          <p:cNvSpPr/>
          <p:nvPr/>
        </p:nvSpPr>
        <p:spPr>
          <a:xfrm>
            <a:off x="993648" y="2916936"/>
            <a:ext cx="79248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"/>
          <p:cNvSpPr/>
          <p:nvPr/>
        </p:nvSpPr>
        <p:spPr>
          <a:xfrm>
            <a:off x="1039368" y="2935224"/>
            <a:ext cx="701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Alice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"/>
          <p:cNvSpPr/>
          <p:nvPr/>
        </p:nvSpPr>
        <p:spPr>
          <a:xfrm>
            <a:off x="1786128" y="2916936"/>
            <a:ext cx="79248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"/>
          <p:cNvSpPr/>
          <p:nvPr/>
        </p:nvSpPr>
        <p:spPr>
          <a:xfrm>
            <a:off x="1831848" y="2935224"/>
            <a:ext cx="701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"/>
          <p:cNvSpPr/>
          <p:nvPr/>
        </p:nvSpPr>
        <p:spPr>
          <a:xfrm>
            <a:off x="201168" y="3163824"/>
            <a:ext cx="792480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"/>
          <p:cNvSpPr/>
          <p:nvPr/>
        </p:nvSpPr>
        <p:spPr>
          <a:xfrm>
            <a:off x="246888" y="3182112"/>
            <a:ext cx="701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"/>
          <p:cNvSpPr/>
          <p:nvPr/>
        </p:nvSpPr>
        <p:spPr>
          <a:xfrm>
            <a:off x="993648" y="3163824"/>
            <a:ext cx="792480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"/>
          <p:cNvSpPr/>
          <p:nvPr/>
        </p:nvSpPr>
        <p:spPr>
          <a:xfrm>
            <a:off x="1039368" y="3182112"/>
            <a:ext cx="701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Bob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"/>
          <p:cNvSpPr/>
          <p:nvPr/>
        </p:nvSpPr>
        <p:spPr>
          <a:xfrm>
            <a:off x="1786128" y="3163824"/>
            <a:ext cx="792480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"/>
          <p:cNvSpPr/>
          <p:nvPr/>
        </p:nvSpPr>
        <p:spPr>
          <a:xfrm>
            <a:off x="1831848" y="3182112"/>
            <a:ext cx="701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"/>
          <p:cNvSpPr/>
          <p:nvPr/>
        </p:nvSpPr>
        <p:spPr>
          <a:xfrm>
            <a:off x="201168" y="3410712"/>
            <a:ext cx="79248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"/>
          <p:cNvSpPr/>
          <p:nvPr/>
        </p:nvSpPr>
        <p:spPr>
          <a:xfrm>
            <a:off x="246888" y="3429000"/>
            <a:ext cx="701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"/>
          <p:cNvSpPr/>
          <p:nvPr/>
        </p:nvSpPr>
        <p:spPr>
          <a:xfrm>
            <a:off x="993648" y="3410712"/>
            <a:ext cx="79248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"/>
          <p:cNvSpPr/>
          <p:nvPr/>
        </p:nvSpPr>
        <p:spPr>
          <a:xfrm>
            <a:off x="1039368" y="3429000"/>
            <a:ext cx="701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Carol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"/>
          <p:cNvSpPr/>
          <p:nvPr/>
        </p:nvSpPr>
        <p:spPr>
          <a:xfrm>
            <a:off x="1786128" y="3410712"/>
            <a:ext cx="79248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"/>
          <p:cNvSpPr/>
          <p:nvPr/>
        </p:nvSpPr>
        <p:spPr>
          <a:xfrm>
            <a:off x="1831848" y="3429000"/>
            <a:ext cx="701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"/>
          <p:cNvSpPr/>
          <p:nvPr/>
        </p:nvSpPr>
        <p:spPr>
          <a:xfrm>
            <a:off x="2697480" y="22860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"/>
          <p:cNvSpPr/>
          <p:nvPr/>
        </p:nvSpPr>
        <p:spPr>
          <a:xfrm>
            <a:off x="2679192" y="2542032"/>
            <a:ext cx="4389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axis=1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"/>
          <p:cNvSpPr/>
          <p:nvPr/>
        </p:nvSpPr>
        <p:spPr>
          <a:xfrm>
            <a:off x="3163824" y="841248"/>
            <a:ext cx="54864" cy="237744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"/>
          <p:cNvSpPr/>
          <p:nvPr/>
        </p:nvSpPr>
        <p:spPr>
          <a:xfrm>
            <a:off x="3255264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9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9E8A"/>
                </a:solidFill>
                <a:latin typeface="Calibri"/>
                <a:ea typeface="Calibri"/>
                <a:cs typeface="Calibri"/>
                <a:sym typeface="Calibri"/>
              </a:rPr>
              <a:t>Result — columns placed side-by-side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"/>
          <p:cNvSpPr/>
          <p:nvPr/>
        </p:nvSpPr>
        <p:spPr>
          <a:xfrm>
            <a:off x="3163824" y="1097280"/>
            <a:ext cx="676656" cy="246888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"/>
          <p:cNvSpPr/>
          <p:nvPr/>
        </p:nvSpPr>
        <p:spPr>
          <a:xfrm>
            <a:off x="3209544" y="1115568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"/>
          <p:cNvSpPr/>
          <p:nvPr/>
        </p:nvSpPr>
        <p:spPr>
          <a:xfrm>
            <a:off x="3840480" y="1097280"/>
            <a:ext cx="676656" cy="246888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"/>
          <p:cNvSpPr/>
          <p:nvPr/>
        </p:nvSpPr>
        <p:spPr>
          <a:xfrm>
            <a:off x="3886200" y="1115568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"/>
          <p:cNvSpPr/>
          <p:nvPr/>
        </p:nvSpPr>
        <p:spPr>
          <a:xfrm>
            <a:off x="4517136" y="1097280"/>
            <a:ext cx="676656" cy="246888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"/>
          <p:cNvSpPr/>
          <p:nvPr/>
        </p:nvSpPr>
        <p:spPr>
          <a:xfrm>
            <a:off x="4562856" y="1115568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SE_Marks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"/>
          <p:cNvSpPr/>
          <p:nvPr/>
        </p:nvSpPr>
        <p:spPr>
          <a:xfrm>
            <a:off x="5193792" y="1097280"/>
            <a:ext cx="676656" cy="246888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"/>
          <p:cNvSpPr/>
          <p:nvPr/>
        </p:nvSpPr>
        <p:spPr>
          <a:xfrm>
            <a:off x="5239512" y="1115568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"/>
          <p:cNvSpPr/>
          <p:nvPr/>
        </p:nvSpPr>
        <p:spPr>
          <a:xfrm>
            <a:off x="5870448" y="1097280"/>
            <a:ext cx="676656" cy="246888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"/>
          <p:cNvSpPr/>
          <p:nvPr/>
        </p:nvSpPr>
        <p:spPr>
          <a:xfrm>
            <a:off x="5916168" y="1115568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ML_Marks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"/>
          <p:cNvSpPr/>
          <p:nvPr/>
        </p:nvSpPr>
        <p:spPr>
          <a:xfrm>
            <a:off x="3163824" y="1344168"/>
            <a:ext cx="676656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"/>
          <p:cNvSpPr/>
          <p:nvPr/>
        </p:nvSpPr>
        <p:spPr>
          <a:xfrm>
            <a:off x="3209544" y="1362456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"/>
          <p:cNvSpPr/>
          <p:nvPr/>
        </p:nvSpPr>
        <p:spPr>
          <a:xfrm>
            <a:off x="3840480" y="1344168"/>
            <a:ext cx="676656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"/>
          <p:cNvSpPr/>
          <p:nvPr/>
        </p:nvSpPr>
        <p:spPr>
          <a:xfrm>
            <a:off x="3886200" y="1362456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Alice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"/>
          <p:cNvSpPr/>
          <p:nvPr/>
        </p:nvSpPr>
        <p:spPr>
          <a:xfrm>
            <a:off x="4517136" y="1344168"/>
            <a:ext cx="676656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"/>
          <p:cNvSpPr/>
          <p:nvPr/>
        </p:nvSpPr>
        <p:spPr>
          <a:xfrm>
            <a:off x="4562856" y="1362456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"/>
          <p:cNvSpPr/>
          <p:nvPr/>
        </p:nvSpPr>
        <p:spPr>
          <a:xfrm>
            <a:off x="5193792" y="1344168"/>
            <a:ext cx="676656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"/>
          <p:cNvSpPr/>
          <p:nvPr/>
        </p:nvSpPr>
        <p:spPr>
          <a:xfrm>
            <a:off x="5239512" y="1362456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Alice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"/>
          <p:cNvSpPr/>
          <p:nvPr/>
        </p:nvSpPr>
        <p:spPr>
          <a:xfrm>
            <a:off x="5870448" y="1344168"/>
            <a:ext cx="676656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"/>
          <p:cNvSpPr/>
          <p:nvPr/>
        </p:nvSpPr>
        <p:spPr>
          <a:xfrm>
            <a:off x="5916168" y="1362456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"/>
          <p:cNvSpPr/>
          <p:nvPr/>
        </p:nvSpPr>
        <p:spPr>
          <a:xfrm>
            <a:off x="3163824" y="1591056"/>
            <a:ext cx="676656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"/>
          <p:cNvSpPr/>
          <p:nvPr/>
        </p:nvSpPr>
        <p:spPr>
          <a:xfrm>
            <a:off x="3209544" y="1609344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"/>
          <p:cNvSpPr/>
          <p:nvPr/>
        </p:nvSpPr>
        <p:spPr>
          <a:xfrm>
            <a:off x="3840480" y="1591056"/>
            <a:ext cx="676656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"/>
          <p:cNvSpPr/>
          <p:nvPr/>
        </p:nvSpPr>
        <p:spPr>
          <a:xfrm>
            <a:off x="3886200" y="1609344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Bob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"/>
          <p:cNvSpPr/>
          <p:nvPr/>
        </p:nvSpPr>
        <p:spPr>
          <a:xfrm>
            <a:off x="4517136" y="1591056"/>
            <a:ext cx="676656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"/>
          <p:cNvSpPr/>
          <p:nvPr/>
        </p:nvSpPr>
        <p:spPr>
          <a:xfrm>
            <a:off x="4562856" y="1609344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"/>
          <p:cNvSpPr/>
          <p:nvPr/>
        </p:nvSpPr>
        <p:spPr>
          <a:xfrm>
            <a:off x="5193792" y="1591056"/>
            <a:ext cx="676656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"/>
          <p:cNvSpPr/>
          <p:nvPr/>
        </p:nvSpPr>
        <p:spPr>
          <a:xfrm>
            <a:off x="5239512" y="1609344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Bob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"/>
          <p:cNvSpPr/>
          <p:nvPr/>
        </p:nvSpPr>
        <p:spPr>
          <a:xfrm>
            <a:off x="5870448" y="1591056"/>
            <a:ext cx="676656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"/>
          <p:cNvSpPr/>
          <p:nvPr/>
        </p:nvSpPr>
        <p:spPr>
          <a:xfrm>
            <a:off x="5916168" y="1609344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"/>
          <p:cNvSpPr/>
          <p:nvPr/>
        </p:nvSpPr>
        <p:spPr>
          <a:xfrm>
            <a:off x="3163824" y="1837944"/>
            <a:ext cx="676656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"/>
          <p:cNvSpPr/>
          <p:nvPr/>
        </p:nvSpPr>
        <p:spPr>
          <a:xfrm>
            <a:off x="3209544" y="1856232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"/>
          <p:cNvSpPr/>
          <p:nvPr/>
        </p:nvSpPr>
        <p:spPr>
          <a:xfrm>
            <a:off x="3840480" y="1837944"/>
            <a:ext cx="676656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"/>
          <p:cNvSpPr/>
          <p:nvPr/>
        </p:nvSpPr>
        <p:spPr>
          <a:xfrm>
            <a:off x="3886200" y="1856232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Carol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"/>
          <p:cNvSpPr/>
          <p:nvPr/>
        </p:nvSpPr>
        <p:spPr>
          <a:xfrm>
            <a:off x="4517136" y="1837944"/>
            <a:ext cx="676656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"/>
          <p:cNvSpPr/>
          <p:nvPr/>
        </p:nvSpPr>
        <p:spPr>
          <a:xfrm>
            <a:off x="4562856" y="1856232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"/>
          <p:cNvSpPr/>
          <p:nvPr/>
        </p:nvSpPr>
        <p:spPr>
          <a:xfrm>
            <a:off x="5193792" y="1837944"/>
            <a:ext cx="676656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"/>
          <p:cNvSpPr/>
          <p:nvPr/>
        </p:nvSpPr>
        <p:spPr>
          <a:xfrm>
            <a:off x="5239512" y="1856232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Carol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"/>
          <p:cNvSpPr/>
          <p:nvPr/>
        </p:nvSpPr>
        <p:spPr>
          <a:xfrm>
            <a:off x="5870448" y="1837944"/>
            <a:ext cx="676656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"/>
          <p:cNvSpPr/>
          <p:nvPr/>
        </p:nvSpPr>
        <p:spPr>
          <a:xfrm>
            <a:off x="5916168" y="1856232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"/>
          <p:cNvSpPr/>
          <p:nvPr/>
        </p:nvSpPr>
        <p:spPr>
          <a:xfrm>
            <a:off x="3163824" y="2139696"/>
            <a:ext cx="3383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Duplicate 'Name' column — drop it: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"/>
          <p:cNvSpPr/>
          <p:nvPr/>
        </p:nvSpPr>
        <p:spPr>
          <a:xfrm>
            <a:off x="3163824" y="2377440"/>
            <a:ext cx="845820" cy="246888"/>
          </a:xfrm>
          <a:prstGeom prst="rect">
            <a:avLst/>
          </a:prstGeom>
          <a:solidFill>
            <a:srgbClr val="1A7A3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"/>
          <p:cNvSpPr/>
          <p:nvPr/>
        </p:nvSpPr>
        <p:spPr>
          <a:xfrm>
            <a:off x="3209544" y="2395728"/>
            <a:ext cx="7543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"/>
          <p:cNvSpPr/>
          <p:nvPr/>
        </p:nvSpPr>
        <p:spPr>
          <a:xfrm>
            <a:off x="4009644" y="2377440"/>
            <a:ext cx="845820" cy="246888"/>
          </a:xfrm>
          <a:prstGeom prst="rect">
            <a:avLst/>
          </a:prstGeom>
          <a:solidFill>
            <a:srgbClr val="1A7A3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"/>
          <p:cNvSpPr/>
          <p:nvPr/>
        </p:nvSpPr>
        <p:spPr>
          <a:xfrm>
            <a:off x="4055364" y="2395728"/>
            <a:ext cx="7543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"/>
          <p:cNvSpPr/>
          <p:nvPr/>
        </p:nvSpPr>
        <p:spPr>
          <a:xfrm>
            <a:off x="4855464" y="2377440"/>
            <a:ext cx="845820" cy="246888"/>
          </a:xfrm>
          <a:prstGeom prst="rect">
            <a:avLst/>
          </a:prstGeom>
          <a:solidFill>
            <a:srgbClr val="1A7A3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"/>
          <p:cNvSpPr/>
          <p:nvPr/>
        </p:nvSpPr>
        <p:spPr>
          <a:xfrm>
            <a:off x="4901184" y="2395728"/>
            <a:ext cx="7543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SE_Marks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"/>
          <p:cNvSpPr/>
          <p:nvPr/>
        </p:nvSpPr>
        <p:spPr>
          <a:xfrm>
            <a:off x="5701284" y="2377440"/>
            <a:ext cx="845820" cy="246888"/>
          </a:xfrm>
          <a:prstGeom prst="rect">
            <a:avLst/>
          </a:prstGeom>
          <a:solidFill>
            <a:srgbClr val="1A7A3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"/>
          <p:cNvSpPr/>
          <p:nvPr/>
        </p:nvSpPr>
        <p:spPr>
          <a:xfrm>
            <a:off x="5747004" y="2395728"/>
            <a:ext cx="7543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ML_Marks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"/>
          <p:cNvSpPr/>
          <p:nvPr/>
        </p:nvSpPr>
        <p:spPr>
          <a:xfrm>
            <a:off x="3163824" y="2624328"/>
            <a:ext cx="84582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"/>
          <p:cNvSpPr/>
          <p:nvPr/>
        </p:nvSpPr>
        <p:spPr>
          <a:xfrm>
            <a:off x="3209544" y="2642616"/>
            <a:ext cx="7543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"/>
          <p:cNvSpPr/>
          <p:nvPr/>
        </p:nvSpPr>
        <p:spPr>
          <a:xfrm>
            <a:off x="4009644" y="2624328"/>
            <a:ext cx="84582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"/>
          <p:cNvSpPr/>
          <p:nvPr/>
        </p:nvSpPr>
        <p:spPr>
          <a:xfrm>
            <a:off x="4055364" y="2642616"/>
            <a:ext cx="7543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Alice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"/>
          <p:cNvSpPr/>
          <p:nvPr/>
        </p:nvSpPr>
        <p:spPr>
          <a:xfrm>
            <a:off x="4855464" y="2624328"/>
            <a:ext cx="84582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"/>
          <p:cNvSpPr/>
          <p:nvPr/>
        </p:nvSpPr>
        <p:spPr>
          <a:xfrm>
            <a:off x="4901184" y="2642616"/>
            <a:ext cx="7543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"/>
          <p:cNvSpPr/>
          <p:nvPr/>
        </p:nvSpPr>
        <p:spPr>
          <a:xfrm>
            <a:off x="5701284" y="2624328"/>
            <a:ext cx="84582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"/>
          <p:cNvSpPr/>
          <p:nvPr/>
        </p:nvSpPr>
        <p:spPr>
          <a:xfrm>
            <a:off x="5747004" y="2642616"/>
            <a:ext cx="7543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"/>
          <p:cNvSpPr/>
          <p:nvPr/>
        </p:nvSpPr>
        <p:spPr>
          <a:xfrm>
            <a:off x="3163824" y="2871216"/>
            <a:ext cx="845820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"/>
          <p:cNvSpPr/>
          <p:nvPr/>
        </p:nvSpPr>
        <p:spPr>
          <a:xfrm>
            <a:off x="3209544" y="2889504"/>
            <a:ext cx="7543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"/>
          <p:cNvSpPr/>
          <p:nvPr/>
        </p:nvSpPr>
        <p:spPr>
          <a:xfrm>
            <a:off x="4009644" y="2871216"/>
            <a:ext cx="845820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"/>
          <p:cNvSpPr/>
          <p:nvPr/>
        </p:nvSpPr>
        <p:spPr>
          <a:xfrm>
            <a:off x="4055364" y="2889504"/>
            <a:ext cx="7543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Bob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"/>
          <p:cNvSpPr/>
          <p:nvPr/>
        </p:nvSpPr>
        <p:spPr>
          <a:xfrm>
            <a:off x="4855464" y="2871216"/>
            <a:ext cx="845820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"/>
          <p:cNvSpPr/>
          <p:nvPr/>
        </p:nvSpPr>
        <p:spPr>
          <a:xfrm>
            <a:off x="4901184" y="2889504"/>
            <a:ext cx="7543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"/>
          <p:cNvSpPr/>
          <p:nvPr/>
        </p:nvSpPr>
        <p:spPr>
          <a:xfrm>
            <a:off x="5701284" y="2871216"/>
            <a:ext cx="845820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"/>
          <p:cNvSpPr/>
          <p:nvPr/>
        </p:nvSpPr>
        <p:spPr>
          <a:xfrm>
            <a:off x="5747004" y="2889504"/>
            <a:ext cx="7543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"/>
          <p:cNvSpPr/>
          <p:nvPr/>
        </p:nvSpPr>
        <p:spPr>
          <a:xfrm>
            <a:off x="3163824" y="3118104"/>
            <a:ext cx="84582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"/>
          <p:cNvSpPr/>
          <p:nvPr/>
        </p:nvSpPr>
        <p:spPr>
          <a:xfrm>
            <a:off x="3209544" y="3136392"/>
            <a:ext cx="7543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"/>
          <p:cNvSpPr/>
          <p:nvPr/>
        </p:nvSpPr>
        <p:spPr>
          <a:xfrm>
            <a:off x="4009644" y="3118104"/>
            <a:ext cx="84582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"/>
          <p:cNvSpPr/>
          <p:nvPr/>
        </p:nvSpPr>
        <p:spPr>
          <a:xfrm>
            <a:off x="4055364" y="3136392"/>
            <a:ext cx="7543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Carol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"/>
          <p:cNvSpPr/>
          <p:nvPr/>
        </p:nvSpPr>
        <p:spPr>
          <a:xfrm>
            <a:off x="4855464" y="3118104"/>
            <a:ext cx="84582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"/>
          <p:cNvSpPr/>
          <p:nvPr/>
        </p:nvSpPr>
        <p:spPr>
          <a:xfrm>
            <a:off x="4901184" y="3136392"/>
            <a:ext cx="7543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"/>
          <p:cNvSpPr/>
          <p:nvPr/>
        </p:nvSpPr>
        <p:spPr>
          <a:xfrm>
            <a:off x="5701284" y="3118104"/>
            <a:ext cx="84582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"/>
          <p:cNvSpPr/>
          <p:nvPr/>
        </p:nvSpPr>
        <p:spPr>
          <a:xfrm>
            <a:off x="5747004" y="3136392"/>
            <a:ext cx="7543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"/>
          <p:cNvSpPr/>
          <p:nvPr/>
        </p:nvSpPr>
        <p:spPr>
          <a:xfrm>
            <a:off x="6656832" y="841248"/>
            <a:ext cx="2286000" cy="2304288"/>
          </a:xfrm>
          <a:prstGeom prst="rect">
            <a:avLst/>
          </a:prstGeom>
          <a:solidFill>
            <a:srgbClr val="1A2B3C"/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"/>
          <p:cNvSpPr/>
          <p:nvPr/>
        </p:nvSpPr>
        <p:spPr>
          <a:xfrm>
            <a:off x="6656832" y="841248"/>
            <a:ext cx="2286000" cy="18288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"/>
          <p:cNvSpPr/>
          <p:nvPr/>
        </p:nvSpPr>
        <p:spPr>
          <a:xfrm>
            <a:off x="6729984" y="859536"/>
            <a:ext cx="12801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"/>
          <p:cNvSpPr/>
          <p:nvPr/>
        </p:nvSpPr>
        <p:spPr>
          <a:xfrm>
            <a:off x="6748272" y="1051560"/>
            <a:ext cx="2103120" cy="2048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Horizontal concat — axis=1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result = pd.concat([df_SE, df_ML], axis=1)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Better: drop the duplicate 'Name' column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result = pd.concat([df_SE,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                df_ML[['ML_Marks']]], axis=1)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Output: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   Name  SE_Marks  ML_Marks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0  Alice     82      88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1  Bob       91      75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2  Carol     74      90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"/>
          <p:cNvSpPr/>
          <p:nvPr/>
        </p:nvSpPr>
        <p:spPr>
          <a:xfrm>
            <a:off x="201168" y="4279392"/>
            <a:ext cx="6364224" cy="329184"/>
          </a:xfrm>
          <a:prstGeom prst="rect">
            <a:avLst/>
          </a:prstGeom>
          <a:solidFill>
            <a:srgbClr val="C0392B">
              <a:alpha val="10196"/>
            </a:srgbClr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"/>
          <p:cNvSpPr/>
          <p:nvPr/>
        </p:nvSpPr>
        <p:spPr>
          <a:xfrm>
            <a:off x="201168" y="4279392"/>
            <a:ext cx="54864" cy="32918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"/>
          <p:cNvSpPr/>
          <p:nvPr/>
        </p:nvSpPr>
        <p:spPr>
          <a:xfrm>
            <a:off x="310896" y="4315968"/>
            <a:ext cx="61996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⚠️ axis=1 works only when row indices align perfectly — both DFs must have the same index values in the same order.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"/>
          <p:cNvSpPr/>
          <p:nvPr/>
        </p:nvSpPr>
        <p:spPr>
          <a:xfrm>
            <a:off x="6656825" y="4156675"/>
            <a:ext cx="2286000" cy="451800"/>
          </a:xfrm>
          <a:prstGeom prst="rect">
            <a:avLst/>
          </a:prstGeom>
          <a:solidFill>
            <a:srgbClr val="1A7A34">
              <a:alpha val="10196"/>
            </a:srgbClr>
          </a:solidFill>
          <a:ln cap="flat" cmpd="sng" w="15225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"/>
          <p:cNvSpPr/>
          <p:nvPr/>
        </p:nvSpPr>
        <p:spPr>
          <a:xfrm>
            <a:off x="6656832" y="4279392"/>
            <a:ext cx="54900" cy="329100"/>
          </a:xfrm>
          <a:prstGeom prst="rect">
            <a:avLst/>
          </a:prstGeom>
          <a:solidFill>
            <a:srgbClr val="1A7A34"/>
          </a:solidFill>
          <a:ln cap="flat" cmpd="sng" w="12700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"/>
          <p:cNvSpPr/>
          <p:nvPr/>
        </p:nvSpPr>
        <p:spPr>
          <a:xfrm>
            <a:off x="6803150" y="4181424"/>
            <a:ext cx="1987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🌐 Use case: student performance across subjects; product attributes from multiple tables.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d08748be71_0_529"/>
          <p:cNvSpPr/>
          <p:nvPr/>
        </p:nvSpPr>
        <p:spPr>
          <a:xfrm>
            <a:off x="0" y="0"/>
            <a:ext cx="9144000" cy="8046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g3d08748be71_0_529"/>
          <p:cNvSpPr/>
          <p:nvPr/>
        </p:nvSpPr>
        <p:spPr>
          <a:xfrm>
            <a:off x="0" y="0"/>
            <a:ext cx="82200" cy="8046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g3d08748be71_0_529"/>
          <p:cNvSpPr/>
          <p:nvPr/>
        </p:nvSpPr>
        <p:spPr>
          <a:xfrm>
            <a:off x="182880" y="64008"/>
            <a:ext cx="8778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pd.concat() — Horizontal Concatenation  (axis=1)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d08748be71_0_529"/>
          <p:cNvSpPr/>
          <p:nvPr/>
        </p:nvSpPr>
        <p:spPr>
          <a:xfrm>
            <a:off x="182880" y="493776"/>
            <a:ext cx="8778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C8E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FC8E0"/>
                </a:solidFill>
                <a:latin typeface="Calibri"/>
                <a:ea typeface="Calibri"/>
                <a:cs typeface="Calibri"/>
                <a:sym typeface="Calibri"/>
              </a:rPr>
              <a:t>Name can be made as index instead of default index.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d08748be71_0_529"/>
          <p:cNvSpPr/>
          <p:nvPr/>
        </p:nvSpPr>
        <p:spPr>
          <a:xfrm>
            <a:off x="0" y="4892040"/>
            <a:ext cx="9144000" cy="2469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d08748be71_0_529"/>
          <p:cNvSpPr/>
          <p:nvPr/>
        </p:nvSpPr>
        <p:spPr>
          <a:xfrm>
            <a:off x="201168" y="4910328"/>
            <a:ext cx="8686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F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FC8"/>
                </a:solidFill>
                <a:latin typeface="Calibri"/>
                <a:ea typeface="Calibri"/>
                <a:cs typeface="Calibri"/>
                <a:sym typeface="Calibri"/>
              </a:rPr>
              <a:t>EDA | Module 2 | 23CSE422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d08748be71_0_529"/>
          <p:cNvSpPr/>
          <p:nvPr/>
        </p:nvSpPr>
        <p:spPr>
          <a:xfrm>
            <a:off x="201168" y="841248"/>
            <a:ext cx="54900" cy="2376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3d08748be71_0_529"/>
          <p:cNvSpPr/>
          <p:nvPr/>
        </p:nvSpPr>
        <p:spPr>
          <a:xfrm>
            <a:off x="292608" y="841248"/>
            <a:ext cx="4572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df_SE  (SE marks)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g3d08748be71_0_529"/>
          <p:cNvSpPr/>
          <p:nvPr/>
        </p:nvSpPr>
        <p:spPr>
          <a:xfrm>
            <a:off x="201168" y="1097280"/>
            <a:ext cx="792600" cy="246900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g3d08748be71_0_529"/>
          <p:cNvSpPr/>
          <p:nvPr/>
        </p:nvSpPr>
        <p:spPr>
          <a:xfrm>
            <a:off x="246888" y="1115568"/>
            <a:ext cx="701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3d08748be71_0_529"/>
          <p:cNvSpPr/>
          <p:nvPr/>
        </p:nvSpPr>
        <p:spPr>
          <a:xfrm>
            <a:off x="993648" y="1097280"/>
            <a:ext cx="792600" cy="246900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g3d08748be71_0_529"/>
          <p:cNvSpPr/>
          <p:nvPr/>
        </p:nvSpPr>
        <p:spPr>
          <a:xfrm>
            <a:off x="1039368" y="1115568"/>
            <a:ext cx="701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g3d08748be71_0_529"/>
          <p:cNvSpPr/>
          <p:nvPr/>
        </p:nvSpPr>
        <p:spPr>
          <a:xfrm>
            <a:off x="1786128" y="1097280"/>
            <a:ext cx="792600" cy="246900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3d08748be71_0_529"/>
          <p:cNvSpPr/>
          <p:nvPr/>
        </p:nvSpPr>
        <p:spPr>
          <a:xfrm>
            <a:off x="1831848" y="1115568"/>
            <a:ext cx="701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SE_Marks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d08748be71_0_529"/>
          <p:cNvSpPr/>
          <p:nvPr/>
        </p:nvSpPr>
        <p:spPr>
          <a:xfrm>
            <a:off x="201168" y="1344168"/>
            <a:ext cx="7926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d08748be71_0_529"/>
          <p:cNvSpPr/>
          <p:nvPr/>
        </p:nvSpPr>
        <p:spPr>
          <a:xfrm>
            <a:off x="246888" y="1362456"/>
            <a:ext cx="701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g3d08748be71_0_529"/>
          <p:cNvSpPr/>
          <p:nvPr/>
        </p:nvSpPr>
        <p:spPr>
          <a:xfrm>
            <a:off x="993648" y="1344168"/>
            <a:ext cx="7926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d08748be71_0_529"/>
          <p:cNvSpPr/>
          <p:nvPr/>
        </p:nvSpPr>
        <p:spPr>
          <a:xfrm>
            <a:off x="1039368" y="1362456"/>
            <a:ext cx="701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Alice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d08748be71_0_529"/>
          <p:cNvSpPr/>
          <p:nvPr/>
        </p:nvSpPr>
        <p:spPr>
          <a:xfrm>
            <a:off x="1786128" y="1344168"/>
            <a:ext cx="7926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3d08748be71_0_529"/>
          <p:cNvSpPr/>
          <p:nvPr/>
        </p:nvSpPr>
        <p:spPr>
          <a:xfrm>
            <a:off x="1831848" y="1362456"/>
            <a:ext cx="701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g3d08748be71_0_529"/>
          <p:cNvSpPr/>
          <p:nvPr/>
        </p:nvSpPr>
        <p:spPr>
          <a:xfrm>
            <a:off x="201168" y="1591056"/>
            <a:ext cx="7926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g3d08748be71_0_529"/>
          <p:cNvSpPr/>
          <p:nvPr/>
        </p:nvSpPr>
        <p:spPr>
          <a:xfrm>
            <a:off x="246888" y="1609344"/>
            <a:ext cx="701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g3d08748be71_0_529"/>
          <p:cNvSpPr/>
          <p:nvPr/>
        </p:nvSpPr>
        <p:spPr>
          <a:xfrm>
            <a:off x="993648" y="1591056"/>
            <a:ext cx="7926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g3d08748be71_0_529"/>
          <p:cNvSpPr/>
          <p:nvPr/>
        </p:nvSpPr>
        <p:spPr>
          <a:xfrm>
            <a:off x="1039368" y="1609344"/>
            <a:ext cx="701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Bob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d08748be71_0_529"/>
          <p:cNvSpPr/>
          <p:nvPr/>
        </p:nvSpPr>
        <p:spPr>
          <a:xfrm>
            <a:off x="1786128" y="1591056"/>
            <a:ext cx="7926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3d08748be71_0_529"/>
          <p:cNvSpPr/>
          <p:nvPr/>
        </p:nvSpPr>
        <p:spPr>
          <a:xfrm>
            <a:off x="1831848" y="1609344"/>
            <a:ext cx="701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3d08748be71_0_529"/>
          <p:cNvSpPr/>
          <p:nvPr/>
        </p:nvSpPr>
        <p:spPr>
          <a:xfrm>
            <a:off x="201168" y="1837944"/>
            <a:ext cx="7926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g3d08748be71_0_529"/>
          <p:cNvSpPr/>
          <p:nvPr/>
        </p:nvSpPr>
        <p:spPr>
          <a:xfrm>
            <a:off x="246888" y="1856232"/>
            <a:ext cx="701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d08748be71_0_529"/>
          <p:cNvSpPr/>
          <p:nvPr/>
        </p:nvSpPr>
        <p:spPr>
          <a:xfrm>
            <a:off x="993648" y="1837944"/>
            <a:ext cx="7926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d08748be71_0_529"/>
          <p:cNvSpPr/>
          <p:nvPr/>
        </p:nvSpPr>
        <p:spPr>
          <a:xfrm>
            <a:off x="1039368" y="1856232"/>
            <a:ext cx="701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Carol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d08748be71_0_529"/>
          <p:cNvSpPr/>
          <p:nvPr/>
        </p:nvSpPr>
        <p:spPr>
          <a:xfrm>
            <a:off x="1786128" y="1837944"/>
            <a:ext cx="7926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g3d08748be71_0_529"/>
          <p:cNvSpPr/>
          <p:nvPr/>
        </p:nvSpPr>
        <p:spPr>
          <a:xfrm>
            <a:off x="1831848" y="1856232"/>
            <a:ext cx="701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d08748be71_0_529"/>
          <p:cNvSpPr/>
          <p:nvPr/>
        </p:nvSpPr>
        <p:spPr>
          <a:xfrm>
            <a:off x="201168" y="2414016"/>
            <a:ext cx="54900" cy="237600"/>
          </a:xfrm>
          <a:prstGeom prst="rect">
            <a:avLst/>
          </a:prstGeom>
          <a:solidFill>
            <a:srgbClr val="D4850A"/>
          </a:solidFill>
          <a:ln cap="flat" cmpd="sng" w="12700">
            <a:solidFill>
              <a:srgbClr val="D485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g3d08748be71_0_529"/>
          <p:cNvSpPr/>
          <p:nvPr/>
        </p:nvSpPr>
        <p:spPr>
          <a:xfrm>
            <a:off x="292608" y="2414016"/>
            <a:ext cx="4572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50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4850A"/>
                </a:solidFill>
                <a:latin typeface="Calibri"/>
                <a:ea typeface="Calibri"/>
                <a:cs typeface="Calibri"/>
                <a:sym typeface="Calibri"/>
              </a:rPr>
              <a:t>df_ML  (ML marks)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d08748be71_0_529"/>
          <p:cNvSpPr/>
          <p:nvPr/>
        </p:nvSpPr>
        <p:spPr>
          <a:xfrm>
            <a:off x="201168" y="2670048"/>
            <a:ext cx="792600" cy="246900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3d08748be71_0_529"/>
          <p:cNvSpPr/>
          <p:nvPr/>
        </p:nvSpPr>
        <p:spPr>
          <a:xfrm>
            <a:off x="246888" y="2688336"/>
            <a:ext cx="701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d08748be71_0_529"/>
          <p:cNvSpPr/>
          <p:nvPr/>
        </p:nvSpPr>
        <p:spPr>
          <a:xfrm>
            <a:off x="993648" y="2670048"/>
            <a:ext cx="792600" cy="246900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g3d08748be71_0_529"/>
          <p:cNvSpPr/>
          <p:nvPr/>
        </p:nvSpPr>
        <p:spPr>
          <a:xfrm>
            <a:off x="1039368" y="2688336"/>
            <a:ext cx="701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d08748be71_0_529"/>
          <p:cNvSpPr/>
          <p:nvPr/>
        </p:nvSpPr>
        <p:spPr>
          <a:xfrm>
            <a:off x="1786128" y="2670048"/>
            <a:ext cx="792600" cy="246900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3d08748be71_0_529"/>
          <p:cNvSpPr/>
          <p:nvPr/>
        </p:nvSpPr>
        <p:spPr>
          <a:xfrm>
            <a:off x="1831848" y="2688336"/>
            <a:ext cx="701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ML_Marks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3d08748be71_0_529"/>
          <p:cNvSpPr/>
          <p:nvPr/>
        </p:nvSpPr>
        <p:spPr>
          <a:xfrm>
            <a:off x="201168" y="2916936"/>
            <a:ext cx="7926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g3d08748be71_0_529"/>
          <p:cNvSpPr/>
          <p:nvPr/>
        </p:nvSpPr>
        <p:spPr>
          <a:xfrm>
            <a:off x="246888" y="2935224"/>
            <a:ext cx="701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d08748be71_0_529"/>
          <p:cNvSpPr/>
          <p:nvPr/>
        </p:nvSpPr>
        <p:spPr>
          <a:xfrm>
            <a:off x="993648" y="2916936"/>
            <a:ext cx="7926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3d08748be71_0_529"/>
          <p:cNvSpPr/>
          <p:nvPr/>
        </p:nvSpPr>
        <p:spPr>
          <a:xfrm>
            <a:off x="1039368" y="2935224"/>
            <a:ext cx="701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Alice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g3d08748be71_0_529"/>
          <p:cNvSpPr/>
          <p:nvPr/>
        </p:nvSpPr>
        <p:spPr>
          <a:xfrm>
            <a:off x="1786128" y="2916936"/>
            <a:ext cx="7926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g3d08748be71_0_529"/>
          <p:cNvSpPr/>
          <p:nvPr/>
        </p:nvSpPr>
        <p:spPr>
          <a:xfrm>
            <a:off x="1831848" y="2935224"/>
            <a:ext cx="701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g3d08748be71_0_529"/>
          <p:cNvSpPr/>
          <p:nvPr/>
        </p:nvSpPr>
        <p:spPr>
          <a:xfrm>
            <a:off x="201168" y="3163824"/>
            <a:ext cx="7926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g3d08748be71_0_529"/>
          <p:cNvSpPr/>
          <p:nvPr/>
        </p:nvSpPr>
        <p:spPr>
          <a:xfrm>
            <a:off x="246888" y="3182112"/>
            <a:ext cx="701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d08748be71_0_529"/>
          <p:cNvSpPr/>
          <p:nvPr/>
        </p:nvSpPr>
        <p:spPr>
          <a:xfrm>
            <a:off x="993648" y="3163824"/>
            <a:ext cx="7926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d08748be71_0_529"/>
          <p:cNvSpPr/>
          <p:nvPr/>
        </p:nvSpPr>
        <p:spPr>
          <a:xfrm>
            <a:off x="1039368" y="3182112"/>
            <a:ext cx="701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Bob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d08748be71_0_529"/>
          <p:cNvSpPr/>
          <p:nvPr/>
        </p:nvSpPr>
        <p:spPr>
          <a:xfrm>
            <a:off x="1786128" y="3163824"/>
            <a:ext cx="7926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3d08748be71_0_529"/>
          <p:cNvSpPr/>
          <p:nvPr/>
        </p:nvSpPr>
        <p:spPr>
          <a:xfrm>
            <a:off x="1831848" y="3182112"/>
            <a:ext cx="701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g3d08748be71_0_529"/>
          <p:cNvSpPr/>
          <p:nvPr/>
        </p:nvSpPr>
        <p:spPr>
          <a:xfrm>
            <a:off x="201168" y="3410712"/>
            <a:ext cx="7926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g3d08748be71_0_529"/>
          <p:cNvSpPr/>
          <p:nvPr/>
        </p:nvSpPr>
        <p:spPr>
          <a:xfrm>
            <a:off x="246888" y="3429000"/>
            <a:ext cx="701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g3d08748be71_0_529"/>
          <p:cNvSpPr/>
          <p:nvPr/>
        </p:nvSpPr>
        <p:spPr>
          <a:xfrm>
            <a:off x="993648" y="3410712"/>
            <a:ext cx="7926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g3d08748be71_0_529"/>
          <p:cNvSpPr/>
          <p:nvPr/>
        </p:nvSpPr>
        <p:spPr>
          <a:xfrm>
            <a:off x="1039368" y="3429000"/>
            <a:ext cx="701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Carol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g3d08748be71_0_529"/>
          <p:cNvSpPr/>
          <p:nvPr/>
        </p:nvSpPr>
        <p:spPr>
          <a:xfrm>
            <a:off x="1786128" y="3410712"/>
            <a:ext cx="7926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g3d08748be71_0_529"/>
          <p:cNvSpPr/>
          <p:nvPr/>
        </p:nvSpPr>
        <p:spPr>
          <a:xfrm>
            <a:off x="1831848" y="3429000"/>
            <a:ext cx="701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g3d08748be71_0_529"/>
          <p:cNvSpPr/>
          <p:nvPr/>
        </p:nvSpPr>
        <p:spPr>
          <a:xfrm>
            <a:off x="2697480" y="2286000"/>
            <a:ext cx="41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g3d08748be71_0_529"/>
          <p:cNvSpPr/>
          <p:nvPr/>
        </p:nvSpPr>
        <p:spPr>
          <a:xfrm>
            <a:off x="2679192" y="2542032"/>
            <a:ext cx="438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axis=1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g3d08748be71_0_529"/>
          <p:cNvSpPr/>
          <p:nvPr/>
        </p:nvSpPr>
        <p:spPr>
          <a:xfrm>
            <a:off x="3163824" y="841248"/>
            <a:ext cx="54900" cy="237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g3d08748be71_0_529"/>
          <p:cNvSpPr/>
          <p:nvPr/>
        </p:nvSpPr>
        <p:spPr>
          <a:xfrm>
            <a:off x="3255264" y="841248"/>
            <a:ext cx="4572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9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9E8A"/>
                </a:solidFill>
                <a:latin typeface="Calibri"/>
                <a:ea typeface="Calibri"/>
                <a:cs typeface="Calibri"/>
                <a:sym typeface="Calibri"/>
              </a:rPr>
              <a:t>Result — columns placed side-by-side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g3d08748be71_0_529"/>
          <p:cNvSpPr/>
          <p:nvPr/>
        </p:nvSpPr>
        <p:spPr>
          <a:xfrm>
            <a:off x="3163824" y="1097280"/>
            <a:ext cx="676800" cy="246900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d08748be71_0_529"/>
          <p:cNvSpPr/>
          <p:nvPr/>
        </p:nvSpPr>
        <p:spPr>
          <a:xfrm>
            <a:off x="3209544" y="1115568"/>
            <a:ext cx="585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g3d08748be71_0_529"/>
          <p:cNvSpPr/>
          <p:nvPr/>
        </p:nvSpPr>
        <p:spPr>
          <a:xfrm>
            <a:off x="3840480" y="1097280"/>
            <a:ext cx="676800" cy="246900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3d08748be71_0_529"/>
          <p:cNvSpPr/>
          <p:nvPr/>
        </p:nvSpPr>
        <p:spPr>
          <a:xfrm>
            <a:off x="3886200" y="1115568"/>
            <a:ext cx="585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g3d08748be71_0_529"/>
          <p:cNvSpPr/>
          <p:nvPr/>
        </p:nvSpPr>
        <p:spPr>
          <a:xfrm>
            <a:off x="4517136" y="1097280"/>
            <a:ext cx="676800" cy="246900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g3d08748be71_0_529"/>
          <p:cNvSpPr/>
          <p:nvPr/>
        </p:nvSpPr>
        <p:spPr>
          <a:xfrm>
            <a:off x="4562856" y="1115568"/>
            <a:ext cx="585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SE_Marks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g3d08748be71_0_529"/>
          <p:cNvSpPr/>
          <p:nvPr/>
        </p:nvSpPr>
        <p:spPr>
          <a:xfrm>
            <a:off x="5193792" y="1097280"/>
            <a:ext cx="676800" cy="246900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g3d08748be71_0_529"/>
          <p:cNvSpPr/>
          <p:nvPr/>
        </p:nvSpPr>
        <p:spPr>
          <a:xfrm>
            <a:off x="5239512" y="1115568"/>
            <a:ext cx="585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g3d08748be71_0_529"/>
          <p:cNvSpPr/>
          <p:nvPr/>
        </p:nvSpPr>
        <p:spPr>
          <a:xfrm>
            <a:off x="5870448" y="1097280"/>
            <a:ext cx="676800" cy="246900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g3d08748be71_0_529"/>
          <p:cNvSpPr/>
          <p:nvPr/>
        </p:nvSpPr>
        <p:spPr>
          <a:xfrm>
            <a:off x="5916168" y="1115568"/>
            <a:ext cx="585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ML_Marks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g3d08748be71_0_529"/>
          <p:cNvSpPr/>
          <p:nvPr/>
        </p:nvSpPr>
        <p:spPr>
          <a:xfrm>
            <a:off x="3163824" y="1344168"/>
            <a:ext cx="6768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g3d08748be71_0_529"/>
          <p:cNvSpPr/>
          <p:nvPr/>
        </p:nvSpPr>
        <p:spPr>
          <a:xfrm>
            <a:off x="3209544" y="1362456"/>
            <a:ext cx="585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g3d08748be71_0_529"/>
          <p:cNvSpPr/>
          <p:nvPr/>
        </p:nvSpPr>
        <p:spPr>
          <a:xfrm>
            <a:off x="3840480" y="1344168"/>
            <a:ext cx="6768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3d08748be71_0_529"/>
          <p:cNvSpPr/>
          <p:nvPr/>
        </p:nvSpPr>
        <p:spPr>
          <a:xfrm>
            <a:off x="3886200" y="1362456"/>
            <a:ext cx="585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Alice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g3d08748be71_0_529"/>
          <p:cNvSpPr/>
          <p:nvPr/>
        </p:nvSpPr>
        <p:spPr>
          <a:xfrm>
            <a:off x="4517136" y="1344168"/>
            <a:ext cx="6768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3d08748be71_0_529"/>
          <p:cNvSpPr/>
          <p:nvPr/>
        </p:nvSpPr>
        <p:spPr>
          <a:xfrm>
            <a:off x="4562856" y="1362456"/>
            <a:ext cx="585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g3d08748be71_0_529"/>
          <p:cNvSpPr/>
          <p:nvPr/>
        </p:nvSpPr>
        <p:spPr>
          <a:xfrm>
            <a:off x="5193792" y="1344168"/>
            <a:ext cx="6768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g3d08748be71_0_529"/>
          <p:cNvSpPr/>
          <p:nvPr/>
        </p:nvSpPr>
        <p:spPr>
          <a:xfrm>
            <a:off x="5239512" y="1362456"/>
            <a:ext cx="585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Alice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g3d08748be71_0_529"/>
          <p:cNvSpPr/>
          <p:nvPr/>
        </p:nvSpPr>
        <p:spPr>
          <a:xfrm>
            <a:off x="5870448" y="1344168"/>
            <a:ext cx="6768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g3d08748be71_0_529"/>
          <p:cNvSpPr/>
          <p:nvPr/>
        </p:nvSpPr>
        <p:spPr>
          <a:xfrm>
            <a:off x="5916168" y="1362456"/>
            <a:ext cx="585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g3d08748be71_0_529"/>
          <p:cNvSpPr/>
          <p:nvPr/>
        </p:nvSpPr>
        <p:spPr>
          <a:xfrm>
            <a:off x="3163824" y="1591056"/>
            <a:ext cx="6768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3d08748be71_0_529"/>
          <p:cNvSpPr/>
          <p:nvPr/>
        </p:nvSpPr>
        <p:spPr>
          <a:xfrm>
            <a:off x="3209544" y="1609344"/>
            <a:ext cx="585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g3d08748be71_0_529"/>
          <p:cNvSpPr/>
          <p:nvPr/>
        </p:nvSpPr>
        <p:spPr>
          <a:xfrm>
            <a:off x="3840480" y="1591056"/>
            <a:ext cx="6768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g3d08748be71_0_529"/>
          <p:cNvSpPr/>
          <p:nvPr/>
        </p:nvSpPr>
        <p:spPr>
          <a:xfrm>
            <a:off x="3886200" y="1609344"/>
            <a:ext cx="585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Bob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g3d08748be71_0_529"/>
          <p:cNvSpPr/>
          <p:nvPr/>
        </p:nvSpPr>
        <p:spPr>
          <a:xfrm>
            <a:off x="4517136" y="1591056"/>
            <a:ext cx="6768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3d08748be71_0_529"/>
          <p:cNvSpPr/>
          <p:nvPr/>
        </p:nvSpPr>
        <p:spPr>
          <a:xfrm>
            <a:off x="4562856" y="1609344"/>
            <a:ext cx="585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g3d08748be71_0_529"/>
          <p:cNvSpPr/>
          <p:nvPr/>
        </p:nvSpPr>
        <p:spPr>
          <a:xfrm>
            <a:off x="5193792" y="1591056"/>
            <a:ext cx="6768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g3d08748be71_0_529"/>
          <p:cNvSpPr/>
          <p:nvPr/>
        </p:nvSpPr>
        <p:spPr>
          <a:xfrm>
            <a:off x="5239512" y="1609344"/>
            <a:ext cx="585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Bob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g3d08748be71_0_529"/>
          <p:cNvSpPr/>
          <p:nvPr/>
        </p:nvSpPr>
        <p:spPr>
          <a:xfrm>
            <a:off x="5870448" y="1591056"/>
            <a:ext cx="6768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g3d08748be71_0_529"/>
          <p:cNvSpPr/>
          <p:nvPr/>
        </p:nvSpPr>
        <p:spPr>
          <a:xfrm>
            <a:off x="5916168" y="1609344"/>
            <a:ext cx="585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g3d08748be71_0_529"/>
          <p:cNvSpPr/>
          <p:nvPr/>
        </p:nvSpPr>
        <p:spPr>
          <a:xfrm>
            <a:off x="3163824" y="1837944"/>
            <a:ext cx="6768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g3d08748be71_0_529"/>
          <p:cNvSpPr/>
          <p:nvPr/>
        </p:nvSpPr>
        <p:spPr>
          <a:xfrm>
            <a:off x="3209544" y="1856232"/>
            <a:ext cx="585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3d08748be71_0_529"/>
          <p:cNvSpPr/>
          <p:nvPr/>
        </p:nvSpPr>
        <p:spPr>
          <a:xfrm>
            <a:off x="3840480" y="1837944"/>
            <a:ext cx="6768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g3d08748be71_0_529"/>
          <p:cNvSpPr/>
          <p:nvPr/>
        </p:nvSpPr>
        <p:spPr>
          <a:xfrm>
            <a:off x="3886200" y="1856232"/>
            <a:ext cx="585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Carol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g3d08748be71_0_529"/>
          <p:cNvSpPr/>
          <p:nvPr/>
        </p:nvSpPr>
        <p:spPr>
          <a:xfrm>
            <a:off x="4517136" y="1837944"/>
            <a:ext cx="6768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g3d08748be71_0_529"/>
          <p:cNvSpPr/>
          <p:nvPr/>
        </p:nvSpPr>
        <p:spPr>
          <a:xfrm>
            <a:off x="4562856" y="1856232"/>
            <a:ext cx="585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g3d08748be71_0_529"/>
          <p:cNvSpPr/>
          <p:nvPr/>
        </p:nvSpPr>
        <p:spPr>
          <a:xfrm>
            <a:off x="5193792" y="1837944"/>
            <a:ext cx="6768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3d08748be71_0_529"/>
          <p:cNvSpPr/>
          <p:nvPr/>
        </p:nvSpPr>
        <p:spPr>
          <a:xfrm>
            <a:off x="5239512" y="1856232"/>
            <a:ext cx="585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Carol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g3d08748be71_0_529"/>
          <p:cNvSpPr/>
          <p:nvPr/>
        </p:nvSpPr>
        <p:spPr>
          <a:xfrm>
            <a:off x="5870448" y="1837944"/>
            <a:ext cx="6768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g3d08748be71_0_529"/>
          <p:cNvSpPr/>
          <p:nvPr/>
        </p:nvSpPr>
        <p:spPr>
          <a:xfrm>
            <a:off x="5916168" y="1856232"/>
            <a:ext cx="585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g3d08748be71_0_529"/>
          <p:cNvSpPr/>
          <p:nvPr/>
        </p:nvSpPr>
        <p:spPr>
          <a:xfrm>
            <a:off x="3163824" y="2139696"/>
            <a:ext cx="3383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Duplicate 'Name' column — drop it: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g3d08748be71_0_529"/>
          <p:cNvSpPr/>
          <p:nvPr/>
        </p:nvSpPr>
        <p:spPr>
          <a:xfrm>
            <a:off x="3163824" y="2377440"/>
            <a:ext cx="845700" cy="246900"/>
          </a:xfrm>
          <a:prstGeom prst="rect">
            <a:avLst/>
          </a:prstGeom>
          <a:solidFill>
            <a:srgbClr val="1A7A3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3d08748be71_0_529"/>
          <p:cNvSpPr/>
          <p:nvPr/>
        </p:nvSpPr>
        <p:spPr>
          <a:xfrm>
            <a:off x="3209544" y="2395728"/>
            <a:ext cx="754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g3d08748be71_0_529"/>
          <p:cNvSpPr/>
          <p:nvPr/>
        </p:nvSpPr>
        <p:spPr>
          <a:xfrm>
            <a:off x="4009644" y="2377440"/>
            <a:ext cx="845700" cy="246900"/>
          </a:xfrm>
          <a:prstGeom prst="rect">
            <a:avLst/>
          </a:prstGeom>
          <a:solidFill>
            <a:srgbClr val="1A7A3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d08748be71_0_529"/>
          <p:cNvSpPr/>
          <p:nvPr/>
        </p:nvSpPr>
        <p:spPr>
          <a:xfrm>
            <a:off x="4055364" y="2395728"/>
            <a:ext cx="754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g3d08748be71_0_529"/>
          <p:cNvSpPr/>
          <p:nvPr/>
        </p:nvSpPr>
        <p:spPr>
          <a:xfrm>
            <a:off x="4855464" y="2377440"/>
            <a:ext cx="845700" cy="246900"/>
          </a:xfrm>
          <a:prstGeom prst="rect">
            <a:avLst/>
          </a:prstGeom>
          <a:solidFill>
            <a:srgbClr val="1A7A3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3d08748be71_0_529"/>
          <p:cNvSpPr/>
          <p:nvPr/>
        </p:nvSpPr>
        <p:spPr>
          <a:xfrm>
            <a:off x="4901184" y="2395728"/>
            <a:ext cx="754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SE_Marks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g3d08748be71_0_529"/>
          <p:cNvSpPr/>
          <p:nvPr/>
        </p:nvSpPr>
        <p:spPr>
          <a:xfrm>
            <a:off x="5701284" y="2377440"/>
            <a:ext cx="845700" cy="246900"/>
          </a:xfrm>
          <a:prstGeom prst="rect">
            <a:avLst/>
          </a:prstGeom>
          <a:solidFill>
            <a:srgbClr val="1A7A3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g3d08748be71_0_529"/>
          <p:cNvSpPr/>
          <p:nvPr/>
        </p:nvSpPr>
        <p:spPr>
          <a:xfrm>
            <a:off x="5747004" y="2395728"/>
            <a:ext cx="754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ML_Marks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g3d08748be71_0_529"/>
          <p:cNvSpPr/>
          <p:nvPr/>
        </p:nvSpPr>
        <p:spPr>
          <a:xfrm>
            <a:off x="3163824" y="2624328"/>
            <a:ext cx="8457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g3d08748be71_0_529"/>
          <p:cNvSpPr/>
          <p:nvPr/>
        </p:nvSpPr>
        <p:spPr>
          <a:xfrm>
            <a:off x="3209544" y="2642616"/>
            <a:ext cx="754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g3d08748be71_0_529"/>
          <p:cNvSpPr/>
          <p:nvPr/>
        </p:nvSpPr>
        <p:spPr>
          <a:xfrm>
            <a:off x="4009644" y="2624328"/>
            <a:ext cx="8457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g3d08748be71_0_529"/>
          <p:cNvSpPr/>
          <p:nvPr/>
        </p:nvSpPr>
        <p:spPr>
          <a:xfrm>
            <a:off x="4055364" y="2642616"/>
            <a:ext cx="754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Alice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g3d08748be71_0_529"/>
          <p:cNvSpPr/>
          <p:nvPr/>
        </p:nvSpPr>
        <p:spPr>
          <a:xfrm>
            <a:off x="4855464" y="2624328"/>
            <a:ext cx="8457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g3d08748be71_0_529"/>
          <p:cNvSpPr/>
          <p:nvPr/>
        </p:nvSpPr>
        <p:spPr>
          <a:xfrm>
            <a:off x="4901184" y="2642616"/>
            <a:ext cx="754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g3d08748be71_0_529"/>
          <p:cNvSpPr/>
          <p:nvPr/>
        </p:nvSpPr>
        <p:spPr>
          <a:xfrm>
            <a:off x="5701284" y="2624328"/>
            <a:ext cx="8457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g3d08748be71_0_529"/>
          <p:cNvSpPr/>
          <p:nvPr/>
        </p:nvSpPr>
        <p:spPr>
          <a:xfrm>
            <a:off x="5747004" y="2642616"/>
            <a:ext cx="754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g3d08748be71_0_529"/>
          <p:cNvSpPr/>
          <p:nvPr/>
        </p:nvSpPr>
        <p:spPr>
          <a:xfrm>
            <a:off x="3163824" y="2871216"/>
            <a:ext cx="8457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g3d08748be71_0_529"/>
          <p:cNvSpPr/>
          <p:nvPr/>
        </p:nvSpPr>
        <p:spPr>
          <a:xfrm>
            <a:off x="3209544" y="2889504"/>
            <a:ext cx="754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g3d08748be71_0_529"/>
          <p:cNvSpPr/>
          <p:nvPr/>
        </p:nvSpPr>
        <p:spPr>
          <a:xfrm>
            <a:off x="4009644" y="2871216"/>
            <a:ext cx="8457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g3d08748be71_0_529"/>
          <p:cNvSpPr/>
          <p:nvPr/>
        </p:nvSpPr>
        <p:spPr>
          <a:xfrm>
            <a:off x="4055364" y="2889504"/>
            <a:ext cx="754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Bob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g3d08748be71_0_529"/>
          <p:cNvSpPr/>
          <p:nvPr/>
        </p:nvSpPr>
        <p:spPr>
          <a:xfrm>
            <a:off x="4855464" y="2871216"/>
            <a:ext cx="8457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g3d08748be71_0_529"/>
          <p:cNvSpPr/>
          <p:nvPr/>
        </p:nvSpPr>
        <p:spPr>
          <a:xfrm>
            <a:off x="4901184" y="2889504"/>
            <a:ext cx="754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g3d08748be71_0_529"/>
          <p:cNvSpPr/>
          <p:nvPr/>
        </p:nvSpPr>
        <p:spPr>
          <a:xfrm>
            <a:off x="5701284" y="2871216"/>
            <a:ext cx="8457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g3d08748be71_0_529"/>
          <p:cNvSpPr/>
          <p:nvPr/>
        </p:nvSpPr>
        <p:spPr>
          <a:xfrm>
            <a:off x="5747004" y="2889504"/>
            <a:ext cx="754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g3d08748be71_0_529"/>
          <p:cNvSpPr/>
          <p:nvPr/>
        </p:nvSpPr>
        <p:spPr>
          <a:xfrm>
            <a:off x="3163824" y="3118104"/>
            <a:ext cx="8457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g3d08748be71_0_529"/>
          <p:cNvSpPr/>
          <p:nvPr/>
        </p:nvSpPr>
        <p:spPr>
          <a:xfrm>
            <a:off x="3209544" y="3136392"/>
            <a:ext cx="754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g3d08748be71_0_529"/>
          <p:cNvSpPr/>
          <p:nvPr/>
        </p:nvSpPr>
        <p:spPr>
          <a:xfrm>
            <a:off x="4009644" y="3118104"/>
            <a:ext cx="8457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g3d08748be71_0_529"/>
          <p:cNvSpPr/>
          <p:nvPr/>
        </p:nvSpPr>
        <p:spPr>
          <a:xfrm>
            <a:off x="4055364" y="3136392"/>
            <a:ext cx="754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Carol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g3d08748be71_0_529"/>
          <p:cNvSpPr/>
          <p:nvPr/>
        </p:nvSpPr>
        <p:spPr>
          <a:xfrm>
            <a:off x="4855464" y="3118104"/>
            <a:ext cx="8457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g3d08748be71_0_529"/>
          <p:cNvSpPr/>
          <p:nvPr/>
        </p:nvSpPr>
        <p:spPr>
          <a:xfrm>
            <a:off x="4901184" y="3136392"/>
            <a:ext cx="754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g3d08748be71_0_529"/>
          <p:cNvSpPr/>
          <p:nvPr/>
        </p:nvSpPr>
        <p:spPr>
          <a:xfrm>
            <a:off x="5701284" y="3118104"/>
            <a:ext cx="845700" cy="2469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g3d08748be71_0_529"/>
          <p:cNvSpPr/>
          <p:nvPr/>
        </p:nvSpPr>
        <p:spPr>
          <a:xfrm>
            <a:off x="5747004" y="3136392"/>
            <a:ext cx="754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g3d08748be71_0_529"/>
          <p:cNvSpPr/>
          <p:nvPr/>
        </p:nvSpPr>
        <p:spPr>
          <a:xfrm>
            <a:off x="6656825" y="841251"/>
            <a:ext cx="2286000" cy="3268800"/>
          </a:xfrm>
          <a:prstGeom prst="rect">
            <a:avLst/>
          </a:prstGeom>
          <a:solidFill>
            <a:srgbClr val="1A2B3C"/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g3d08748be71_0_529"/>
          <p:cNvSpPr/>
          <p:nvPr/>
        </p:nvSpPr>
        <p:spPr>
          <a:xfrm>
            <a:off x="6656832" y="841248"/>
            <a:ext cx="2286000" cy="1830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g3d08748be71_0_529"/>
          <p:cNvSpPr/>
          <p:nvPr/>
        </p:nvSpPr>
        <p:spPr>
          <a:xfrm>
            <a:off x="6729984" y="859536"/>
            <a:ext cx="1280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g3d08748be71_0_529"/>
          <p:cNvSpPr/>
          <p:nvPr/>
        </p:nvSpPr>
        <p:spPr>
          <a:xfrm>
            <a:off x="6748275" y="1051550"/>
            <a:ext cx="2194500" cy="20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df_SE = df_SE.set_index('Name')</a:t>
            </a:r>
            <a:endParaRPr b="0" i="0" sz="880" u="none" cap="none" strike="noStrike">
              <a:solidFill>
                <a:srgbClr val="A8D8E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df_ML = df_ML.set_index('Name')</a:t>
            </a:r>
            <a:endParaRPr b="0" i="0" sz="880" u="none" cap="none" strike="noStrike">
              <a:solidFill>
                <a:srgbClr val="A8D8E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result = pd.concat([df_SE, df_ML], axis=1)</a:t>
            </a:r>
            <a:endParaRPr b="0" i="0" sz="880" u="none" cap="none" strike="noStrike">
              <a:solidFill>
                <a:srgbClr val="A8D8E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print("Concatenated DataFrame:")</a:t>
            </a:r>
            <a:endParaRPr b="0" i="0" sz="880" u="none" cap="none" strike="noStrike">
              <a:solidFill>
                <a:srgbClr val="A8D8E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display(result)</a:t>
            </a:r>
            <a:endParaRPr b="0" i="0" sz="880" u="none" cap="none" strike="noStrike">
              <a:solidFill>
                <a:srgbClr val="A8D8E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t/>
            </a:r>
            <a:endParaRPr b="0" i="0" sz="880" u="none" cap="none" strike="noStrike">
              <a:solidFill>
                <a:srgbClr val="A8D8E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#Output:</a:t>
            </a:r>
            <a:endParaRPr b="0" i="0" sz="880" u="none" cap="none" strike="noStrike">
              <a:solidFill>
                <a:srgbClr val="A8D8E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t/>
            </a:r>
            <a:endParaRPr b="0" i="0" sz="880" u="none" cap="none" strike="noStrike">
              <a:solidFill>
                <a:srgbClr val="A8D8EA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5" name="Google Shape;615;g3d08748be71_0_529"/>
          <p:cNvSpPr/>
          <p:nvPr/>
        </p:nvSpPr>
        <p:spPr>
          <a:xfrm>
            <a:off x="201168" y="4279392"/>
            <a:ext cx="6364200" cy="329100"/>
          </a:xfrm>
          <a:prstGeom prst="rect">
            <a:avLst/>
          </a:prstGeom>
          <a:solidFill>
            <a:srgbClr val="C0392B">
              <a:alpha val="10196"/>
            </a:srgbClr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g3d08748be71_0_529"/>
          <p:cNvSpPr/>
          <p:nvPr/>
        </p:nvSpPr>
        <p:spPr>
          <a:xfrm>
            <a:off x="201168" y="4279392"/>
            <a:ext cx="54900" cy="3291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g3d08748be71_0_529"/>
          <p:cNvSpPr/>
          <p:nvPr/>
        </p:nvSpPr>
        <p:spPr>
          <a:xfrm>
            <a:off x="310896" y="4315968"/>
            <a:ext cx="6199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⚠️ axis=1 works only when row indices align perfectly — both DFs must have the same index values in the same order.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g3d08748be71_0_529"/>
          <p:cNvSpPr/>
          <p:nvPr/>
        </p:nvSpPr>
        <p:spPr>
          <a:xfrm>
            <a:off x="6656825" y="4156675"/>
            <a:ext cx="2286000" cy="451800"/>
          </a:xfrm>
          <a:prstGeom prst="rect">
            <a:avLst/>
          </a:prstGeom>
          <a:solidFill>
            <a:srgbClr val="1A7A34">
              <a:alpha val="10196"/>
            </a:srgbClr>
          </a:solidFill>
          <a:ln cap="flat" cmpd="sng" w="15225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g3d08748be71_0_529"/>
          <p:cNvSpPr/>
          <p:nvPr/>
        </p:nvSpPr>
        <p:spPr>
          <a:xfrm>
            <a:off x="6656832" y="4279392"/>
            <a:ext cx="54900" cy="329100"/>
          </a:xfrm>
          <a:prstGeom prst="rect">
            <a:avLst/>
          </a:prstGeom>
          <a:solidFill>
            <a:srgbClr val="1A7A34"/>
          </a:solidFill>
          <a:ln cap="flat" cmpd="sng" w="12700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g3d08748be71_0_529"/>
          <p:cNvSpPr/>
          <p:nvPr/>
        </p:nvSpPr>
        <p:spPr>
          <a:xfrm>
            <a:off x="6803150" y="4181424"/>
            <a:ext cx="1987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🌐 Use case: student performance across subjects; product attributes from multiple tables.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1" name="Google Shape;621;g3d08748be71_0_5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9974" y="2250263"/>
            <a:ext cx="1987500" cy="1669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d08748be71_0_700"/>
          <p:cNvSpPr txBox="1"/>
          <p:nvPr/>
        </p:nvSpPr>
        <p:spPr>
          <a:xfrm>
            <a:off x="2244054" y="-38100"/>
            <a:ext cx="487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Concatenating along with an axis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7" name="Google Shape;627;g3d08748be71_0_700"/>
          <p:cNvGrpSpPr/>
          <p:nvPr/>
        </p:nvGrpSpPr>
        <p:grpSpPr>
          <a:xfrm>
            <a:off x="445382" y="423934"/>
            <a:ext cx="8489371" cy="4205557"/>
            <a:chOff x="0" y="-47625"/>
            <a:chExt cx="4471620" cy="2215200"/>
          </a:xfrm>
        </p:grpSpPr>
        <p:sp>
          <p:nvSpPr>
            <p:cNvPr id="628" name="Google Shape;628;g3d08748be71_0_700"/>
            <p:cNvSpPr/>
            <p:nvPr/>
          </p:nvSpPr>
          <p:spPr>
            <a:xfrm>
              <a:off x="0" y="0"/>
              <a:ext cx="4471620" cy="2167467"/>
            </a:xfrm>
            <a:custGeom>
              <a:rect b="b" l="l" r="r" t="t"/>
              <a:pathLst>
                <a:path extrusionOk="0" h="2167467" w="4471620">
                  <a:moveTo>
                    <a:pt x="13680" y="0"/>
                  </a:moveTo>
                  <a:lnTo>
                    <a:pt x="4457941" y="0"/>
                  </a:lnTo>
                  <a:cubicBezTo>
                    <a:pt x="4461569" y="0"/>
                    <a:pt x="4465048" y="1441"/>
                    <a:pt x="4467614" y="4007"/>
                  </a:cubicBezTo>
                  <a:cubicBezTo>
                    <a:pt x="4470179" y="6572"/>
                    <a:pt x="4471620" y="10052"/>
                    <a:pt x="4471620" y="13680"/>
                  </a:cubicBezTo>
                  <a:lnTo>
                    <a:pt x="4471620" y="2153787"/>
                  </a:lnTo>
                  <a:cubicBezTo>
                    <a:pt x="4471620" y="2157415"/>
                    <a:pt x="4470179" y="2160895"/>
                    <a:pt x="4467614" y="2163460"/>
                  </a:cubicBezTo>
                  <a:cubicBezTo>
                    <a:pt x="4465048" y="2166026"/>
                    <a:pt x="4461569" y="2167467"/>
                    <a:pt x="4457941" y="2167467"/>
                  </a:cubicBezTo>
                  <a:lnTo>
                    <a:pt x="13680" y="2167467"/>
                  </a:lnTo>
                  <a:cubicBezTo>
                    <a:pt x="10052" y="2167467"/>
                    <a:pt x="6572" y="2166026"/>
                    <a:pt x="4007" y="2163460"/>
                  </a:cubicBezTo>
                  <a:cubicBezTo>
                    <a:pt x="1441" y="2160895"/>
                    <a:pt x="0" y="2157415"/>
                    <a:pt x="0" y="2153787"/>
                  </a:cubicBezTo>
                  <a:lnTo>
                    <a:pt x="0" y="13680"/>
                  </a:lnTo>
                  <a:cubicBezTo>
                    <a:pt x="0" y="10052"/>
                    <a:pt x="1441" y="6572"/>
                    <a:pt x="4007" y="4007"/>
                  </a:cubicBezTo>
                  <a:cubicBezTo>
                    <a:pt x="6572" y="1441"/>
                    <a:pt x="10052" y="0"/>
                    <a:pt x="13680" y="0"/>
                  </a:cubicBezTo>
                  <a:close/>
                </a:path>
              </a:pathLst>
            </a:custGeom>
            <a:solidFill>
              <a:srgbClr val="ECE1D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g3d08748be71_0_700"/>
            <p:cNvSpPr txBox="1"/>
            <p:nvPr/>
          </p:nvSpPr>
          <p:spPr>
            <a:xfrm>
              <a:off x="0" y="-47625"/>
              <a:ext cx="4471500" cy="221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68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0" name="Google Shape;630;g3d08748be71_0_700"/>
          <p:cNvSpPr txBox="1"/>
          <p:nvPr/>
        </p:nvSpPr>
        <p:spPr>
          <a:xfrm>
            <a:off x="514350" y="551528"/>
            <a:ext cx="8357100" cy="40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pd.concat() Function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pd.concat() is used to concatenate pandas DataFrames along a particular axis (rows or columns).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Syntax: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                                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                            pd.concat([df1, df2], axis=0, ignore_index=False)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D226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127000" lvl="1" marL="26670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2D226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axis=0 (default): Concatenates vertically (row-wise).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26670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2D226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axis=1: Concatenates horizontally (column-wise).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26670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2D226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ignore_index=True: Resets the index to a new integer sequence, avoiding duplication of indices.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D226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When to Use pd.concat()?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26670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2D226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When you need to combine data from multiple sources with similar structure.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26670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2D226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When you want to combine data along rows or columns.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26670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2D226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When handling large datasets across multiple files or regions, concatenation helps combine data for further analysis.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D226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1" name="Google Shape;631;g3d08748be71_0_700"/>
          <p:cNvSpPr/>
          <p:nvPr/>
        </p:nvSpPr>
        <p:spPr>
          <a:xfrm rot="9421637">
            <a:off x="-2070204" y="-2231327"/>
            <a:ext cx="4078596" cy="3455683"/>
          </a:xfrm>
          <a:custGeom>
            <a:rect b="b" l="l" r="r" t="t"/>
            <a:pathLst>
              <a:path extrusionOk="0" h="6916556" w="8163317">
                <a:moveTo>
                  <a:pt x="0" y="0"/>
                </a:moveTo>
                <a:lnTo>
                  <a:pt x="8163317" y="0"/>
                </a:lnTo>
                <a:lnTo>
                  <a:pt x="8163317" y="6916556"/>
                </a:lnTo>
                <a:lnTo>
                  <a:pt x="0" y="69165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2" name="Google Shape;632;g3d08748be71_0_700"/>
          <p:cNvSpPr/>
          <p:nvPr/>
        </p:nvSpPr>
        <p:spPr>
          <a:xfrm rot="-2614985">
            <a:off x="-402082" y="4772440"/>
            <a:ext cx="1221780" cy="691016"/>
          </a:xfrm>
          <a:custGeom>
            <a:rect b="b" l="l" r="r" t="t"/>
            <a:pathLst>
              <a:path extrusionOk="0" h="1376093" w="2441455">
                <a:moveTo>
                  <a:pt x="0" y="0"/>
                </a:moveTo>
                <a:lnTo>
                  <a:pt x="2441455" y="0"/>
                </a:lnTo>
                <a:lnTo>
                  <a:pt x="2441455" y="1376093"/>
                </a:lnTo>
                <a:lnTo>
                  <a:pt x="0" y="13760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3" name="Google Shape;633;g3d08748be71_0_700"/>
          <p:cNvSpPr/>
          <p:nvPr/>
        </p:nvSpPr>
        <p:spPr>
          <a:xfrm rot="2906260">
            <a:off x="8685608" y="-598750"/>
            <a:ext cx="948944" cy="1377096"/>
          </a:xfrm>
          <a:custGeom>
            <a:rect b="b" l="l" r="r" t="t"/>
            <a:pathLst>
              <a:path extrusionOk="0" h="2747708" w="1893420">
                <a:moveTo>
                  <a:pt x="0" y="0"/>
                </a:moveTo>
                <a:lnTo>
                  <a:pt x="1893421" y="0"/>
                </a:lnTo>
                <a:lnTo>
                  <a:pt x="1893421" y="2747708"/>
                </a:lnTo>
                <a:lnTo>
                  <a:pt x="0" y="2747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8" name="Google Shape;638;g3d08748be71_0_872"/>
          <p:cNvGrpSpPr/>
          <p:nvPr/>
        </p:nvGrpSpPr>
        <p:grpSpPr>
          <a:xfrm>
            <a:off x="0" y="-100"/>
            <a:ext cx="8934744" cy="5143473"/>
            <a:chOff x="0" y="-47625"/>
            <a:chExt cx="4471620" cy="2215200"/>
          </a:xfrm>
        </p:grpSpPr>
        <p:sp>
          <p:nvSpPr>
            <p:cNvPr id="639" name="Google Shape;639;g3d08748be71_0_872"/>
            <p:cNvSpPr/>
            <p:nvPr/>
          </p:nvSpPr>
          <p:spPr>
            <a:xfrm>
              <a:off x="0" y="0"/>
              <a:ext cx="4471620" cy="2167467"/>
            </a:xfrm>
            <a:custGeom>
              <a:rect b="b" l="l" r="r" t="t"/>
              <a:pathLst>
                <a:path extrusionOk="0" h="2167467" w="4471620">
                  <a:moveTo>
                    <a:pt x="13680" y="0"/>
                  </a:moveTo>
                  <a:lnTo>
                    <a:pt x="4457941" y="0"/>
                  </a:lnTo>
                  <a:cubicBezTo>
                    <a:pt x="4461569" y="0"/>
                    <a:pt x="4465048" y="1441"/>
                    <a:pt x="4467614" y="4007"/>
                  </a:cubicBezTo>
                  <a:cubicBezTo>
                    <a:pt x="4470179" y="6572"/>
                    <a:pt x="4471620" y="10052"/>
                    <a:pt x="4471620" y="13680"/>
                  </a:cubicBezTo>
                  <a:lnTo>
                    <a:pt x="4471620" y="2153787"/>
                  </a:lnTo>
                  <a:cubicBezTo>
                    <a:pt x="4471620" y="2157415"/>
                    <a:pt x="4470179" y="2160895"/>
                    <a:pt x="4467614" y="2163460"/>
                  </a:cubicBezTo>
                  <a:cubicBezTo>
                    <a:pt x="4465048" y="2166026"/>
                    <a:pt x="4461569" y="2167467"/>
                    <a:pt x="4457941" y="2167467"/>
                  </a:cubicBezTo>
                  <a:lnTo>
                    <a:pt x="13680" y="2167467"/>
                  </a:lnTo>
                  <a:cubicBezTo>
                    <a:pt x="10052" y="2167467"/>
                    <a:pt x="6572" y="2166026"/>
                    <a:pt x="4007" y="2163460"/>
                  </a:cubicBezTo>
                  <a:cubicBezTo>
                    <a:pt x="1441" y="2160895"/>
                    <a:pt x="0" y="2157415"/>
                    <a:pt x="0" y="2153787"/>
                  </a:cubicBezTo>
                  <a:lnTo>
                    <a:pt x="0" y="13680"/>
                  </a:lnTo>
                  <a:cubicBezTo>
                    <a:pt x="0" y="10052"/>
                    <a:pt x="1441" y="6572"/>
                    <a:pt x="4007" y="4007"/>
                  </a:cubicBezTo>
                  <a:cubicBezTo>
                    <a:pt x="6572" y="1441"/>
                    <a:pt x="10052" y="0"/>
                    <a:pt x="13680" y="0"/>
                  </a:cubicBezTo>
                  <a:close/>
                </a:path>
              </a:pathLst>
            </a:custGeom>
            <a:solidFill>
              <a:srgbClr val="ECE1D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g3d08748be71_0_872"/>
            <p:cNvSpPr txBox="1"/>
            <p:nvPr/>
          </p:nvSpPr>
          <p:spPr>
            <a:xfrm>
              <a:off x="0" y="-47625"/>
              <a:ext cx="4471500" cy="221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68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1" name="Google Shape;641;g3d08748be71_0_872"/>
          <p:cNvSpPr/>
          <p:nvPr/>
        </p:nvSpPr>
        <p:spPr>
          <a:xfrm rot="9421637">
            <a:off x="-2070204" y="-2231327"/>
            <a:ext cx="4078596" cy="3455683"/>
          </a:xfrm>
          <a:custGeom>
            <a:rect b="b" l="l" r="r" t="t"/>
            <a:pathLst>
              <a:path extrusionOk="0" h="6916556" w="8163317">
                <a:moveTo>
                  <a:pt x="0" y="0"/>
                </a:moveTo>
                <a:lnTo>
                  <a:pt x="8163317" y="0"/>
                </a:lnTo>
                <a:lnTo>
                  <a:pt x="8163317" y="6916556"/>
                </a:lnTo>
                <a:lnTo>
                  <a:pt x="0" y="69165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2" name="Google Shape;642;g3d08748be71_0_872"/>
          <p:cNvSpPr/>
          <p:nvPr/>
        </p:nvSpPr>
        <p:spPr>
          <a:xfrm rot="2906260">
            <a:off x="8685608" y="-598750"/>
            <a:ext cx="948944" cy="1377096"/>
          </a:xfrm>
          <a:custGeom>
            <a:rect b="b" l="l" r="r" t="t"/>
            <a:pathLst>
              <a:path extrusionOk="0" h="2747708" w="1893420">
                <a:moveTo>
                  <a:pt x="0" y="0"/>
                </a:moveTo>
                <a:lnTo>
                  <a:pt x="1893421" y="0"/>
                </a:lnTo>
                <a:lnTo>
                  <a:pt x="1893421" y="2747708"/>
                </a:lnTo>
                <a:lnTo>
                  <a:pt x="0" y="2747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643" name="Google Shape;643;g3d08748be71_0_8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37950" y="1046750"/>
            <a:ext cx="4396800" cy="3305738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g3d08748be71_0_872"/>
          <p:cNvSpPr txBox="1"/>
          <p:nvPr/>
        </p:nvSpPr>
        <p:spPr>
          <a:xfrm>
            <a:off x="0" y="580425"/>
            <a:ext cx="4537800" cy="4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4850A"/>
                </a:solidFill>
                <a:latin typeface="Arial"/>
                <a:ea typeface="Arial"/>
                <a:cs typeface="Arial"/>
                <a:sym typeface="Arial"/>
              </a:rPr>
              <a:t>Syntax:</a:t>
            </a:r>
            <a:endParaRPr b="0" i="0" sz="1200" u="none" cap="none" strike="noStrike">
              <a:solidFill>
                <a:srgbClr val="D4850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rPr>
              <a:t>pandas.merge(</a:t>
            </a:r>
            <a:endParaRPr b="1" i="0" sz="1200" u="none" cap="none" strike="noStrike">
              <a:solidFill>
                <a:srgbClr val="674E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rPr>
              <a:t>left, </a:t>
            </a:r>
            <a:endParaRPr b="1" i="0" sz="1200" u="none" cap="none" strike="noStrike">
              <a:solidFill>
                <a:srgbClr val="674E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rPr>
              <a:t>right, </a:t>
            </a:r>
            <a:endParaRPr b="1" i="0" sz="1200" u="none" cap="none" strike="noStrike">
              <a:solidFill>
                <a:srgbClr val="674E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rPr>
              <a:t>how='inner', </a:t>
            </a:r>
            <a:endParaRPr b="1" i="0" sz="1200" u="none" cap="none" strike="noStrike">
              <a:solidFill>
                <a:srgbClr val="674E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rPr>
              <a:t>on=’column_name’, </a:t>
            </a:r>
            <a:endParaRPr b="1" i="0" sz="1200" u="none" cap="none" strike="noStrike">
              <a:solidFill>
                <a:srgbClr val="674E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rPr>
              <a:t>left_on=None, </a:t>
            </a:r>
            <a:endParaRPr b="1" i="0" sz="1200" u="none" cap="none" strike="noStrike">
              <a:solidFill>
                <a:srgbClr val="674E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rPr>
              <a:t>right_on=None, </a:t>
            </a:r>
            <a:endParaRPr b="1" i="0" sz="1200" u="none" cap="none" strike="noStrike">
              <a:solidFill>
                <a:srgbClr val="674E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rPr>
              <a:t>left_index=False, right_index=False,</a:t>
            </a:r>
            <a:endParaRPr b="1" i="0" sz="1200" u="none" cap="none" strike="noStrike">
              <a:solidFill>
                <a:srgbClr val="674E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rPr>
              <a:t>    )</a:t>
            </a:r>
            <a:endParaRPr b="1" i="0" sz="1200" u="none" cap="none" strike="noStrike">
              <a:solidFill>
                <a:srgbClr val="674E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left, right → DataFrames to be combined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→ common column(s) used as key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→ type of join ('inner', 'left', 'right', 'outer')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keys are different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left_on → column(s) in left DataFrame used as key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right_on → column(s) in right DataFrame used as key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index is used as key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left_index → use index of left DataFrame as key (True/False)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right_index → use index of right DataFrame as key (True/False)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g3d08748be71_0_872"/>
          <p:cNvSpPr txBox="1"/>
          <p:nvPr/>
        </p:nvSpPr>
        <p:spPr>
          <a:xfrm>
            <a:off x="2132254" y="243624"/>
            <a:ext cx="487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Using df.merge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4"/>
          <p:cNvSpPr/>
          <p:nvPr/>
        </p:nvSpPr>
        <p:spPr>
          <a:xfrm>
            <a:off x="0" y="0"/>
            <a:ext cx="82296" cy="804672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4"/>
          <p:cNvSpPr/>
          <p:nvPr/>
        </p:nvSpPr>
        <p:spPr>
          <a:xfrm>
            <a:off x="182880" y="64008"/>
            <a:ext cx="8778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df.merge() — INNER JOIN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4"/>
          <p:cNvSpPr/>
          <p:nvPr/>
        </p:nvSpPr>
        <p:spPr>
          <a:xfrm>
            <a:off x="182880" y="493776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C8E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FC8E0"/>
                </a:solidFill>
                <a:latin typeface="Calibri"/>
                <a:ea typeface="Calibri"/>
                <a:cs typeface="Calibri"/>
                <a:sym typeface="Calibri"/>
              </a:rPr>
              <a:t>Returns only rows whose key exists in BOTH DataFrames  ≡  SQL INNER JOIN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4"/>
          <p:cNvSpPr/>
          <p:nvPr/>
        </p:nvSpPr>
        <p:spPr>
          <a:xfrm>
            <a:off x="201168" y="4910328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F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FC8"/>
                </a:solidFill>
                <a:latin typeface="Calibri"/>
                <a:ea typeface="Calibri"/>
                <a:cs typeface="Calibri"/>
                <a:sym typeface="Calibri"/>
              </a:rPr>
              <a:t>EDA | Module 2 | 23CSE422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4"/>
          <p:cNvSpPr/>
          <p:nvPr/>
        </p:nvSpPr>
        <p:spPr>
          <a:xfrm>
            <a:off x="201168" y="841248"/>
            <a:ext cx="54864" cy="237744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4"/>
          <p:cNvSpPr/>
          <p:nvPr/>
        </p:nvSpPr>
        <p:spPr>
          <a:xfrm>
            <a:off x="292608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dfSE  (input)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4"/>
          <p:cNvSpPr/>
          <p:nvPr/>
        </p:nvSpPr>
        <p:spPr>
          <a:xfrm>
            <a:off x="201168" y="1097280"/>
            <a:ext cx="1005840" cy="224028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4"/>
          <p:cNvSpPr/>
          <p:nvPr/>
        </p:nvSpPr>
        <p:spPr>
          <a:xfrm>
            <a:off x="246888" y="1115568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4"/>
          <p:cNvSpPr/>
          <p:nvPr/>
        </p:nvSpPr>
        <p:spPr>
          <a:xfrm>
            <a:off x="1207008" y="1097280"/>
            <a:ext cx="1005840" cy="224028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4"/>
          <p:cNvSpPr/>
          <p:nvPr/>
        </p:nvSpPr>
        <p:spPr>
          <a:xfrm>
            <a:off x="1252728" y="1115568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SE_Score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4"/>
          <p:cNvSpPr/>
          <p:nvPr/>
        </p:nvSpPr>
        <p:spPr>
          <a:xfrm>
            <a:off x="201168" y="1321308"/>
            <a:ext cx="100584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4"/>
          <p:cNvSpPr/>
          <p:nvPr/>
        </p:nvSpPr>
        <p:spPr>
          <a:xfrm>
            <a:off x="246888" y="1339596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4"/>
          <p:cNvSpPr/>
          <p:nvPr/>
        </p:nvSpPr>
        <p:spPr>
          <a:xfrm>
            <a:off x="1207008" y="1321308"/>
            <a:ext cx="100584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4"/>
          <p:cNvSpPr/>
          <p:nvPr/>
        </p:nvSpPr>
        <p:spPr>
          <a:xfrm>
            <a:off x="1252728" y="1339596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4"/>
          <p:cNvSpPr/>
          <p:nvPr/>
        </p:nvSpPr>
        <p:spPr>
          <a:xfrm>
            <a:off x="201168" y="1545336"/>
            <a:ext cx="100584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4"/>
          <p:cNvSpPr/>
          <p:nvPr/>
        </p:nvSpPr>
        <p:spPr>
          <a:xfrm>
            <a:off x="246888" y="1563624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4"/>
          <p:cNvSpPr/>
          <p:nvPr/>
        </p:nvSpPr>
        <p:spPr>
          <a:xfrm>
            <a:off x="1207008" y="1545336"/>
            <a:ext cx="100584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"/>
          <p:cNvSpPr/>
          <p:nvPr/>
        </p:nvSpPr>
        <p:spPr>
          <a:xfrm>
            <a:off x="1252728" y="1563624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4"/>
          <p:cNvSpPr/>
          <p:nvPr/>
        </p:nvSpPr>
        <p:spPr>
          <a:xfrm>
            <a:off x="201168" y="1769364"/>
            <a:ext cx="100584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4"/>
          <p:cNvSpPr/>
          <p:nvPr/>
        </p:nvSpPr>
        <p:spPr>
          <a:xfrm>
            <a:off x="246888" y="1787652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4"/>
          <p:cNvSpPr/>
          <p:nvPr/>
        </p:nvSpPr>
        <p:spPr>
          <a:xfrm>
            <a:off x="1207008" y="1769364"/>
            <a:ext cx="100584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4"/>
          <p:cNvSpPr/>
          <p:nvPr/>
        </p:nvSpPr>
        <p:spPr>
          <a:xfrm>
            <a:off x="1252728" y="1787652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4"/>
          <p:cNvSpPr/>
          <p:nvPr/>
        </p:nvSpPr>
        <p:spPr>
          <a:xfrm>
            <a:off x="201168" y="1993392"/>
            <a:ext cx="100584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4"/>
          <p:cNvSpPr/>
          <p:nvPr/>
        </p:nvSpPr>
        <p:spPr>
          <a:xfrm>
            <a:off x="246888" y="2011680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4"/>
          <p:cNvSpPr/>
          <p:nvPr/>
        </p:nvSpPr>
        <p:spPr>
          <a:xfrm>
            <a:off x="1207008" y="1993392"/>
            <a:ext cx="100584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4"/>
          <p:cNvSpPr/>
          <p:nvPr/>
        </p:nvSpPr>
        <p:spPr>
          <a:xfrm>
            <a:off x="1252728" y="2011680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4"/>
          <p:cNvSpPr/>
          <p:nvPr/>
        </p:nvSpPr>
        <p:spPr>
          <a:xfrm>
            <a:off x="2377440" y="841248"/>
            <a:ext cx="54864" cy="237744"/>
          </a:xfrm>
          <a:prstGeom prst="rect">
            <a:avLst/>
          </a:prstGeom>
          <a:solidFill>
            <a:srgbClr val="D4850A"/>
          </a:solidFill>
          <a:ln cap="flat" cmpd="sng" w="12700">
            <a:solidFill>
              <a:srgbClr val="D485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4"/>
          <p:cNvSpPr/>
          <p:nvPr/>
        </p:nvSpPr>
        <p:spPr>
          <a:xfrm>
            <a:off x="2468880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50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4850A"/>
                </a:solidFill>
                <a:latin typeface="Calibri"/>
                <a:ea typeface="Calibri"/>
                <a:cs typeface="Calibri"/>
                <a:sym typeface="Calibri"/>
              </a:rPr>
              <a:t>dfML  (input)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4"/>
          <p:cNvSpPr/>
          <p:nvPr/>
        </p:nvSpPr>
        <p:spPr>
          <a:xfrm>
            <a:off x="2377440" y="1097280"/>
            <a:ext cx="1005840" cy="224028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4"/>
          <p:cNvSpPr/>
          <p:nvPr/>
        </p:nvSpPr>
        <p:spPr>
          <a:xfrm>
            <a:off x="2423160" y="1115568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4"/>
          <p:cNvSpPr/>
          <p:nvPr/>
        </p:nvSpPr>
        <p:spPr>
          <a:xfrm>
            <a:off x="3383280" y="1097280"/>
            <a:ext cx="1005840" cy="224028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4"/>
          <p:cNvSpPr/>
          <p:nvPr/>
        </p:nvSpPr>
        <p:spPr>
          <a:xfrm>
            <a:off x="3429000" y="1115568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ML_Score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4"/>
          <p:cNvSpPr/>
          <p:nvPr/>
        </p:nvSpPr>
        <p:spPr>
          <a:xfrm>
            <a:off x="2377440" y="1321308"/>
            <a:ext cx="100584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4"/>
          <p:cNvSpPr/>
          <p:nvPr/>
        </p:nvSpPr>
        <p:spPr>
          <a:xfrm>
            <a:off x="2423160" y="1339596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4"/>
          <p:cNvSpPr/>
          <p:nvPr/>
        </p:nvSpPr>
        <p:spPr>
          <a:xfrm>
            <a:off x="3383280" y="1321308"/>
            <a:ext cx="100584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4"/>
          <p:cNvSpPr/>
          <p:nvPr/>
        </p:nvSpPr>
        <p:spPr>
          <a:xfrm>
            <a:off x="3429000" y="1339596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4"/>
          <p:cNvSpPr/>
          <p:nvPr/>
        </p:nvSpPr>
        <p:spPr>
          <a:xfrm>
            <a:off x="2377440" y="1545336"/>
            <a:ext cx="100584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4"/>
          <p:cNvSpPr/>
          <p:nvPr/>
        </p:nvSpPr>
        <p:spPr>
          <a:xfrm>
            <a:off x="2423160" y="1563624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4"/>
          <p:cNvSpPr/>
          <p:nvPr/>
        </p:nvSpPr>
        <p:spPr>
          <a:xfrm>
            <a:off x="3383280" y="1545336"/>
            <a:ext cx="100584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4"/>
          <p:cNvSpPr/>
          <p:nvPr/>
        </p:nvSpPr>
        <p:spPr>
          <a:xfrm>
            <a:off x="3429000" y="1563624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4"/>
          <p:cNvSpPr/>
          <p:nvPr/>
        </p:nvSpPr>
        <p:spPr>
          <a:xfrm>
            <a:off x="2377440" y="1769364"/>
            <a:ext cx="100584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4"/>
          <p:cNvSpPr/>
          <p:nvPr/>
        </p:nvSpPr>
        <p:spPr>
          <a:xfrm>
            <a:off x="2423160" y="1787652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4"/>
          <p:cNvSpPr/>
          <p:nvPr/>
        </p:nvSpPr>
        <p:spPr>
          <a:xfrm>
            <a:off x="3383280" y="1769364"/>
            <a:ext cx="100584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4"/>
          <p:cNvSpPr/>
          <p:nvPr/>
        </p:nvSpPr>
        <p:spPr>
          <a:xfrm>
            <a:off x="3429000" y="1787652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4"/>
          <p:cNvSpPr/>
          <p:nvPr/>
        </p:nvSpPr>
        <p:spPr>
          <a:xfrm>
            <a:off x="2377440" y="1993392"/>
            <a:ext cx="100584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4"/>
          <p:cNvSpPr/>
          <p:nvPr/>
        </p:nvSpPr>
        <p:spPr>
          <a:xfrm>
            <a:off x="2423160" y="2011680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4"/>
          <p:cNvSpPr/>
          <p:nvPr/>
        </p:nvSpPr>
        <p:spPr>
          <a:xfrm>
            <a:off x="3383280" y="1993392"/>
            <a:ext cx="100584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"/>
          <p:cNvSpPr/>
          <p:nvPr/>
        </p:nvSpPr>
        <p:spPr>
          <a:xfrm>
            <a:off x="3429000" y="2011680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66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4"/>
          <p:cNvSpPr/>
          <p:nvPr/>
        </p:nvSpPr>
        <p:spPr>
          <a:xfrm>
            <a:off x="4508013" y="1335059"/>
            <a:ext cx="1298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900"/>
              <a:buFont typeface="Calibri"/>
              <a:buNone/>
            </a:pPr>
            <a:r>
              <a:rPr b="1" i="0" lang="en-US" sz="300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∩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4"/>
          <p:cNvSpPr/>
          <p:nvPr/>
        </p:nvSpPr>
        <p:spPr>
          <a:xfrm>
            <a:off x="5943600" y="13716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4"/>
          <p:cNvSpPr/>
          <p:nvPr/>
        </p:nvSpPr>
        <p:spPr>
          <a:xfrm>
            <a:off x="5925312" y="1627632"/>
            <a:ext cx="4389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INNER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4"/>
          <p:cNvSpPr/>
          <p:nvPr/>
        </p:nvSpPr>
        <p:spPr>
          <a:xfrm>
            <a:off x="6473952" y="841248"/>
            <a:ext cx="54864" cy="237744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4"/>
          <p:cNvSpPr/>
          <p:nvPr/>
        </p:nvSpPr>
        <p:spPr>
          <a:xfrm>
            <a:off x="6565392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9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9E8A"/>
                </a:solidFill>
                <a:latin typeface="Calibri"/>
                <a:ea typeface="Calibri"/>
                <a:cs typeface="Calibri"/>
                <a:sym typeface="Calibri"/>
              </a:rPr>
              <a:t>Result  (only matched rows)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4"/>
          <p:cNvSpPr/>
          <p:nvPr/>
        </p:nvSpPr>
        <p:spPr>
          <a:xfrm>
            <a:off x="6473952" y="1097280"/>
            <a:ext cx="822960" cy="224028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4"/>
          <p:cNvSpPr/>
          <p:nvPr/>
        </p:nvSpPr>
        <p:spPr>
          <a:xfrm>
            <a:off x="6519672" y="1115568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4"/>
          <p:cNvSpPr/>
          <p:nvPr/>
        </p:nvSpPr>
        <p:spPr>
          <a:xfrm>
            <a:off x="7296912" y="1097280"/>
            <a:ext cx="822960" cy="224028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4"/>
          <p:cNvSpPr/>
          <p:nvPr/>
        </p:nvSpPr>
        <p:spPr>
          <a:xfrm>
            <a:off x="7342632" y="1115568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SE_Score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4"/>
          <p:cNvSpPr/>
          <p:nvPr/>
        </p:nvSpPr>
        <p:spPr>
          <a:xfrm>
            <a:off x="8119872" y="1097280"/>
            <a:ext cx="822960" cy="224028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4"/>
          <p:cNvSpPr/>
          <p:nvPr/>
        </p:nvSpPr>
        <p:spPr>
          <a:xfrm>
            <a:off x="8165592" y="1115568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ML_Score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4"/>
          <p:cNvSpPr/>
          <p:nvPr/>
        </p:nvSpPr>
        <p:spPr>
          <a:xfrm>
            <a:off x="6473952" y="1321308"/>
            <a:ext cx="82296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"/>
          <p:cNvSpPr/>
          <p:nvPr/>
        </p:nvSpPr>
        <p:spPr>
          <a:xfrm>
            <a:off x="6519672" y="1339596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4"/>
          <p:cNvSpPr/>
          <p:nvPr/>
        </p:nvSpPr>
        <p:spPr>
          <a:xfrm>
            <a:off x="7296912" y="1321308"/>
            <a:ext cx="82296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"/>
          <p:cNvSpPr/>
          <p:nvPr/>
        </p:nvSpPr>
        <p:spPr>
          <a:xfrm>
            <a:off x="7342632" y="1339596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4"/>
          <p:cNvSpPr/>
          <p:nvPr/>
        </p:nvSpPr>
        <p:spPr>
          <a:xfrm>
            <a:off x="8119872" y="1321308"/>
            <a:ext cx="82296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4"/>
          <p:cNvSpPr/>
          <p:nvPr/>
        </p:nvSpPr>
        <p:spPr>
          <a:xfrm>
            <a:off x="8165592" y="1339596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4"/>
          <p:cNvSpPr/>
          <p:nvPr/>
        </p:nvSpPr>
        <p:spPr>
          <a:xfrm>
            <a:off x="6473952" y="1545336"/>
            <a:ext cx="82296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4"/>
          <p:cNvSpPr/>
          <p:nvPr/>
        </p:nvSpPr>
        <p:spPr>
          <a:xfrm>
            <a:off x="6519672" y="1563624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4"/>
          <p:cNvSpPr/>
          <p:nvPr/>
        </p:nvSpPr>
        <p:spPr>
          <a:xfrm>
            <a:off x="7296912" y="1545336"/>
            <a:ext cx="82296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4"/>
          <p:cNvSpPr/>
          <p:nvPr/>
        </p:nvSpPr>
        <p:spPr>
          <a:xfrm>
            <a:off x="7342632" y="1563624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4"/>
          <p:cNvSpPr/>
          <p:nvPr/>
        </p:nvSpPr>
        <p:spPr>
          <a:xfrm>
            <a:off x="8119872" y="1545336"/>
            <a:ext cx="82296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4"/>
          <p:cNvSpPr/>
          <p:nvPr/>
        </p:nvSpPr>
        <p:spPr>
          <a:xfrm>
            <a:off x="8165592" y="1563624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4"/>
          <p:cNvSpPr/>
          <p:nvPr/>
        </p:nvSpPr>
        <p:spPr>
          <a:xfrm>
            <a:off x="6473952" y="1769364"/>
            <a:ext cx="82296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4"/>
          <p:cNvSpPr/>
          <p:nvPr/>
        </p:nvSpPr>
        <p:spPr>
          <a:xfrm>
            <a:off x="6519672" y="1787652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4"/>
          <p:cNvSpPr/>
          <p:nvPr/>
        </p:nvSpPr>
        <p:spPr>
          <a:xfrm>
            <a:off x="7296912" y="1769364"/>
            <a:ext cx="82296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"/>
          <p:cNvSpPr/>
          <p:nvPr/>
        </p:nvSpPr>
        <p:spPr>
          <a:xfrm>
            <a:off x="7342632" y="1787652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4"/>
          <p:cNvSpPr/>
          <p:nvPr/>
        </p:nvSpPr>
        <p:spPr>
          <a:xfrm>
            <a:off x="8119872" y="1769364"/>
            <a:ext cx="82296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"/>
          <p:cNvSpPr/>
          <p:nvPr/>
        </p:nvSpPr>
        <p:spPr>
          <a:xfrm>
            <a:off x="8165592" y="1787652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4"/>
          <p:cNvSpPr/>
          <p:nvPr/>
        </p:nvSpPr>
        <p:spPr>
          <a:xfrm>
            <a:off x="6473952" y="195681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S003 (SE only) → DROPPED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4"/>
          <p:cNvSpPr/>
          <p:nvPr/>
        </p:nvSpPr>
        <p:spPr>
          <a:xfrm>
            <a:off x="6473952" y="2157984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S005 (ML only) → DROPPED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4"/>
          <p:cNvSpPr/>
          <p:nvPr/>
        </p:nvSpPr>
        <p:spPr>
          <a:xfrm>
            <a:off x="201168" y="2395728"/>
            <a:ext cx="8741664" cy="1572768"/>
          </a:xfrm>
          <a:prstGeom prst="rect">
            <a:avLst/>
          </a:prstGeom>
          <a:solidFill>
            <a:srgbClr val="1A2B3C"/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4"/>
          <p:cNvSpPr/>
          <p:nvPr/>
        </p:nvSpPr>
        <p:spPr>
          <a:xfrm>
            <a:off x="201168" y="2395728"/>
            <a:ext cx="8741664" cy="18288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4"/>
          <p:cNvSpPr/>
          <p:nvPr/>
        </p:nvSpPr>
        <p:spPr>
          <a:xfrm>
            <a:off x="274320" y="2414016"/>
            <a:ext cx="12801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"/>
          <p:cNvSpPr/>
          <p:nvPr/>
        </p:nvSpPr>
        <p:spPr>
          <a:xfrm>
            <a:off x="292608" y="2606040"/>
            <a:ext cx="8558784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INNER JOIN — keeps only rows present in BOTH DataFrames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result = dfSE.merge(dfML, how='inner', on='StudentID')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SQL equivalent: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SELECT * FROM dfSE INNER JOIN dfML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  ON dfSE.StudentID = dfML.StudentID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S003 (SE only) → DROPPED  |  S005 (ML only) → DROPPED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INNER produces the FEWEST rows of all 4 join types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"/>
          <p:cNvSpPr/>
          <p:nvPr/>
        </p:nvSpPr>
        <p:spPr>
          <a:xfrm>
            <a:off x="201168" y="4041648"/>
            <a:ext cx="6492240" cy="329184"/>
          </a:xfrm>
          <a:prstGeom prst="rect">
            <a:avLst/>
          </a:prstGeom>
          <a:solidFill>
            <a:srgbClr val="0D6E8A">
              <a:alpha val="10196"/>
            </a:srgbClr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4"/>
          <p:cNvSpPr/>
          <p:nvPr/>
        </p:nvSpPr>
        <p:spPr>
          <a:xfrm>
            <a:off x="201168" y="4041648"/>
            <a:ext cx="54864" cy="329184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4"/>
          <p:cNvSpPr/>
          <p:nvPr/>
        </p:nvSpPr>
        <p:spPr>
          <a:xfrm>
            <a:off x="310896" y="4078224"/>
            <a:ext cx="63276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📌 INNER = strictest join. Any row missing from either side is excluded. Row count: INNER ≤ LEFT/RIGHT ≤ OUTER.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4"/>
          <p:cNvSpPr/>
          <p:nvPr/>
        </p:nvSpPr>
        <p:spPr>
          <a:xfrm>
            <a:off x="6784848" y="4041648"/>
            <a:ext cx="2157984" cy="329184"/>
          </a:xfrm>
          <a:prstGeom prst="rect">
            <a:avLst/>
          </a:prstGeom>
          <a:solidFill>
            <a:srgbClr val="1A7A34">
              <a:alpha val="10196"/>
            </a:srgbClr>
          </a:solidFill>
          <a:ln cap="flat" cmpd="sng" w="15225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"/>
          <p:cNvSpPr/>
          <p:nvPr/>
        </p:nvSpPr>
        <p:spPr>
          <a:xfrm>
            <a:off x="6784848" y="4041648"/>
            <a:ext cx="54864" cy="329184"/>
          </a:xfrm>
          <a:prstGeom prst="rect">
            <a:avLst/>
          </a:prstGeom>
          <a:solidFill>
            <a:srgbClr val="1A7A34"/>
          </a:solidFill>
          <a:ln cap="flat" cmpd="sng" w="12700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4"/>
          <p:cNvSpPr/>
          <p:nvPr/>
        </p:nvSpPr>
        <p:spPr>
          <a:xfrm>
            <a:off x="6894576" y="4078224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🌐 Use case: customers who made both online AND in-store purchases.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5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5"/>
          <p:cNvSpPr/>
          <p:nvPr/>
        </p:nvSpPr>
        <p:spPr>
          <a:xfrm>
            <a:off x="0" y="0"/>
            <a:ext cx="82296" cy="804672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5"/>
          <p:cNvSpPr/>
          <p:nvPr/>
        </p:nvSpPr>
        <p:spPr>
          <a:xfrm>
            <a:off x="182880" y="64008"/>
            <a:ext cx="8778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df.merge() — LEFT JOIN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5"/>
          <p:cNvSpPr/>
          <p:nvPr/>
        </p:nvSpPr>
        <p:spPr>
          <a:xfrm>
            <a:off x="182880" y="493776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C8E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FC8E0"/>
                </a:solidFill>
                <a:latin typeface="Calibri"/>
                <a:ea typeface="Calibri"/>
                <a:cs typeface="Calibri"/>
                <a:sym typeface="Calibri"/>
              </a:rPr>
              <a:t>All rows from left DataFrame kept; NaN where right has no match  ≡  SQL LEFT OUTER JOIN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5"/>
          <p:cNvSpPr/>
          <p:nvPr/>
        </p:nvSpPr>
        <p:spPr>
          <a:xfrm>
            <a:off x="201168" y="4910328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F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FC8"/>
                </a:solidFill>
                <a:latin typeface="Calibri"/>
                <a:ea typeface="Calibri"/>
                <a:cs typeface="Calibri"/>
                <a:sym typeface="Calibri"/>
              </a:rPr>
              <a:t>EDA | Module 2 | 23CSE422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5"/>
          <p:cNvSpPr/>
          <p:nvPr/>
        </p:nvSpPr>
        <p:spPr>
          <a:xfrm>
            <a:off x="201168" y="841248"/>
            <a:ext cx="54864" cy="237744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5"/>
          <p:cNvSpPr/>
          <p:nvPr/>
        </p:nvSpPr>
        <p:spPr>
          <a:xfrm>
            <a:off x="292608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dfSE  (input — PRIMARY)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5"/>
          <p:cNvSpPr/>
          <p:nvPr/>
        </p:nvSpPr>
        <p:spPr>
          <a:xfrm>
            <a:off x="201168" y="1097280"/>
            <a:ext cx="1005840" cy="224028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5"/>
          <p:cNvSpPr/>
          <p:nvPr/>
        </p:nvSpPr>
        <p:spPr>
          <a:xfrm>
            <a:off x="246888" y="1115568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5"/>
          <p:cNvSpPr/>
          <p:nvPr/>
        </p:nvSpPr>
        <p:spPr>
          <a:xfrm>
            <a:off x="1207008" y="1097280"/>
            <a:ext cx="1005840" cy="224028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5"/>
          <p:cNvSpPr/>
          <p:nvPr/>
        </p:nvSpPr>
        <p:spPr>
          <a:xfrm>
            <a:off x="1252728" y="1115568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SE_Score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5"/>
          <p:cNvSpPr/>
          <p:nvPr/>
        </p:nvSpPr>
        <p:spPr>
          <a:xfrm>
            <a:off x="201168" y="1321308"/>
            <a:ext cx="100584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5"/>
          <p:cNvSpPr/>
          <p:nvPr/>
        </p:nvSpPr>
        <p:spPr>
          <a:xfrm>
            <a:off x="246888" y="1339596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5"/>
          <p:cNvSpPr/>
          <p:nvPr/>
        </p:nvSpPr>
        <p:spPr>
          <a:xfrm>
            <a:off x="1207008" y="1321308"/>
            <a:ext cx="100584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5"/>
          <p:cNvSpPr/>
          <p:nvPr/>
        </p:nvSpPr>
        <p:spPr>
          <a:xfrm>
            <a:off x="1252728" y="1339596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5"/>
          <p:cNvSpPr/>
          <p:nvPr/>
        </p:nvSpPr>
        <p:spPr>
          <a:xfrm>
            <a:off x="201168" y="1545336"/>
            <a:ext cx="100584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5"/>
          <p:cNvSpPr/>
          <p:nvPr/>
        </p:nvSpPr>
        <p:spPr>
          <a:xfrm>
            <a:off x="246888" y="1563624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5"/>
          <p:cNvSpPr/>
          <p:nvPr/>
        </p:nvSpPr>
        <p:spPr>
          <a:xfrm>
            <a:off x="1207008" y="1545336"/>
            <a:ext cx="100584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5"/>
          <p:cNvSpPr/>
          <p:nvPr/>
        </p:nvSpPr>
        <p:spPr>
          <a:xfrm>
            <a:off x="1252728" y="1563624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5"/>
          <p:cNvSpPr/>
          <p:nvPr/>
        </p:nvSpPr>
        <p:spPr>
          <a:xfrm>
            <a:off x="201168" y="1769364"/>
            <a:ext cx="100584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5"/>
          <p:cNvSpPr/>
          <p:nvPr/>
        </p:nvSpPr>
        <p:spPr>
          <a:xfrm>
            <a:off x="246888" y="1787652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5"/>
          <p:cNvSpPr/>
          <p:nvPr/>
        </p:nvSpPr>
        <p:spPr>
          <a:xfrm>
            <a:off x="1207008" y="1769364"/>
            <a:ext cx="100584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5"/>
          <p:cNvSpPr/>
          <p:nvPr/>
        </p:nvSpPr>
        <p:spPr>
          <a:xfrm>
            <a:off x="1252728" y="1787652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5"/>
          <p:cNvSpPr/>
          <p:nvPr/>
        </p:nvSpPr>
        <p:spPr>
          <a:xfrm>
            <a:off x="201168" y="1993392"/>
            <a:ext cx="100584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5"/>
          <p:cNvSpPr/>
          <p:nvPr/>
        </p:nvSpPr>
        <p:spPr>
          <a:xfrm>
            <a:off x="246888" y="2011680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5"/>
          <p:cNvSpPr/>
          <p:nvPr/>
        </p:nvSpPr>
        <p:spPr>
          <a:xfrm>
            <a:off x="1207008" y="1993392"/>
            <a:ext cx="100584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5"/>
          <p:cNvSpPr/>
          <p:nvPr/>
        </p:nvSpPr>
        <p:spPr>
          <a:xfrm>
            <a:off x="1252728" y="2011680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5"/>
          <p:cNvSpPr/>
          <p:nvPr/>
        </p:nvSpPr>
        <p:spPr>
          <a:xfrm>
            <a:off x="2377440" y="841248"/>
            <a:ext cx="54864" cy="237744"/>
          </a:xfrm>
          <a:prstGeom prst="rect">
            <a:avLst/>
          </a:prstGeom>
          <a:solidFill>
            <a:srgbClr val="D4850A"/>
          </a:solidFill>
          <a:ln cap="flat" cmpd="sng" w="12700">
            <a:solidFill>
              <a:srgbClr val="D485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5"/>
          <p:cNvSpPr/>
          <p:nvPr/>
        </p:nvSpPr>
        <p:spPr>
          <a:xfrm>
            <a:off x="2468880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50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4850A"/>
                </a:solidFill>
                <a:latin typeface="Calibri"/>
                <a:ea typeface="Calibri"/>
                <a:cs typeface="Calibri"/>
                <a:sym typeface="Calibri"/>
              </a:rPr>
              <a:t>dfML  (input)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5"/>
          <p:cNvSpPr/>
          <p:nvPr/>
        </p:nvSpPr>
        <p:spPr>
          <a:xfrm>
            <a:off x="2377440" y="1097280"/>
            <a:ext cx="1005840" cy="224028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5"/>
          <p:cNvSpPr/>
          <p:nvPr/>
        </p:nvSpPr>
        <p:spPr>
          <a:xfrm>
            <a:off x="2423160" y="1115568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5"/>
          <p:cNvSpPr/>
          <p:nvPr/>
        </p:nvSpPr>
        <p:spPr>
          <a:xfrm>
            <a:off x="3383280" y="1097280"/>
            <a:ext cx="1005840" cy="224028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5"/>
          <p:cNvSpPr/>
          <p:nvPr/>
        </p:nvSpPr>
        <p:spPr>
          <a:xfrm>
            <a:off x="3429000" y="1115568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ML_Score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5"/>
          <p:cNvSpPr/>
          <p:nvPr/>
        </p:nvSpPr>
        <p:spPr>
          <a:xfrm>
            <a:off x="2377440" y="1321308"/>
            <a:ext cx="100584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5"/>
          <p:cNvSpPr/>
          <p:nvPr/>
        </p:nvSpPr>
        <p:spPr>
          <a:xfrm>
            <a:off x="2423160" y="1339596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5"/>
          <p:cNvSpPr/>
          <p:nvPr/>
        </p:nvSpPr>
        <p:spPr>
          <a:xfrm>
            <a:off x="3383280" y="1321308"/>
            <a:ext cx="100584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5"/>
          <p:cNvSpPr/>
          <p:nvPr/>
        </p:nvSpPr>
        <p:spPr>
          <a:xfrm>
            <a:off x="3429000" y="1339596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5"/>
          <p:cNvSpPr/>
          <p:nvPr/>
        </p:nvSpPr>
        <p:spPr>
          <a:xfrm>
            <a:off x="2377440" y="1545336"/>
            <a:ext cx="100584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5"/>
          <p:cNvSpPr/>
          <p:nvPr/>
        </p:nvSpPr>
        <p:spPr>
          <a:xfrm>
            <a:off x="2423160" y="1563624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5"/>
          <p:cNvSpPr/>
          <p:nvPr/>
        </p:nvSpPr>
        <p:spPr>
          <a:xfrm>
            <a:off x="3383280" y="1545336"/>
            <a:ext cx="100584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5"/>
          <p:cNvSpPr/>
          <p:nvPr/>
        </p:nvSpPr>
        <p:spPr>
          <a:xfrm>
            <a:off x="3429000" y="1563624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5"/>
          <p:cNvSpPr/>
          <p:nvPr/>
        </p:nvSpPr>
        <p:spPr>
          <a:xfrm>
            <a:off x="2377440" y="1769364"/>
            <a:ext cx="100584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5"/>
          <p:cNvSpPr/>
          <p:nvPr/>
        </p:nvSpPr>
        <p:spPr>
          <a:xfrm>
            <a:off x="2423160" y="1787652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5"/>
          <p:cNvSpPr/>
          <p:nvPr/>
        </p:nvSpPr>
        <p:spPr>
          <a:xfrm>
            <a:off x="3383280" y="1769364"/>
            <a:ext cx="100584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5"/>
          <p:cNvSpPr/>
          <p:nvPr/>
        </p:nvSpPr>
        <p:spPr>
          <a:xfrm>
            <a:off x="3429000" y="1787652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5"/>
          <p:cNvSpPr/>
          <p:nvPr/>
        </p:nvSpPr>
        <p:spPr>
          <a:xfrm>
            <a:off x="2377440" y="1993392"/>
            <a:ext cx="100584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5"/>
          <p:cNvSpPr/>
          <p:nvPr/>
        </p:nvSpPr>
        <p:spPr>
          <a:xfrm>
            <a:off x="2423160" y="2011680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5"/>
          <p:cNvSpPr/>
          <p:nvPr/>
        </p:nvSpPr>
        <p:spPr>
          <a:xfrm>
            <a:off x="3383280" y="1993392"/>
            <a:ext cx="100584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5"/>
          <p:cNvSpPr/>
          <p:nvPr/>
        </p:nvSpPr>
        <p:spPr>
          <a:xfrm>
            <a:off x="3429000" y="2011680"/>
            <a:ext cx="91440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66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5"/>
          <p:cNvSpPr/>
          <p:nvPr/>
        </p:nvSpPr>
        <p:spPr>
          <a:xfrm>
            <a:off x="4508013" y="1325874"/>
            <a:ext cx="12984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900"/>
              <a:buFont typeface="Calibri"/>
              <a:buNone/>
            </a:pPr>
            <a:r>
              <a:rPr b="1" i="0" lang="en-US" sz="150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5"/>
          <p:cNvSpPr/>
          <p:nvPr/>
        </p:nvSpPr>
        <p:spPr>
          <a:xfrm>
            <a:off x="5943600" y="13716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5"/>
          <p:cNvSpPr/>
          <p:nvPr/>
        </p:nvSpPr>
        <p:spPr>
          <a:xfrm>
            <a:off x="5925312" y="1627632"/>
            <a:ext cx="4389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LEFT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5"/>
          <p:cNvSpPr/>
          <p:nvPr/>
        </p:nvSpPr>
        <p:spPr>
          <a:xfrm>
            <a:off x="6473952" y="841248"/>
            <a:ext cx="54864" cy="237744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5"/>
          <p:cNvSpPr/>
          <p:nvPr/>
        </p:nvSpPr>
        <p:spPr>
          <a:xfrm>
            <a:off x="6565392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9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9E8A"/>
                </a:solidFill>
                <a:latin typeface="Calibri"/>
                <a:ea typeface="Calibri"/>
                <a:cs typeface="Calibri"/>
                <a:sym typeface="Calibri"/>
              </a:rPr>
              <a:t>Result  (all 4 SE rows; S003 gets NaN)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5"/>
          <p:cNvSpPr/>
          <p:nvPr/>
        </p:nvSpPr>
        <p:spPr>
          <a:xfrm>
            <a:off x="6473952" y="1097280"/>
            <a:ext cx="822960" cy="224028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5"/>
          <p:cNvSpPr/>
          <p:nvPr/>
        </p:nvSpPr>
        <p:spPr>
          <a:xfrm>
            <a:off x="6519672" y="1115568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5"/>
          <p:cNvSpPr/>
          <p:nvPr/>
        </p:nvSpPr>
        <p:spPr>
          <a:xfrm>
            <a:off x="7296912" y="1097280"/>
            <a:ext cx="822960" cy="224028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5"/>
          <p:cNvSpPr/>
          <p:nvPr/>
        </p:nvSpPr>
        <p:spPr>
          <a:xfrm>
            <a:off x="7342632" y="1115568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SE_Score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5"/>
          <p:cNvSpPr/>
          <p:nvPr/>
        </p:nvSpPr>
        <p:spPr>
          <a:xfrm>
            <a:off x="8119872" y="1097280"/>
            <a:ext cx="822960" cy="224028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5"/>
          <p:cNvSpPr/>
          <p:nvPr/>
        </p:nvSpPr>
        <p:spPr>
          <a:xfrm>
            <a:off x="8165592" y="1115568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ML_Score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5"/>
          <p:cNvSpPr/>
          <p:nvPr/>
        </p:nvSpPr>
        <p:spPr>
          <a:xfrm>
            <a:off x="6473952" y="1321308"/>
            <a:ext cx="82296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5"/>
          <p:cNvSpPr/>
          <p:nvPr/>
        </p:nvSpPr>
        <p:spPr>
          <a:xfrm>
            <a:off x="6519672" y="1339596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5"/>
          <p:cNvSpPr/>
          <p:nvPr/>
        </p:nvSpPr>
        <p:spPr>
          <a:xfrm>
            <a:off x="7296912" y="1321308"/>
            <a:ext cx="82296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5"/>
          <p:cNvSpPr/>
          <p:nvPr/>
        </p:nvSpPr>
        <p:spPr>
          <a:xfrm>
            <a:off x="7342632" y="1339596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5"/>
          <p:cNvSpPr/>
          <p:nvPr/>
        </p:nvSpPr>
        <p:spPr>
          <a:xfrm>
            <a:off x="8119872" y="1321308"/>
            <a:ext cx="82296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5"/>
          <p:cNvSpPr/>
          <p:nvPr/>
        </p:nvSpPr>
        <p:spPr>
          <a:xfrm>
            <a:off x="8165592" y="1339596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5"/>
          <p:cNvSpPr/>
          <p:nvPr/>
        </p:nvSpPr>
        <p:spPr>
          <a:xfrm>
            <a:off x="6473952" y="1545336"/>
            <a:ext cx="82296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5"/>
          <p:cNvSpPr/>
          <p:nvPr/>
        </p:nvSpPr>
        <p:spPr>
          <a:xfrm>
            <a:off x="6519672" y="1563624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5"/>
          <p:cNvSpPr/>
          <p:nvPr/>
        </p:nvSpPr>
        <p:spPr>
          <a:xfrm>
            <a:off x="7296912" y="1545336"/>
            <a:ext cx="82296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5"/>
          <p:cNvSpPr/>
          <p:nvPr/>
        </p:nvSpPr>
        <p:spPr>
          <a:xfrm>
            <a:off x="7342632" y="1563624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5"/>
          <p:cNvSpPr/>
          <p:nvPr/>
        </p:nvSpPr>
        <p:spPr>
          <a:xfrm>
            <a:off x="8119872" y="1545336"/>
            <a:ext cx="82296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5"/>
          <p:cNvSpPr/>
          <p:nvPr/>
        </p:nvSpPr>
        <p:spPr>
          <a:xfrm>
            <a:off x="8165592" y="1563624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5"/>
          <p:cNvSpPr/>
          <p:nvPr/>
        </p:nvSpPr>
        <p:spPr>
          <a:xfrm>
            <a:off x="6473952" y="1769364"/>
            <a:ext cx="822960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5"/>
          <p:cNvSpPr/>
          <p:nvPr/>
        </p:nvSpPr>
        <p:spPr>
          <a:xfrm>
            <a:off x="6519672" y="1787652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5"/>
          <p:cNvSpPr/>
          <p:nvPr/>
        </p:nvSpPr>
        <p:spPr>
          <a:xfrm>
            <a:off x="7296912" y="1769364"/>
            <a:ext cx="822960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5"/>
          <p:cNvSpPr/>
          <p:nvPr/>
        </p:nvSpPr>
        <p:spPr>
          <a:xfrm>
            <a:off x="7342632" y="1787652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5"/>
          <p:cNvSpPr/>
          <p:nvPr/>
        </p:nvSpPr>
        <p:spPr>
          <a:xfrm>
            <a:off x="8119872" y="1769364"/>
            <a:ext cx="822960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5"/>
          <p:cNvSpPr/>
          <p:nvPr/>
        </p:nvSpPr>
        <p:spPr>
          <a:xfrm>
            <a:off x="8165592" y="1787652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5"/>
          <p:cNvSpPr/>
          <p:nvPr/>
        </p:nvSpPr>
        <p:spPr>
          <a:xfrm>
            <a:off x="6473952" y="1993392"/>
            <a:ext cx="82296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5"/>
          <p:cNvSpPr/>
          <p:nvPr/>
        </p:nvSpPr>
        <p:spPr>
          <a:xfrm>
            <a:off x="6519672" y="2011680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5"/>
          <p:cNvSpPr/>
          <p:nvPr/>
        </p:nvSpPr>
        <p:spPr>
          <a:xfrm>
            <a:off x="7296912" y="1993392"/>
            <a:ext cx="82296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5"/>
          <p:cNvSpPr/>
          <p:nvPr/>
        </p:nvSpPr>
        <p:spPr>
          <a:xfrm>
            <a:off x="7342632" y="2011680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5"/>
          <p:cNvSpPr/>
          <p:nvPr/>
        </p:nvSpPr>
        <p:spPr>
          <a:xfrm>
            <a:off x="8119872" y="1993392"/>
            <a:ext cx="82296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5"/>
          <p:cNvSpPr/>
          <p:nvPr/>
        </p:nvSpPr>
        <p:spPr>
          <a:xfrm>
            <a:off x="8165592" y="2011680"/>
            <a:ext cx="73152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5"/>
          <p:cNvSpPr/>
          <p:nvPr/>
        </p:nvSpPr>
        <p:spPr>
          <a:xfrm>
            <a:off x="6428289" y="2283719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S003: ML_Score = NaN (row kept)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5"/>
          <p:cNvSpPr/>
          <p:nvPr/>
        </p:nvSpPr>
        <p:spPr>
          <a:xfrm>
            <a:off x="6428227" y="2430025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S005 (ML only) → EXCLUDED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5"/>
          <p:cNvSpPr/>
          <p:nvPr/>
        </p:nvSpPr>
        <p:spPr>
          <a:xfrm>
            <a:off x="173693" y="2793491"/>
            <a:ext cx="8741700" cy="1572900"/>
          </a:xfrm>
          <a:prstGeom prst="rect">
            <a:avLst/>
          </a:prstGeom>
          <a:solidFill>
            <a:srgbClr val="1A2B3C"/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5"/>
          <p:cNvSpPr/>
          <p:nvPr/>
        </p:nvSpPr>
        <p:spPr>
          <a:xfrm>
            <a:off x="173693" y="2633478"/>
            <a:ext cx="8741700" cy="1830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5"/>
          <p:cNvSpPr/>
          <p:nvPr/>
        </p:nvSpPr>
        <p:spPr>
          <a:xfrm>
            <a:off x="246895" y="2656329"/>
            <a:ext cx="1280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5"/>
          <p:cNvSpPr/>
          <p:nvPr/>
        </p:nvSpPr>
        <p:spPr>
          <a:xfrm>
            <a:off x="265183" y="3022090"/>
            <a:ext cx="85587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LEFT JOIN — all left rows kept; NaN where no right match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result = dfSE.merge(dfML, how='left', on='StudentID')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S003 has no ML record → ML_Score = NaN (row KEPT)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S005 is ML-only → completely excluded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Find students with missing ML score: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no_ml = result[result['ML_Score'].isna()]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print(no_ml)    # shows S003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5"/>
          <p:cNvSpPr/>
          <p:nvPr/>
        </p:nvSpPr>
        <p:spPr>
          <a:xfrm>
            <a:off x="201168" y="4389123"/>
            <a:ext cx="6492300" cy="329100"/>
          </a:xfrm>
          <a:prstGeom prst="rect">
            <a:avLst/>
          </a:prstGeom>
          <a:solidFill>
            <a:srgbClr val="0D6E8A">
              <a:alpha val="10196"/>
            </a:srgbClr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5"/>
          <p:cNvSpPr/>
          <p:nvPr/>
        </p:nvSpPr>
        <p:spPr>
          <a:xfrm>
            <a:off x="201168" y="4407336"/>
            <a:ext cx="54900" cy="3291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5"/>
          <p:cNvSpPr/>
          <p:nvPr/>
        </p:nvSpPr>
        <p:spPr>
          <a:xfrm>
            <a:off x="246896" y="4443974"/>
            <a:ext cx="632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📌 LEFT is the most common join — left table is primary, right data supplements it. Missing right data → NaN, not deletion.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5"/>
          <p:cNvSpPr/>
          <p:nvPr/>
        </p:nvSpPr>
        <p:spPr>
          <a:xfrm>
            <a:off x="6812375" y="4370826"/>
            <a:ext cx="2157900" cy="436500"/>
          </a:xfrm>
          <a:prstGeom prst="rect">
            <a:avLst/>
          </a:prstGeom>
          <a:solidFill>
            <a:srgbClr val="1A7A34">
              <a:alpha val="10196"/>
            </a:srgbClr>
          </a:solidFill>
          <a:ln cap="flat" cmpd="sng" w="15225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5"/>
          <p:cNvSpPr/>
          <p:nvPr/>
        </p:nvSpPr>
        <p:spPr>
          <a:xfrm>
            <a:off x="6839683" y="4370825"/>
            <a:ext cx="54900" cy="436500"/>
          </a:xfrm>
          <a:prstGeom prst="rect">
            <a:avLst/>
          </a:prstGeom>
          <a:solidFill>
            <a:srgbClr val="1A7A34"/>
          </a:solidFill>
          <a:ln cap="flat" cmpd="sng" w="12700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5"/>
          <p:cNvSpPr/>
          <p:nvPr/>
        </p:nvSpPr>
        <p:spPr>
          <a:xfrm>
            <a:off x="6967625" y="4424525"/>
            <a:ext cx="199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🌐 Use case: all registered students + marks for those who appeared (absent students get NaN).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6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6"/>
          <p:cNvSpPr/>
          <p:nvPr/>
        </p:nvSpPr>
        <p:spPr>
          <a:xfrm>
            <a:off x="0" y="0"/>
            <a:ext cx="82296" cy="804672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6"/>
          <p:cNvSpPr/>
          <p:nvPr/>
        </p:nvSpPr>
        <p:spPr>
          <a:xfrm>
            <a:off x="182880" y="64008"/>
            <a:ext cx="8778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df.merge() — RIGHT JOIN  &amp;  OUTER JOIN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6"/>
          <p:cNvSpPr/>
          <p:nvPr/>
        </p:nvSpPr>
        <p:spPr>
          <a:xfrm>
            <a:off x="182880" y="493776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C8E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FC8E0"/>
                </a:solidFill>
                <a:latin typeface="Calibri"/>
                <a:ea typeface="Calibri"/>
                <a:cs typeface="Calibri"/>
                <a:sym typeface="Calibri"/>
              </a:rPr>
              <a:t>Completing all four join types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6"/>
          <p:cNvSpPr/>
          <p:nvPr/>
        </p:nvSpPr>
        <p:spPr>
          <a:xfrm>
            <a:off x="201168" y="4910328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F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FC8"/>
                </a:solidFill>
                <a:latin typeface="Calibri"/>
                <a:ea typeface="Calibri"/>
                <a:cs typeface="Calibri"/>
                <a:sym typeface="Calibri"/>
              </a:rPr>
              <a:t>EDA | Module 2 | 23CSE422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6"/>
          <p:cNvSpPr/>
          <p:nvPr/>
        </p:nvSpPr>
        <p:spPr>
          <a:xfrm>
            <a:off x="201175" y="841250"/>
            <a:ext cx="4251900" cy="353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6"/>
          <p:cNvSpPr/>
          <p:nvPr/>
        </p:nvSpPr>
        <p:spPr>
          <a:xfrm>
            <a:off x="310896" y="896112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50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4850A"/>
                </a:solidFill>
                <a:latin typeface="Calibri"/>
                <a:ea typeface="Calibri"/>
                <a:cs typeface="Calibri"/>
                <a:sym typeface="Calibri"/>
              </a:rPr>
              <a:t>RIGHT JOIN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6"/>
          <p:cNvSpPr/>
          <p:nvPr/>
        </p:nvSpPr>
        <p:spPr>
          <a:xfrm>
            <a:off x="310896" y="1161288"/>
            <a:ext cx="4069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All ML students; NaN where SE has no match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6"/>
          <p:cNvSpPr/>
          <p:nvPr/>
        </p:nvSpPr>
        <p:spPr>
          <a:xfrm>
            <a:off x="310896" y="1408176"/>
            <a:ext cx="1350264" cy="224028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6"/>
          <p:cNvSpPr/>
          <p:nvPr/>
        </p:nvSpPr>
        <p:spPr>
          <a:xfrm>
            <a:off x="356616" y="1426464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6"/>
          <p:cNvSpPr/>
          <p:nvPr/>
        </p:nvSpPr>
        <p:spPr>
          <a:xfrm>
            <a:off x="1661160" y="1408176"/>
            <a:ext cx="1350264" cy="224028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6"/>
          <p:cNvSpPr/>
          <p:nvPr/>
        </p:nvSpPr>
        <p:spPr>
          <a:xfrm>
            <a:off x="1706880" y="1426464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SE_Score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6"/>
          <p:cNvSpPr/>
          <p:nvPr/>
        </p:nvSpPr>
        <p:spPr>
          <a:xfrm>
            <a:off x="3011424" y="1408176"/>
            <a:ext cx="1350264" cy="224028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6"/>
          <p:cNvSpPr/>
          <p:nvPr/>
        </p:nvSpPr>
        <p:spPr>
          <a:xfrm>
            <a:off x="3057144" y="1426464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ML_Score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6"/>
          <p:cNvSpPr/>
          <p:nvPr/>
        </p:nvSpPr>
        <p:spPr>
          <a:xfrm>
            <a:off x="310896" y="1632204"/>
            <a:ext cx="1350264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6"/>
          <p:cNvSpPr/>
          <p:nvPr/>
        </p:nvSpPr>
        <p:spPr>
          <a:xfrm>
            <a:off x="356616" y="1650492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6"/>
          <p:cNvSpPr/>
          <p:nvPr/>
        </p:nvSpPr>
        <p:spPr>
          <a:xfrm>
            <a:off x="1661160" y="1632204"/>
            <a:ext cx="1350264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6"/>
          <p:cNvSpPr/>
          <p:nvPr/>
        </p:nvSpPr>
        <p:spPr>
          <a:xfrm>
            <a:off x="1706880" y="1650492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6"/>
          <p:cNvSpPr/>
          <p:nvPr/>
        </p:nvSpPr>
        <p:spPr>
          <a:xfrm>
            <a:off x="3011424" y="1632204"/>
            <a:ext cx="1350264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6"/>
          <p:cNvSpPr/>
          <p:nvPr/>
        </p:nvSpPr>
        <p:spPr>
          <a:xfrm>
            <a:off x="3057144" y="1650492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6"/>
          <p:cNvSpPr/>
          <p:nvPr/>
        </p:nvSpPr>
        <p:spPr>
          <a:xfrm>
            <a:off x="310896" y="1856232"/>
            <a:ext cx="1350264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6"/>
          <p:cNvSpPr/>
          <p:nvPr/>
        </p:nvSpPr>
        <p:spPr>
          <a:xfrm>
            <a:off x="356616" y="1874520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6"/>
          <p:cNvSpPr/>
          <p:nvPr/>
        </p:nvSpPr>
        <p:spPr>
          <a:xfrm>
            <a:off x="1661160" y="1856232"/>
            <a:ext cx="1350264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6"/>
          <p:cNvSpPr/>
          <p:nvPr/>
        </p:nvSpPr>
        <p:spPr>
          <a:xfrm>
            <a:off x="1706880" y="1874520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6"/>
          <p:cNvSpPr/>
          <p:nvPr/>
        </p:nvSpPr>
        <p:spPr>
          <a:xfrm>
            <a:off x="3011424" y="1856232"/>
            <a:ext cx="1350264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6"/>
          <p:cNvSpPr/>
          <p:nvPr/>
        </p:nvSpPr>
        <p:spPr>
          <a:xfrm>
            <a:off x="3057144" y="1874520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6"/>
          <p:cNvSpPr/>
          <p:nvPr/>
        </p:nvSpPr>
        <p:spPr>
          <a:xfrm>
            <a:off x="310896" y="2080260"/>
            <a:ext cx="1350264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6"/>
          <p:cNvSpPr/>
          <p:nvPr/>
        </p:nvSpPr>
        <p:spPr>
          <a:xfrm>
            <a:off x="356616" y="2098548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6"/>
          <p:cNvSpPr/>
          <p:nvPr/>
        </p:nvSpPr>
        <p:spPr>
          <a:xfrm>
            <a:off x="1661160" y="2080260"/>
            <a:ext cx="1350264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6"/>
          <p:cNvSpPr/>
          <p:nvPr/>
        </p:nvSpPr>
        <p:spPr>
          <a:xfrm>
            <a:off x="1706880" y="2098548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6"/>
          <p:cNvSpPr/>
          <p:nvPr/>
        </p:nvSpPr>
        <p:spPr>
          <a:xfrm>
            <a:off x="3011424" y="2080260"/>
            <a:ext cx="1350264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6"/>
          <p:cNvSpPr/>
          <p:nvPr/>
        </p:nvSpPr>
        <p:spPr>
          <a:xfrm>
            <a:off x="3057144" y="2098548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6"/>
          <p:cNvSpPr/>
          <p:nvPr/>
        </p:nvSpPr>
        <p:spPr>
          <a:xfrm>
            <a:off x="310896" y="2304288"/>
            <a:ext cx="1350264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6"/>
          <p:cNvSpPr/>
          <p:nvPr/>
        </p:nvSpPr>
        <p:spPr>
          <a:xfrm>
            <a:off x="356616" y="2322576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6"/>
          <p:cNvSpPr/>
          <p:nvPr/>
        </p:nvSpPr>
        <p:spPr>
          <a:xfrm>
            <a:off x="1661160" y="2304288"/>
            <a:ext cx="1350264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6"/>
          <p:cNvSpPr/>
          <p:nvPr/>
        </p:nvSpPr>
        <p:spPr>
          <a:xfrm>
            <a:off x="1706880" y="2322576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6"/>
          <p:cNvSpPr/>
          <p:nvPr/>
        </p:nvSpPr>
        <p:spPr>
          <a:xfrm>
            <a:off x="3011424" y="2304288"/>
            <a:ext cx="1350264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6"/>
          <p:cNvSpPr/>
          <p:nvPr/>
        </p:nvSpPr>
        <p:spPr>
          <a:xfrm>
            <a:off x="3057144" y="2322576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66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6"/>
          <p:cNvSpPr/>
          <p:nvPr/>
        </p:nvSpPr>
        <p:spPr>
          <a:xfrm>
            <a:off x="320033" y="3113529"/>
            <a:ext cx="4050900" cy="777300"/>
          </a:xfrm>
          <a:prstGeom prst="rect">
            <a:avLst/>
          </a:prstGeom>
          <a:solidFill>
            <a:srgbClr val="1A2B3C"/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6"/>
          <p:cNvSpPr/>
          <p:nvPr/>
        </p:nvSpPr>
        <p:spPr>
          <a:xfrm>
            <a:off x="301746" y="2914641"/>
            <a:ext cx="4050900" cy="1830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6"/>
          <p:cNvSpPr/>
          <p:nvPr/>
        </p:nvSpPr>
        <p:spPr>
          <a:xfrm>
            <a:off x="345960" y="2928367"/>
            <a:ext cx="1280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6"/>
          <p:cNvSpPr/>
          <p:nvPr/>
        </p:nvSpPr>
        <p:spPr>
          <a:xfrm>
            <a:off x="393199" y="3113541"/>
            <a:ext cx="38679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result = dfSE.merge(dfML,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     how='right', on='StudentID')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S003 (SE-only)  → excluded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S005 (ML-only)  → kept; SE_Score=NaN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6"/>
          <p:cNvSpPr/>
          <p:nvPr/>
        </p:nvSpPr>
        <p:spPr>
          <a:xfrm>
            <a:off x="310896" y="3950208"/>
            <a:ext cx="4069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50A"/>
              </a:buClr>
              <a:buSzPts val="850"/>
              <a:buFont typeface="Calibri"/>
              <a:buNone/>
            </a:pPr>
            <a:r>
              <a:rPr b="1" i="0" lang="en-US" sz="1350" u="none" cap="none" strike="noStrike">
                <a:solidFill>
                  <a:srgbClr val="D4850A"/>
                </a:solidFill>
                <a:latin typeface="Calibri"/>
                <a:ea typeface="Calibri"/>
                <a:cs typeface="Calibri"/>
                <a:sym typeface="Calibri"/>
              </a:rPr>
              <a:t>→ ALL right (dfML)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6"/>
          <p:cNvSpPr/>
          <p:nvPr/>
        </p:nvSpPr>
        <p:spPr>
          <a:xfrm>
            <a:off x="4572025" y="928051"/>
            <a:ext cx="4251900" cy="3444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6"/>
          <p:cNvSpPr/>
          <p:nvPr/>
        </p:nvSpPr>
        <p:spPr>
          <a:xfrm>
            <a:off x="4672584" y="896112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OUTER JOIN  (Full Outer)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6"/>
          <p:cNvSpPr/>
          <p:nvPr/>
        </p:nvSpPr>
        <p:spPr>
          <a:xfrm>
            <a:off x="4672584" y="1161288"/>
            <a:ext cx="4069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ALL students from both; NaN where no match on either side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6"/>
          <p:cNvSpPr/>
          <p:nvPr/>
        </p:nvSpPr>
        <p:spPr>
          <a:xfrm>
            <a:off x="4672584" y="1408176"/>
            <a:ext cx="1350264" cy="224028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6"/>
          <p:cNvSpPr/>
          <p:nvPr/>
        </p:nvSpPr>
        <p:spPr>
          <a:xfrm>
            <a:off x="4718304" y="1426464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6"/>
          <p:cNvSpPr/>
          <p:nvPr/>
        </p:nvSpPr>
        <p:spPr>
          <a:xfrm>
            <a:off x="6022848" y="1408176"/>
            <a:ext cx="1350264" cy="224028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6"/>
          <p:cNvSpPr/>
          <p:nvPr/>
        </p:nvSpPr>
        <p:spPr>
          <a:xfrm>
            <a:off x="6068568" y="1426464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SE_Score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6"/>
          <p:cNvSpPr/>
          <p:nvPr/>
        </p:nvSpPr>
        <p:spPr>
          <a:xfrm>
            <a:off x="7373112" y="1408176"/>
            <a:ext cx="1350264" cy="224028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6"/>
          <p:cNvSpPr/>
          <p:nvPr/>
        </p:nvSpPr>
        <p:spPr>
          <a:xfrm>
            <a:off x="7418832" y="1426464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ML_Score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6"/>
          <p:cNvSpPr/>
          <p:nvPr/>
        </p:nvSpPr>
        <p:spPr>
          <a:xfrm>
            <a:off x="4672584" y="1632204"/>
            <a:ext cx="1350264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6"/>
          <p:cNvSpPr/>
          <p:nvPr/>
        </p:nvSpPr>
        <p:spPr>
          <a:xfrm>
            <a:off x="4718304" y="1650492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6"/>
          <p:cNvSpPr/>
          <p:nvPr/>
        </p:nvSpPr>
        <p:spPr>
          <a:xfrm>
            <a:off x="6022848" y="1632204"/>
            <a:ext cx="1350264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6"/>
          <p:cNvSpPr/>
          <p:nvPr/>
        </p:nvSpPr>
        <p:spPr>
          <a:xfrm>
            <a:off x="6068568" y="1650492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6"/>
          <p:cNvSpPr/>
          <p:nvPr/>
        </p:nvSpPr>
        <p:spPr>
          <a:xfrm>
            <a:off x="7373112" y="1632204"/>
            <a:ext cx="1350264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6"/>
          <p:cNvSpPr/>
          <p:nvPr/>
        </p:nvSpPr>
        <p:spPr>
          <a:xfrm>
            <a:off x="7418832" y="1650492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6"/>
          <p:cNvSpPr/>
          <p:nvPr/>
        </p:nvSpPr>
        <p:spPr>
          <a:xfrm>
            <a:off x="4672584" y="1856232"/>
            <a:ext cx="1350264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6"/>
          <p:cNvSpPr/>
          <p:nvPr/>
        </p:nvSpPr>
        <p:spPr>
          <a:xfrm>
            <a:off x="4718304" y="1874520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6"/>
          <p:cNvSpPr/>
          <p:nvPr/>
        </p:nvSpPr>
        <p:spPr>
          <a:xfrm>
            <a:off x="6022848" y="1856232"/>
            <a:ext cx="1350264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6"/>
          <p:cNvSpPr/>
          <p:nvPr/>
        </p:nvSpPr>
        <p:spPr>
          <a:xfrm>
            <a:off x="6068568" y="1874520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6"/>
          <p:cNvSpPr/>
          <p:nvPr/>
        </p:nvSpPr>
        <p:spPr>
          <a:xfrm>
            <a:off x="7373112" y="1856232"/>
            <a:ext cx="1350264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6"/>
          <p:cNvSpPr/>
          <p:nvPr/>
        </p:nvSpPr>
        <p:spPr>
          <a:xfrm>
            <a:off x="7418832" y="1874520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6"/>
          <p:cNvSpPr/>
          <p:nvPr/>
        </p:nvSpPr>
        <p:spPr>
          <a:xfrm>
            <a:off x="4672584" y="2080260"/>
            <a:ext cx="1350264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6"/>
          <p:cNvSpPr/>
          <p:nvPr/>
        </p:nvSpPr>
        <p:spPr>
          <a:xfrm>
            <a:off x="4718304" y="2098548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6"/>
          <p:cNvSpPr/>
          <p:nvPr/>
        </p:nvSpPr>
        <p:spPr>
          <a:xfrm>
            <a:off x="6022848" y="2080260"/>
            <a:ext cx="1350264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6"/>
          <p:cNvSpPr/>
          <p:nvPr/>
        </p:nvSpPr>
        <p:spPr>
          <a:xfrm>
            <a:off x="6068568" y="2098548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6"/>
          <p:cNvSpPr/>
          <p:nvPr/>
        </p:nvSpPr>
        <p:spPr>
          <a:xfrm>
            <a:off x="7373112" y="2080260"/>
            <a:ext cx="1350264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6"/>
          <p:cNvSpPr/>
          <p:nvPr/>
        </p:nvSpPr>
        <p:spPr>
          <a:xfrm>
            <a:off x="7418832" y="2098548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6"/>
          <p:cNvSpPr/>
          <p:nvPr/>
        </p:nvSpPr>
        <p:spPr>
          <a:xfrm>
            <a:off x="4672584" y="2304288"/>
            <a:ext cx="1350264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6"/>
          <p:cNvSpPr/>
          <p:nvPr/>
        </p:nvSpPr>
        <p:spPr>
          <a:xfrm>
            <a:off x="4718304" y="2322576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6"/>
          <p:cNvSpPr/>
          <p:nvPr/>
        </p:nvSpPr>
        <p:spPr>
          <a:xfrm>
            <a:off x="6022848" y="2304288"/>
            <a:ext cx="1350264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6"/>
          <p:cNvSpPr/>
          <p:nvPr/>
        </p:nvSpPr>
        <p:spPr>
          <a:xfrm>
            <a:off x="6068568" y="2322576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6"/>
          <p:cNvSpPr/>
          <p:nvPr/>
        </p:nvSpPr>
        <p:spPr>
          <a:xfrm>
            <a:off x="7373112" y="2304288"/>
            <a:ext cx="1350264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6"/>
          <p:cNvSpPr/>
          <p:nvPr/>
        </p:nvSpPr>
        <p:spPr>
          <a:xfrm>
            <a:off x="7418832" y="2322576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6"/>
          <p:cNvSpPr/>
          <p:nvPr/>
        </p:nvSpPr>
        <p:spPr>
          <a:xfrm>
            <a:off x="4672584" y="2528316"/>
            <a:ext cx="1350264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6"/>
          <p:cNvSpPr/>
          <p:nvPr/>
        </p:nvSpPr>
        <p:spPr>
          <a:xfrm>
            <a:off x="4718304" y="2546604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S005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6"/>
          <p:cNvSpPr/>
          <p:nvPr/>
        </p:nvSpPr>
        <p:spPr>
          <a:xfrm>
            <a:off x="6022848" y="2528316"/>
            <a:ext cx="1350264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6"/>
          <p:cNvSpPr/>
          <p:nvPr/>
        </p:nvSpPr>
        <p:spPr>
          <a:xfrm>
            <a:off x="6068568" y="2546604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6"/>
          <p:cNvSpPr/>
          <p:nvPr/>
        </p:nvSpPr>
        <p:spPr>
          <a:xfrm>
            <a:off x="7373112" y="2528316"/>
            <a:ext cx="1350264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6"/>
          <p:cNvSpPr/>
          <p:nvPr/>
        </p:nvSpPr>
        <p:spPr>
          <a:xfrm>
            <a:off x="7418832" y="2546604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66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6"/>
          <p:cNvSpPr/>
          <p:nvPr/>
        </p:nvSpPr>
        <p:spPr>
          <a:xfrm>
            <a:off x="4681734" y="3191260"/>
            <a:ext cx="4050900" cy="777300"/>
          </a:xfrm>
          <a:prstGeom prst="rect">
            <a:avLst/>
          </a:prstGeom>
          <a:solidFill>
            <a:srgbClr val="1A2B3C"/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6"/>
          <p:cNvSpPr/>
          <p:nvPr/>
        </p:nvSpPr>
        <p:spPr>
          <a:xfrm>
            <a:off x="4681784" y="3015235"/>
            <a:ext cx="4050900" cy="1830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6"/>
          <p:cNvSpPr/>
          <p:nvPr/>
        </p:nvSpPr>
        <p:spPr>
          <a:xfrm>
            <a:off x="4707636" y="3038098"/>
            <a:ext cx="1280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6"/>
          <p:cNvSpPr/>
          <p:nvPr/>
        </p:nvSpPr>
        <p:spPr>
          <a:xfrm>
            <a:off x="4718299" y="3218684"/>
            <a:ext cx="38679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result = dfSE.merge(dfML,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     how='outer', on='StudentID')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S003: ML_Score = NaN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S005: SE_Score = NaN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Most rows, most NaN of all joins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6"/>
          <p:cNvSpPr/>
          <p:nvPr/>
        </p:nvSpPr>
        <p:spPr>
          <a:xfrm>
            <a:off x="4672584" y="4027951"/>
            <a:ext cx="406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12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ALL from both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6"/>
          <p:cNvSpPr/>
          <p:nvPr/>
        </p:nvSpPr>
        <p:spPr>
          <a:xfrm>
            <a:off x="201168" y="4407408"/>
            <a:ext cx="8741664" cy="329184"/>
          </a:xfrm>
          <a:prstGeom prst="rect">
            <a:avLst/>
          </a:prstGeom>
          <a:solidFill>
            <a:srgbClr val="0D6E8A">
              <a:alpha val="10196"/>
            </a:srgbClr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6"/>
          <p:cNvSpPr/>
          <p:nvPr/>
        </p:nvSpPr>
        <p:spPr>
          <a:xfrm>
            <a:off x="201168" y="4407408"/>
            <a:ext cx="54864" cy="329184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6"/>
          <p:cNvSpPr/>
          <p:nvPr/>
        </p:nvSpPr>
        <p:spPr>
          <a:xfrm>
            <a:off x="310896" y="4443984"/>
            <a:ext cx="8577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📌 Row count: INNER ≤ LEFT ≤ OUTER  and  INNER ≤ RIGHT ≤ OUTER. OUTER = most rows, most NaN.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7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7"/>
          <p:cNvSpPr/>
          <p:nvPr/>
        </p:nvSpPr>
        <p:spPr>
          <a:xfrm>
            <a:off x="0" y="0"/>
            <a:ext cx="82296" cy="804672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7"/>
          <p:cNvSpPr/>
          <p:nvPr/>
        </p:nvSpPr>
        <p:spPr>
          <a:xfrm>
            <a:off x="182880" y="64008"/>
            <a:ext cx="8778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Merging on Index — left_on &amp; right_index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7"/>
          <p:cNvSpPr/>
          <p:nvPr/>
        </p:nvSpPr>
        <p:spPr>
          <a:xfrm>
            <a:off x="182880" y="493776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C8E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FC8E0"/>
                </a:solidFill>
                <a:latin typeface="Calibri"/>
                <a:ea typeface="Calibri"/>
                <a:cs typeface="Calibri"/>
                <a:sym typeface="Calibri"/>
              </a:rPr>
              <a:t>When the join key lives in the DataFrame index, not a column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7"/>
          <p:cNvSpPr/>
          <p:nvPr/>
        </p:nvSpPr>
        <p:spPr>
          <a:xfrm>
            <a:off x="201168" y="4910328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F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FC8"/>
                </a:solidFill>
                <a:latin typeface="Calibri"/>
                <a:ea typeface="Calibri"/>
                <a:cs typeface="Calibri"/>
                <a:sym typeface="Calibri"/>
              </a:rPr>
              <a:t>EDA | Module 2 | 23CSE422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7"/>
          <p:cNvSpPr/>
          <p:nvPr/>
        </p:nvSpPr>
        <p:spPr>
          <a:xfrm>
            <a:off x="201168" y="841248"/>
            <a:ext cx="54864" cy="237744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7"/>
          <p:cNvSpPr/>
          <p:nvPr/>
        </p:nvSpPr>
        <p:spPr>
          <a:xfrm>
            <a:off x="292608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left1  (key is a column)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7"/>
          <p:cNvSpPr/>
          <p:nvPr/>
        </p:nvSpPr>
        <p:spPr>
          <a:xfrm>
            <a:off x="201168" y="1097280"/>
            <a:ext cx="746760" cy="219456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7"/>
          <p:cNvSpPr/>
          <p:nvPr/>
        </p:nvSpPr>
        <p:spPr>
          <a:xfrm>
            <a:off x="246888" y="1115568"/>
            <a:ext cx="655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7"/>
          <p:cNvSpPr/>
          <p:nvPr/>
        </p:nvSpPr>
        <p:spPr>
          <a:xfrm>
            <a:off x="947928" y="1097280"/>
            <a:ext cx="746760" cy="219456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7"/>
          <p:cNvSpPr/>
          <p:nvPr/>
        </p:nvSpPr>
        <p:spPr>
          <a:xfrm>
            <a:off x="993648" y="1115568"/>
            <a:ext cx="655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7"/>
          <p:cNvSpPr/>
          <p:nvPr/>
        </p:nvSpPr>
        <p:spPr>
          <a:xfrm>
            <a:off x="1694688" y="1097280"/>
            <a:ext cx="746760" cy="219456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7"/>
          <p:cNvSpPr/>
          <p:nvPr/>
        </p:nvSpPr>
        <p:spPr>
          <a:xfrm>
            <a:off x="1740408" y="1115568"/>
            <a:ext cx="655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7"/>
          <p:cNvSpPr/>
          <p:nvPr/>
        </p:nvSpPr>
        <p:spPr>
          <a:xfrm>
            <a:off x="201168" y="1316736"/>
            <a:ext cx="74676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7"/>
          <p:cNvSpPr/>
          <p:nvPr/>
        </p:nvSpPr>
        <p:spPr>
          <a:xfrm>
            <a:off x="246888" y="1335024"/>
            <a:ext cx="655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7"/>
          <p:cNvSpPr/>
          <p:nvPr/>
        </p:nvSpPr>
        <p:spPr>
          <a:xfrm>
            <a:off x="947928" y="1316736"/>
            <a:ext cx="74676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7"/>
          <p:cNvSpPr/>
          <p:nvPr/>
        </p:nvSpPr>
        <p:spPr>
          <a:xfrm>
            <a:off x="993648" y="1335024"/>
            <a:ext cx="655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7"/>
          <p:cNvSpPr/>
          <p:nvPr/>
        </p:nvSpPr>
        <p:spPr>
          <a:xfrm>
            <a:off x="1694688" y="1316736"/>
            <a:ext cx="74676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7"/>
          <p:cNvSpPr/>
          <p:nvPr/>
        </p:nvSpPr>
        <p:spPr>
          <a:xfrm>
            <a:off x="1740408" y="1335024"/>
            <a:ext cx="655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7"/>
          <p:cNvSpPr/>
          <p:nvPr/>
        </p:nvSpPr>
        <p:spPr>
          <a:xfrm>
            <a:off x="201168" y="1536192"/>
            <a:ext cx="74676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7"/>
          <p:cNvSpPr/>
          <p:nvPr/>
        </p:nvSpPr>
        <p:spPr>
          <a:xfrm>
            <a:off x="246888" y="1554480"/>
            <a:ext cx="655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7"/>
          <p:cNvSpPr/>
          <p:nvPr/>
        </p:nvSpPr>
        <p:spPr>
          <a:xfrm>
            <a:off x="947928" y="1536192"/>
            <a:ext cx="74676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7"/>
          <p:cNvSpPr/>
          <p:nvPr/>
        </p:nvSpPr>
        <p:spPr>
          <a:xfrm>
            <a:off x="993648" y="1554480"/>
            <a:ext cx="655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7"/>
          <p:cNvSpPr/>
          <p:nvPr/>
        </p:nvSpPr>
        <p:spPr>
          <a:xfrm>
            <a:off x="1694688" y="1536192"/>
            <a:ext cx="74676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7"/>
          <p:cNvSpPr/>
          <p:nvPr/>
        </p:nvSpPr>
        <p:spPr>
          <a:xfrm>
            <a:off x="1740408" y="1554480"/>
            <a:ext cx="655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7"/>
          <p:cNvSpPr/>
          <p:nvPr/>
        </p:nvSpPr>
        <p:spPr>
          <a:xfrm>
            <a:off x="201168" y="1755648"/>
            <a:ext cx="74676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7"/>
          <p:cNvSpPr/>
          <p:nvPr/>
        </p:nvSpPr>
        <p:spPr>
          <a:xfrm>
            <a:off x="246888" y="1773936"/>
            <a:ext cx="655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7"/>
          <p:cNvSpPr/>
          <p:nvPr/>
        </p:nvSpPr>
        <p:spPr>
          <a:xfrm>
            <a:off x="947928" y="1755648"/>
            <a:ext cx="74676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7"/>
          <p:cNvSpPr/>
          <p:nvPr/>
        </p:nvSpPr>
        <p:spPr>
          <a:xfrm>
            <a:off x="993648" y="1773936"/>
            <a:ext cx="655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7"/>
          <p:cNvSpPr/>
          <p:nvPr/>
        </p:nvSpPr>
        <p:spPr>
          <a:xfrm>
            <a:off x="1694688" y="1755648"/>
            <a:ext cx="74676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7"/>
          <p:cNvSpPr/>
          <p:nvPr/>
        </p:nvSpPr>
        <p:spPr>
          <a:xfrm>
            <a:off x="1740408" y="1773936"/>
            <a:ext cx="655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7"/>
          <p:cNvSpPr/>
          <p:nvPr/>
        </p:nvSpPr>
        <p:spPr>
          <a:xfrm>
            <a:off x="201168" y="1975104"/>
            <a:ext cx="74676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7"/>
          <p:cNvSpPr/>
          <p:nvPr/>
        </p:nvSpPr>
        <p:spPr>
          <a:xfrm>
            <a:off x="246888" y="1993392"/>
            <a:ext cx="655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7"/>
          <p:cNvSpPr/>
          <p:nvPr/>
        </p:nvSpPr>
        <p:spPr>
          <a:xfrm>
            <a:off x="947928" y="1975104"/>
            <a:ext cx="74676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7"/>
          <p:cNvSpPr/>
          <p:nvPr/>
        </p:nvSpPr>
        <p:spPr>
          <a:xfrm>
            <a:off x="993648" y="1993392"/>
            <a:ext cx="655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7"/>
          <p:cNvSpPr/>
          <p:nvPr/>
        </p:nvSpPr>
        <p:spPr>
          <a:xfrm>
            <a:off x="1694688" y="1975104"/>
            <a:ext cx="74676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7"/>
          <p:cNvSpPr/>
          <p:nvPr/>
        </p:nvSpPr>
        <p:spPr>
          <a:xfrm>
            <a:off x="1740408" y="1993392"/>
            <a:ext cx="655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7"/>
          <p:cNvSpPr/>
          <p:nvPr/>
        </p:nvSpPr>
        <p:spPr>
          <a:xfrm>
            <a:off x="201168" y="2194560"/>
            <a:ext cx="74676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7"/>
          <p:cNvSpPr/>
          <p:nvPr/>
        </p:nvSpPr>
        <p:spPr>
          <a:xfrm>
            <a:off x="246888" y="2212848"/>
            <a:ext cx="655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7"/>
          <p:cNvSpPr/>
          <p:nvPr/>
        </p:nvSpPr>
        <p:spPr>
          <a:xfrm>
            <a:off x="947928" y="2194560"/>
            <a:ext cx="74676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7"/>
          <p:cNvSpPr/>
          <p:nvPr/>
        </p:nvSpPr>
        <p:spPr>
          <a:xfrm>
            <a:off x="993648" y="2212848"/>
            <a:ext cx="655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7"/>
          <p:cNvSpPr/>
          <p:nvPr/>
        </p:nvSpPr>
        <p:spPr>
          <a:xfrm>
            <a:off x="1694688" y="2194560"/>
            <a:ext cx="74676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7"/>
          <p:cNvSpPr/>
          <p:nvPr/>
        </p:nvSpPr>
        <p:spPr>
          <a:xfrm>
            <a:off x="1740408" y="2212848"/>
            <a:ext cx="655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7"/>
          <p:cNvSpPr/>
          <p:nvPr/>
        </p:nvSpPr>
        <p:spPr>
          <a:xfrm>
            <a:off x="201168" y="2414016"/>
            <a:ext cx="74676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7"/>
          <p:cNvSpPr/>
          <p:nvPr/>
        </p:nvSpPr>
        <p:spPr>
          <a:xfrm>
            <a:off x="246888" y="2432304"/>
            <a:ext cx="655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7"/>
          <p:cNvSpPr/>
          <p:nvPr/>
        </p:nvSpPr>
        <p:spPr>
          <a:xfrm>
            <a:off x="947928" y="2414016"/>
            <a:ext cx="74676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7"/>
          <p:cNvSpPr/>
          <p:nvPr/>
        </p:nvSpPr>
        <p:spPr>
          <a:xfrm>
            <a:off x="993648" y="2432304"/>
            <a:ext cx="655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cat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7"/>
          <p:cNvSpPr/>
          <p:nvPr/>
        </p:nvSpPr>
        <p:spPr>
          <a:xfrm>
            <a:off x="1694688" y="2414016"/>
            <a:ext cx="74676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7"/>
          <p:cNvSpPr/>
          <p:nvPr/>
        </p:nvSpPr>
        <p:spPr>
          <a:xfrm>
            <a:off x="1740408" y="2432304"/>
            <a:ext cx="655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7"/>
          <p:cNvSpPr/>
          <p:nvPr/>
        </p:nvSpPr>
        <p:spPr>
          <a:xfrm>
            <a:off x="2578608" y="841248"/>
            <a:ext cx="54864" cy="237744"/>
          </a:xfrm>
          <a:prstGeom prst="rect">
            <a:avLst/>
          </a:prstGeom>
          <a:solidFill>
            <a:srgbClr val="D4850A"/>
          </a:solidFill>
          <a:ln cap="flat" cmpd="sng" w="12700">
            <a:solidFill>
              <a:srgbClr val="D485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7"/>
          <p:cNvSpPr/>
          <p:nvPr/>
        </p:nvSpPr>
        <p:spPr>
          <a:xfrm>
            <a:off x="2670048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50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4850A"/>
                </a:solidFill>
                <a:latin typeface="Calibri"/>
                <a:ea typeface="Calibri"/>
                <a:cs typeface="Calibri"/>
                <a:sym typeface="Calibri"/>
              </a:rPr>
              <a:t>right1  (key IS the index)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7"/>
          <p:cNvSpPr/>
          <p:nvPr/>
        </p:nvSpPr>
        <p:spPr>
          <a:xfrm>
            <a:off x="2578608" y="1097280"/>
            <a:ext cx="832104" cy="256032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7"/>
          <p:cNvSpPr/>
          <p:nvPr/>
        </p:nvSpPr>
        <p:spPr>
          <a:xfrm>
            <a:off x="2624328" y="1115568"/>
            <a:ext cx="740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7"/>
          <p:cNvSpPr/>
          <p:nvPr/>
        </p:nvSpPr>
        <p:spPr>
          <a:xfrm>
            <a:off x="3410712" y="1097280"/>
            <a:ext cx="832104" cy="256032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7"/>
          <p:cNvSpPr/>
          <p:nvPr/>
        </p:nvSpPr>
        <p:spPr>
          <a:xfrm>
            <a:off x="3456432" y="1115568"/>
            <a:ext cx="740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group_val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7"/>
          <p:cNvSpPr/>
          <p:nvPr/>
        </p:nvSpPr>
        <p:spPr>
          <a:xfrm>
            <a:off x="2578608" y="1353312"/>
            <a:ext cx="832104" cy="256032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7"/>
          <p:cNvSpPr/>
          <p:nvPr/>
        </p:nvSpPr>
        <p:spPr>
          <a:xfrm>
            <a:off x="2648716" y="1380738"/>
            <a:ext cx="740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7"/>
          <p:cNvSpPr/>
          <p:nvPr/>
        </p:nvSpPr>
        <p:spPr>
          <a:xfrm>
            <a:off x="3410712" y="1353312"/>
            <a:ext cx="832104" cy="256032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7"/>
          <p:cNvSpPr/>
          <p:nvPr/>
        </p:nvSpPr>
        <p:spPr>
          <a:xfrm>
            <a:off x="3456432" y="1371600"/>
            <a:ext cx="740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33.4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7"/>
          <p:cNvSpPr/>
          <p:nvPr/>
        </p:nvSpPr>
        <p:spPr>
          <a:xfrm>
            <a:off x="2578608" y="1609344"/>
            <a:ext cx="832104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7"/>
          <p:cNvSpPr/>
          <p:nvPr/>
        </p:nvSpPr>
        <p:spPr>
          <a:xfrm>
            <a:off x="2624328" y="1627632"/>
            <a:ext cx="740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7"/>
          <p:cNvSpPr/>
          <p:nvPr/>
        </p:nvSpPr>
        <p:spPr>
          <a:xfrm>
            <a:off x="3410712" y="1609344"/>
            <a:ext cx="832104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7"/>
          <p:cNvSpPr/>
          <p:nvPr/>
        </p:nvSpPr>
        <p:spPr>
          <a:xfrm>
            <a:off x="3456432" y="1627632"/>
            <a:ext cx="740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7"/>
          <p:cNvSpPr/>
          <p:nvPr/>
        </p:nvSpPr>
        <p:spPr>
          <a:xfrm>
            <a:off x="4389120" y="841248"/>
            <a:ext cx="54864" cy="237744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7"/>
          <p:cNvSpPr/>
          <p:nvPr/>
        </p:nvSpPr>
        <p:spPr>
          <a:xfrm>
            <a:off x="4480560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9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9E8A"/>
                </a:solidFill>
                <a:latin typeface="Calibri"/>
                <a:ea typeface="Calibri"/>
                <a:cs typeface="Calibri"/>
                <a:sym typeface="Calibri"/>
              </a:rPr>
              <a:t>INNER (default)  left_on='key', right_index=True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7"/>
          <p:cNvSpPr/>
          <p:nvPr/>
        </p:nvSpPr>
        <p:spPr>
          <a:xfrm>
            <a:off x="4389120" y="1097280"/>
            <a:ext cx="1143000" cy="219456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7"/>
          <p:cNvSpPr/>
          <p:nvPr/>
        </p:nvSpPr>
        <p:spPr>
          <a:xfrm>
            <a:off x="4434840" y="1115568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7"/>
          <p:cNvSpPr/>
          <p:nvPr/>
        </p:nvSpPr>
        <p:spPr>
          <a:xfrm>
            <a:off x="5532120" y="1097280"/>
            <a:ext cx="1143000" cy="219456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7"/>
          <p:cNvSpPr/>
          <p:nvPr/>
        </p:nvSpPr>
        <p:spPr>
          <a:xfrm>
            <a:off x="5577840" y="1115568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7"/>
          <p:cNvSpPr/>
          <p:nvPr/>
        </p:nvSpPr>
        <p:spPr>
          <a:xfrm>
            <a:off x="6675120" y="1097280"/>
            <a:ext cx="1143000" cy="219456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7"/>
          <p:cNvSpPr/>
          <p:nvPr/>
        </p:nvSpPr>
        <p:spPr>
          <a:xfrm>
            <a:off x="6720840" y="1115568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7"/>
          <p:cNvSpPr/>
          <p:nvPr/>
        </p:nvSpPr>
        <p:spPr>
          <a:xfrm>
            <a:off x="7818120" y="1097280"/>
            <a:ext cx="1143000" cy="219456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7"/>
          <p:cNvSpPr/>
          <p:nvPr/>
        </p:nvSpPr>
        <p:spPr>
          <a:xfrm>
            <a:off x="7863840" y="1115568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group_val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7"/>
          <p:cNvSpPr/>
          <p:nvPr/>
        </p:nvSpPr>
        <p:spPr>
          <a:xfrm>
            <a:off x="4389120" y="1316736"/>
            <a:ext cx="11430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7"/>
          <p:cNvSpPr/>
          <p:nvPr/>
        </p:nvSpPr>
        <p:spPr>
          <a:xfrm>
            <a:off x="4434840" y="1335024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7"/>
          <p:cNvSpPr/>
          <p:nvPr/>
        </p:nvSpPr>
        <p:spPr>
          <a:xfrm>
            <a:off x="5532120" y="1316736"/>
            <a:ext cx="11430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7"/>
          <p:cNvSpPr/>
          <p:nvPr/>
        </p:nvSpPr>
        <p:spPr>
          <a:xfrm>
            <a:off x="5577840" y="1335024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7"/>
          <p:cNvSpPr/>
          <p:nvPr/>
        </p:nvSpPr>
        <p:spPr>
          <a:xfrm>
            <a:off x="6675120" y="1316736"/>
            <a:ext cx="11430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7"/>
          <p:cNvSpPr/>
          <p:nvPr/>
        </p:nvSpPr>
        <p:spPr>
          <a:xfrm>
            <a:off x="6720840" y="1335024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7"/>
          <p:cNvSpPr/>
          <p:nvPr/>
        </p:nvSpPr>
        <p:spPr>
          <a:xfrm>
            <a:off x="7818120" y="1316736"/>
            <a:ext cx="11430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7"/>
          <p:cNvSpPr/>
          <p:nvPr/>
        </p:nvSpPr>
        <p:spPr>
          <a:xfrm>
            <a:off x="7863840" y="1335024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33.4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7"/>
          <p:cNvSpPr/>
          <p:nvPr/>
        </p:nvSpPr>
        <p:spPr>
          <a:xfrm>
            <a:off x="4389120" y="1536192"/>
            <a:ext cx="11430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7"/>
          <p:cNvSpPr/>
          <p:nvPr/>
        </p:nvSpPr>
        <p:spPr>
          <a:xfrm>
            <a:off x="4434840" y="1554480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7"/>
          <p:cNvSpPr/>
          <p:nvPr/>
        </p:nvSpPr>
        <p:spPr>
          <a:xfrm>
            <a:off x="5532120" y="1536192"/>
            <a:ext cx="11430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7"/>
          <p:cNvSpPr/>
          <p:nvPr/>
        </p:nvSpPr>
        <p:spPr>
          <a:xfrm>
            <a:off x="5577840" y="1554480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7"/>
          <p:cNvSpPr/>
          <p:nvPr/>
        </p:nvSpPr>
        <p:spPr>
          <a:xfrm>
            <a:off x="6675120" y="1536192"/>
            <a:ext cx="11430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7"/>
          <p:cNvSpPr/>
          <p:nvPr/>
        </p:nvSpPr>
        <p:spPr>
          <a:xfrm>
            <a:off x="6720840" y="1554480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7"/>
          <p:cNvSpPr/>
          <p:nvPr/>
        </p:nvSpPr>
        <p:spPr>
          <a:xfrm>
            <a:off x="7818120" y="1536192"/>
            <a:ext cx="11430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7"/>
          <p:cNvSpPr/>
          <p:nvPr/>
        </p:nvSpPr>
        <p:spPr>
          <a:xfrm>
            <a:off x="7863840" y="1554480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33.4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7"/>
          <p:cNvSpPr/>
          <p:nvPr/>
        </p:nvSpPr>
        <p:spPr>
          <a:xfrm>
            <a:off x="4389120" y="1755648"/>
            <a:ext cx="11430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7"/>
          <p:cNvSpPr/>
          <p:nvPr/>
        </p:nvSpPr>
        <p:spPr>
          <a:xfrm>
            <a:off x="4434840" y="1773936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7"/>
          <p:cNvSpPr/>
          <p:nvPr/>
        </p:nvSpPr>
        <p:spPr>
          <a:xfrm>
            <a:off x="5532120" y="1755648"/>
            <a:ext cx="11430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7"/>
          <p:cNvSpPr/>
          <p:nvPr/>
        </p:nvSpPr>
        <p:spPr>
          <a:xfrm>
            <a:off x="5577840" y="1773936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7"/>
          <p:cNvSpPr/>
          <p:nvPr/>
        </p:nvSpPr>
        <p:spPr>
          <a:xfrm>
            <a:off x="6675120" y="1755648"/>
            <a:ext cx="11430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7"/>
          <p:cNvSpPr/>
          <p:nvPr/>
        </p:nvSpPr>
        <p:spPr>
          <a:xfrm>
            <a:off x="6720840" y="1773936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7"/>
          <p:cNvSpPr/>
          <p:nvPr/>
        </p:nvSpPr>
        <p:spPr>
          <a:xfrm>
            <a:off x="7818120" y="1755648"/>
            <a:ext cx="11430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7"/>
          <p:cNvSpPr/>
          <p:nvPr/>
        </p:nvSpPr>
        <p:spPr>
          <a:xfrm>
            <a:off x="7863840" y="1773936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33.4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7"/>
          <p:cNvSpPr/>
          <p:nvPr/>
        </p:nvSpPr>
        <p:spPr>
          <a:xfrm>
            <a:off x="4389120" y="1975104"/>
            <a:ext cx="11430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7"/>
          <p:cNvSpPr/>
          <p:nvPr/>
        </p:nvSpPr>
        <p:spPr>
          <a:xfrm>
            <a:off x="4434840" y="1993392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7"/>
          <p:cNvSpPr/>
          <p:nvPr/>
        </p:nvSpPr>
        <p:spPr>
          <a:xfrm>
            <a:off x="5532120" y="1975104"/>
            <a:ext cx="11430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7"/>
          <p:cNvSpPr/>
          <p:nvPr/>
        </p:nvSpPr>
        <p:spPr>
          <a:xfrm>
            <a:off x="5577840" y="1993392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7"/>
          <p:cNvSpPr/>
          <p:nvPr/>
        </p:nvSpPr>
        <p:spPr>
          <a:xfrm>
            <a:off x="6675120" y="1975104"/>
            <a:ext cx="11430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7"/>
          <p:cNvSpPr/>
          <p:nvPr/>
        </p:nvSpPr>
        <p:spPr>
          <a:xfrm>
            <a:off x="6720840" y="1993392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7"/>
          <p:cNvSpPr/>
          <p:nvPr/>
        </p:nvSpPr>
        <p:spPr>
          <a:xfrm>
            <a:off x="7818120" y="1975104"/>
            <a:ext cx="11430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7"/>
          <p:cNvSpPr/>
          <p:nvPr/>
        </p:nvSpPr>
        <p:spPr>
          <a:xfrm>
            <a:off x="7863840" y="1993392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7"/>
          <p:cNvSpPr/>
          <p:nvPr/>
        </p:nvSpPr>
        <p:spPr>
          <a:xfrm>
            <a:off x="4389120" y="2194560"/>
            <a:ext cx="11430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7"/>
          <p:cNvSpPr/>
          <p:nvPr/>
        </p:nvSpPr>
        <p:spPr>
          <a:xfrm>
            <a:off x="4434840" y="2212848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7"/>
          <p:cNvSpPr/>
          <p:nvPr/>
        </p:nvSpPr>
        <p:spPr>
          <a:xfrm>
            <a:off x="5532120" y="2194560"/>
            <a:ext cx="11430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7"/>
          <p:cNvSpPr/>
          <p:nvPr/>
        </p:nvSpPr>
        <p:spPr>
          <a:xfrm>
            <a:off x="5577840" y="2212848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7"/>
          <p:cNvSpPr/>
          <p:nvPr/>
        </p:nvSpPr>
        <p:spPr>
          <a:xfrm>
            <a:off x="6675120" y="2194560"/>
            <a:ext cx="11430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7"/>
          <p:cNvSpPr/>
          <p:nvPr/>
        </p:nvSpPr>
        <p:spPr>
          <a:xfrm>
            <a:off x="6720840" y="2212848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7"/>
          <p:cNvSpPr/>
          <p:nvPr/>
        </p:nvSpPr>
        <p:spPr>
          <a:xfrm>
            <a:off x="7818120" y="2194560"/>
            <a:ext cx="11430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7"/>
          <p:cNvSpPr/>
          <p:nvPr/>
        </p:nvSpPr>
        <p:spPr>
          <a:xfrm>
            <a:off x="7863840" y="2212848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7"/>
          <p:cNvSpPr/>
          <p:nvPr/>
        </p:nvSpPr>
        <p:spPr>
          <a:xfrm>
            <a:off x="82300" y="2978575"/>
            <a:ext cx="5557200" cy="1645800"/>
          </a:xfrm>
          <a:prstGeom prst="rect">
            <a:avLst/>
          </a:prstGeom>
          <a:solidFill>
            <a:srgbClr val="1A2B3C"/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7"/>
          <p:cNvSpPr/>
          <p:nvPr/>
        </p:nvSpPr>
        <p:spPr>
          <a:xfrm>
            <a:off x="82301" y="2813750"/>
            <a:ext cx="5557200" cy="1830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7"/>
          <p:cNvSpPr/>
          <p:nvPr/>
        </p:nvSpPr>
        <p:spPr>
          <a:xfrm>
            <a:off x="128020" y="2852941"/>
            <a:ext cx="1280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7"/>
          <p:cNvSpPr/>
          <p:nvPr/>
        </p:nvSpPr>
        <p:spPr>
          <a:xfrm>
            <a:off x="82300" y="3096463"/>
            <a:ext cx="2958600" cy="14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left1 = pd.DataFrame(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{'key': ['apple','ball','apple','apple','ball','cat'],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 'value': range(6)})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right1 = pd.DataFrame(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{'group_val': [33.4, 5]},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index=['apple', 'ball']) </a:t>
            </a:r>
            <a:endParaRPr b="0" i="0" sz="880" u="none" cap="none" strike="noStrike">
              <a:solidFill>
                <a:srgbClr val="A8D8E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# &lt;-- key is the INDEX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7"/>
          <p:cNvSpPr/>
          <p:nvPr/>
        </p:nvSpPr>
        <p:spPr>
          <a:xfrm>
            <a:off x="5694345" y="2411791"/>
            <a:ext cx="54900" cy="2376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7"/>
          <p:cNvSpPr/>
          <p:nvPr/>
        </p:nvSpPr>
        <p:spPr>
          <a:xfrm>
            <a:off x="5803897" y="2423075"/>
            <a:ext cx="31389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OUTER — 'cat' has no match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7"/>
          <p:cNvSpPr/>
          <p:nvPr/>
        </p:nvSpPr>
        <p:spPr>
          <a:xfrm>
            <a:off x="5694349" y="2651750"/>
            <a:ext cx="519000" cy="21480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7"/>
          <p:cNvSpPr/>
          <p:nvPr/>
        </p:nvSpPr>
        <p:spPr>
          <a:xfrm>
            <a:off x="5781325" y="2670050"/>
            <a:ext cx="3861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7"/>
          <p:cNvSpPr/>
          <p:nvPr/>
        </p:nvSpPr>
        <p:spPr>
          <a:xfrm>
            <a:off x="6213348" y="2651760"/>
            <a:ext cx="909828" cy="214884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7"/>
          <p:cNvSpPr/>
          <p:nvPr/>
        </p:nvSpPr>
        <p:spPr>
          <a:xfrm>
            <a:off x="6259068" y="2670048"/>
            <a:ext cx="81838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7"/>
          <p:cNvSpPr/>
          <p:nvPr/>
        </p:nvSpPr>
        <p:spPr>
          <a:xfrm>
            <a:off x="7123176" y="2651760"/>
            <a:ext cx="909828" cy="214884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7"/>
          <p:cNvSpPr/>
          <p:nvPr/>
        </p:nvSpPr>
        <p:spPr>
          <a:xfrm>
            <a:off x="7168896" y="2670048"/>
            <a:ext cx="81838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7"/>
          <p:cNvSpPr/>
          <p:nvPr/>
        </p:nvSpPr>
        <p:spPr>
          <a:xfrm>
            <a:off x="8033004" y="2651760"/>
            <a:ext cx="909828" cy="214884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7"/>
          <p:cNvSpPr/>
          <p:nvPr/>
        </p:nvSpPr>
        <p:spPr>
          <a:xfrm>
            <a:off x="8078724" y="2670048"/>
            <a:ext cx="81838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group_val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7"/>
          <p:cNvSpPr/>
          <p:nvPr/>
        </p:nvSpPr>
        <p:spPr>
          <a:xfrm>
            <a:off x="5694349" y="2866650"/>
            <a:ext cx="519000" cy="2148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7"/>
          <p:cNvSpPr/>
          <p:nvPr/>
        </p:nvSpPr>
        <p:spPr>
          <a:xfrm>
            <a:off x="5735976" y="2884925"/>
            <a:ext cx="431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7"/>
          <p:cNvSpPr/>
          <p:nvPr/>
        </p:nvSpPr>
        <p:spPr>
          <a:xfrm>
            <a:off x="6213348" y="2866644"/>
            <a:ext cx="909828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7"/>
          <p:cNvSpPr/>
          <p:nvPr/>
        </p:nvSpPr>
        <p:spPr>
          <a:xfrm>
            <a:off x="6259068" y="2884932"/>
            <a:ext cx="81838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7"/>
          <p:cNvSpPr/>
          <p:nvPr/>
        </p:nvSpPr>
        <p:spPr>
          <a:xfrm>
            <a:off x="7123176" y="2866644"/>
            <a:ext cx="909828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7"/>
          <p:cNvSpPr/>
          <p:nvPr/>
        </p:nvSpPr>
        <p:spPr>
          <a:xfrm>
            <a:off x="7168896" y="2884932"/>
            <a:ext cx="81838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7"/>
          <p:cNvSpPr/>
          <p:nvPr/>
        </p:nvSpPr>
        <p:spPr>
          <a:xfrm>
            <a:off x="8033004" y="2866644"/>
            <a:ext cx="909828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7"/>
          <p:cNvSpPr/>
          <p:nvPr/>
        </p:nvSpPr>
        <p:spPr>
          <a:xfrm>
            <a:off x="8078724" y="2884932"/>
            <a:ext cx="81838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33.4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7"/>
          <p:cNvSpPr/>
          <p:nvPr/>
        </p:nvSpPr>
        <p:spPr>
          <a:xfrm>
            <a:off x="5694349" y="3081525"/>
            <a:ext cx="519000" cy="2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7"/>
          <p:cNvSpPr/>
          <p:nvPr/>
        </p:nvSpPr>
        <p:spPr>
          <a:xfrm>
            <a:off x="5735926" y="3099825"/>
            <a:ext cx="431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7"/>
          <p:cNvSpPr/>
          <p:nvPr/>
        </p:nvSpPr>
        <p:spPr>
          <a:xfrm>
            <a:off x="6213348" y="3081528"/>
            <a:ext cx="909828" cy="2148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7"/>
          <p:cNvSpPr/>
          <p:nvPr/>
        </p:nvSpPr>
        <p:spPr>
          <a:xfrm>
            <a:off x="6259068" y="3099816"/>
            <a:ext cx="81838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7"/>
          <p:cNvSpPr/>
          <p:nvPr/>
        </p:nvSpPr>
        <p:spPr>
          <a:xfrm>
            <a:off x="7123176" y="3081528"/>
            <a:ext cx="909828" cy="2148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7"/>
          <p:cNvSpPr/>
          <p:nvPr/>
        </p:nvSpPr>
        <p:spPr>
          <a:xfrm>
            <a:off x="7168896" y="3099816"/>
            <a:ext cx="81838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7"/>
          <p:cNvSpPr/>
          <p:nvPr/>
        </p:nvSpPr>
        <p:spPr>
          <a:xfrm>
            <a:off x="8033004" y="3081528"/>
            <a:ext cx="909828" cy="2148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7"/>
          <p:cNvSpPr/>
          <p:nvPr/>
        </p:nvSpPr>
        <p:spPr>
          <a:xfrm>
            <a:off x="8078724" y="3099816"/>
            <a:ext cx="81838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33.4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7"/>
          <p:cNvSpPr/>
          <p:nvPr/>
        </p:nvSpPr>
        <p:spPr>
          <a:xfrm>
            <a:off x="5694349" y="3296400"/>
            <a:ext cx="519000" cy="2148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7"/>
          <p:cNvSpPr/>
          <p:nvPr/>
        </p:nvSpPr>
        <p:spPr>
          <a:xfrm>
            <a:off x="5735926" y="3314700"/>
            <a:ext cx="431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7"/>
          <p:cNvSpPr/>
          <p:nvPr/>
        </p:nvSpPr>
        <p:spPr>
          <a:xfrm>
            <a:off x="6213348" y="3296412"/>
            <a:ext cx="909828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7"/>
          <p:cNvSpPr/>
          <p:nvPr/>
        </p:nvSpPr>
        <p:spPr>
          <a:xfrm>
            <a:off x="6259068" y="3314700"/>
            <a:ext cx="81838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7"/>
          <p:cNvSpPr/>
          <p:nvPr/>
        </p:nvSpPr>
        <p:spPr>
          <a:xfrm>
            <a:off x="7123176" y="3296412"/>
            <a:ext cx="909828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7"/>
          <p:cNvSpPr/>
          <p:nvPr/>
        </p:nvSpPr>
        <p:spPr>
          <a:xfrm>
            <a:off x="7168896" y="3314700"/>
            <a:ext cx="81838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7"/>
          <p:cNvSpPr/>
          <p:nvPr/>
        </p:nvSpPr>
        <p:spPr>
          <a:xfrm>
            <a:off x="8033004" y="3296412"/>
            <a:ext cx="909828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7"/>
          <p:cNvSpPr/>
          <p:nvPr/>
        </p:nvSpPr>
        <p:spPr>
          <a:xfrm>
            <a:off x="8078724" y="3314700"/>
            <a:ext cx="81838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33.4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7"/>
          <p:cNvSpPr/>
          <p:nvPr/>
        </p:nvSpPr>
        <p:spPr>
          <a:xfrm>
            <a:off x="5694349" y="3511300"/>
            <a:ext cx="519000" cy="2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7"/>
          <p:cNvSpPr/>
          <p:nvPr/>
        </p:nvSpPr>
        <p:spPr>
          <a:xfrm>
            <a:off x="5735926" y="3529575"/>
            <a:ext cx="431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7"/>
          <p:cNvSpPr/>
          <p:nvPr/>
        </p:nvSpPr>
        <p:spPr>
          <a:xfrm>
            <a:off x="6213348" y="3511296"/>
            <a:ext cx="909828" cy="2148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7"/>
          <p:cNvSpPr/>
          <p:nvPr/>
        </p:nvSpPr>
        <p:spPr>
          <a:xfrm>
            <a:off x="6259068" y="3529584"/>
            <a:ext cx="81838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7"/>
          <p:cNvSpPr/>
          <p:nvPr/>
        </p:nvSpPr>
        <p:spPr>
          <a:xfrm>
            <a:off x="7123176" y="3511296"/>
            <a:ext cx="909828" cy="2148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7"/>
          <p:cNvSpPr/>
          <p:nvPr/>
        </p:nvSpPr>
        <p:spPr>
          <a:xfrm>
            <a:off x="7168896" y="3529584"/>
            <a:ext cx="81838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7"/>
          <p:cNvSpPr/>
          <p:nvPr/>
        </p:nvSpPr>
        <p:spPr>
          <a:xfrm>
            <a:off x="8033004" y="3511296"/>
            <a:ext cx="909828" cy="2148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7"/>
          <p:cNvSpPr/>
          <p:nvPr/>
        </p:nvSpPr>
        <p:spPr>
          <a:xfrm>
            <a:off x="8078724" y="3529584"/>
            <a:ext cx="81838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7"/>
          <p:cNvSpPr/>
          <p:nvPr/>
        </p:nvSpPr>
        <p:spPr>
          <a:xfrm>
            <a:off x="5694349" y="3726175"/>
            <a:ext cx="519000" cy="2148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7"/>
          <p:cNvSpPr/>
          <p:nvPr/>
        </p:nvSpPr>
        <p:spPr>
          <a:xfrm>
            <a:off x="5735926" y="3744475"/>
            <a:ext cx="431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7"/>
          <p:cNvSpPr/>
          <p:nvPr/>
        </p:nvSpPr>
        <p:spPr>
          <a:xfrm>
            <a:off x="6213348" y="3726180"/>
            <a:ext cx="909828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7"/>
          <p:cNvSpPr/>
          <p:nvPr/>
        </p:nvSpPr>
        <p:spPr>
          <a:xfrm>
            <a:off x="6259068" y="3744468"/>
            <a:ext cx="81838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7"/>
          <p:cNvSpPr/>
          <p:nvPr/>
        </p:nvSpPr>
        <p:spPr>
          <a:xfrm>
            <a:off x="7123176" y="3726180"/>
            <a:ext cx="909828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7"/>
          <p:cNvSpPr/>
          <p:nvPr/>
        </p:nvSpPr>
        <p:spPr>
          <a:xfrm>
            <a:off x="7168896" y="3744468"/>
            <a:ext cx="81838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7"/>
          <p:cNvSpPr/>
          <p:nvPr/>
        </p:nvSpPr>
        <p:spPr>
          <a:xfrm>
            <a:off x="8033004" y="3726180"/>
            <a:ext cx="909828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7"/>
          <p:cNvSpPr/>
          <p:nvPr/>
        </p:nvSpPr>
        <p:spPr>
          <a:xfrm>
            <a:off x="8078724" y="3744468"/>
            <a:ext cx="81838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7"/>
          <p:cNvSpPr/>
          <p:nvPr/>
        </p:nvSpPr>
        <p:spPr>
          <a:xfrm>
            <a:off x="5694424" y="3941075"/>
            <a:ext cx="519000" cy="21480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7"/>
          <p:cNvSpPr/>
          <p:nvPr/>
        </p:nvSpPr>
        <p:spPr>
          <a:xfrm>
            <a:off x="5735926" y="3959350"/>
            <a:ext cx="431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7"/>
          <p:cNvSpPr/>
          <p:nvPr/>
        </p:nvSpPr>
        <p:spPr>
          <a:xfrm>
            <a:off x="6213348" y="3941064"/>
            <a:ext cx="909828" cy="214884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7"/>
          <p:cNvSpPr/>
          <p:nvPr/>
        </p:nvSpPr>
        <p:spPr>
          <a:xfrm>
            <a:off x="6259068" y="3959352"/>
            <a:ext cx="81838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cat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7"/>
          <p:cNvSpPr/>
          <p:nvPr/>
        </p:nvSpPr>
        <p:spPr>
          <a:xfrm>
            <a:off x="7123176" y="3941064"/>
            <a:ext cx="909828" cy="214884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7"/>
          <p:cNvSpPr/>
          <p:nvPr/>
        </p:nvSpPr>
        <p:spPr>
          <a:xfrm>
            <a:off x="7168896" y="3959352"/>
            <a:ext cx="81838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7"/>
          <p:cNvSpPr/>
          <p:nvPr/>
        </p:nvSpPr>
        <p:spPr>
          <a:xfrm>
            <a:off x="8033004" y="3941064"/>
            <a:ext cx="909828" cy="214884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7"/>
          <p:cNvSpPr/>
          <p:nvPr/>
        </p:nvSpPr>
        <p:spPr>
          <a:xfrm>
            <a:off x="8078724" y="3959352"/>
            <a:ext cx="81838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7"/>
          <p:cNvSpPr/>
          <p:nvPr/>
        </p:nvSpPr>
        <p:spPr>
          <a:xfrm>
            <a:off x="182868" y="4624470"/>
            <a:ext cx="6492300" cy="329100"/>
          </a:xfrm>
          <a:prstGeom prst="rect">
            <a:avLst/>
          </a:prstGeom>
          <a:solidFill>
            <a:srgbClr val="0D6E8A">
              <a:alpha val="10196"/>
            </a:srgbClr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7"/>
          <p:cNvSpPr/>
          <p:nvPr/>
        </p:nvSpPr>
        <p:spPr>
          <a:xfrm>
            <a:off x="128018" y="4624433"/>
            <a:ext cx="54900" cy="3291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7"/>
          <p:cNvSpPr/>
          <p:nvPr/>
        </p:nvSpPr>
        <p:spPr>
          <a:xfrm>
            <a:off x="283458" y="4642771"/>
            <a:ext cx="632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📌 left_index=True uses left DF's index; right_index=True uses right DF's index. Combine with left_on/right_on as needed.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7"/>
          <p:cNvSpPr/>
          <p:nvPr/>
        </p:nvSpPr>
        <p:spPr>
          <a:xfrm>
            <a:off x="6784850" y="4389127"/>
            <a:ext cx="2157900" cy="440400"/>
          </a:xfrm>
          <a:prstGeom prst="rect">
            <a:avLst/>
          </a:prstGeom>
          <a:solidFill>
            <a:srgbClr val="1A7A34">
              <a:alpha val="10196"/>
            </a:srgbClr>
          </a:solidFill>
          <a:ln cap="flat" cmpd="sng" w="15225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7"/>
          <p:cNvSpPr/>
          <p:nvPr/>
        </p:nvSpPr>
        <p:spPr>
          <a:xfrm>
            <a:off x="6784852" y="4389126"/>
            <a:ext cx="54900" cy="402300"/>
          </a:xfrm>
          <a:prstGeom prst="rect">
            <a:avLst/>
          </a:prstGeom>
          <a:solidFill>
            <a:srgbClr val="1A7A34"/>
          </a:solidFill>
          <a:ln cap="flat" cmpd="sng" w="12700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7"/>
          <p:cNvSpPr/>
          <p:nvPr/>
        </p:nvSpPr>
        <p:spPr>
          <a:xfrm>
            <a:off x="6894575" y="4425701"/>
            <a:ext cx="199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🌐 Use case: lookup tables where the index is the key (country code → population).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7"/>
          <p:cNvSpPr/>
          <p:nvPr/>
        </p:nvSpPr>
        <p:spPr>
          <a:xfrm>
            <a:off x="3042750" y="2884925"/>
            <a:ext cx="2692800" cy="14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Join: left column  &lt;-&gt;  right index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inner = pd.merge(left1, right1,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             left_on='key',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             right_index=True)          # INNER (default)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outer = pd.merge(left1, right1,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             left_on='key',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             right_index=True,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             how='outer')  </a:t>
            </a:r>
            <a:endParaRPr b="0" i="0" sz="880" u="none" cap="none" strike="noStrike">
              <a:solidFill>
                <a:srgbClr val="A8D8E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'cat' row: group_val=NaN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8"/>
          <p:cNvSpPr/>
          <p:nvPr/>
        </p:nvSpPr>
        <p:spPr>
          <a:xfrm>
            <a:off x="0" y="0"/>
            <a:ext cx="82296" cy="804672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8"/>
          <p:cNvSpPr/>
          <p:nvPr/>
        </p:nvSpPr>
        <p:spPr>
          <a:xfrm>
            <a:off x="182880" y="64008"/>
            <a:ext cx="8778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Reshaping — stack() : Wide → Long Format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8"/>
          <p:cNvSpPr/>
          <p:nvPr/>
        </p:nvSpPr>
        <p:spPr>
          <a:xfrm>
            <a:off x="182880" y="493776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C8E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FC8E0"/>
                </a:solidFill>
                <a:latin typeface="Calibri"/>
                <a:ea typeface="Calibri"/>
                <a:cs typeface="Calibri"/>
                <a:sym typeface="Calibri"/>
              </a:rPr>
              <a:t>Rotating column labels into the row index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8"/>
          <p:cNvSpPr/>
          <p:nvPr/>
        </p:nvSpPr>
        <p:spPr>
          <a:xfrm>
            <a:off x="201168" y="4910328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F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FC8"/>
                </a:solidFill>
                <a:latin typeface="Calibri"/>
                <a:ea typeface="Calibri"/>
                <a:cs typeface="Calibri"/>
                <a:sym typeface="Calibri"/>
              </a:rPr>
              <a:t>EDA | Module 2 | 23CSE422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8"/>
          <p:cNvSpPr/>
          <p:nvPr/>
        </p:nvSpPr>
        <p:spPr>
          <a:xfrm>
            <a:off x="201168" y="841248"/>
            <a:ext cx="54864" cy="237744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8"/>
          <p:cNvSpPr/>
          <p:nvPr/>
        </p:nvSpPr>
        <p:spPr>
          <a:xfrm>
            <a:off x="292608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dframe1  (WIDE — 3 rows × 5 columns)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8"/>
          <p:cNvSpPr/>
          <p:nvPr/>
        </p:nvSpPr>
        <p:spPr>
          <a:xfrm>
            <a:off x="201168" y="1097280"/>
            <a:ext cx="906780" cy="233172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8"/>
          <p:cNvSpPr/>
          <p:nvPr/>
        </p:nvSpPr>
        <p:spPr>
          <a:xfrm>
            <a:off x="246888" y="1115568"/>
            <a:ext cx="81534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8"/>
          <p:cNvSpPr/>
          <p:nvPr/>
        </p:nvSpPr>
        <p:spPr>
          <a:xfrm>
            <a:off x="1107948" y="1097280"/>
            <a:ext cx="906780" cy="233172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8"/>
          <p:cNvSpPr/>
          <p:nvPr/>
        </p:nvSpPr>
        <p:spPr>
          <a:xfrm>
            <a:off x="1153668" y="1115568"/>
            <a:ext cx="81534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Bergen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8"/>
          <p:cNvSpPr/>
          <p:nvPr/>
        </p:nvSpPr>
        <p:spPr>
          <a:xfrm>
            <a:off x="2014728" y="1097280"/>
            <a:ext cx="906780" cy="233172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8"/>
          <p:cNvSpPr/>
          <p:nvPr/>
        </p:nvSpPr>
        <p:spPr>
          <a:xfrm>
            <a:off x="2060448" y="1115568"/>
            <a:ext cx="81534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8"/>
          <p:cNvSpPr/>
          <p:nvPr/>
        </p:nvSpPr>
        <p:spPr>
          <a:xfrm>
            <a:off x="2921508" y="1097280"/>
            <a:ext cx="906780" cy="233172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8"/>
          <p:cNvSpPr/>
          <p:nvPr/>
        </p:nvSpPr>
        <p:spPr>
          <a:xfrm>
            <a:off x="2990078" y="1106418"/>
            <a:ext cx="8154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Trondheim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8"/>
          <p:cNvSpPr/>
          <p:nvPr/>
        </p:nvSpPr>
        <p:spPr>
          <a:xfrm>
            <a:off x="3828288" y="1097280"/>
            <a:ext cx="906780" cy="233172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8"/>
          <p:cNvSpPr/>
          <p:nvPr/>
        </p:nvSpPr>
        <p:spPr>
          <a:xfrm>
            <a:off x="3874008" y="1115568"/>
            <a:ext cx="81534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Stavanger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8"/>
          <p:cNvSpPr/>
          <p:nvPr/>
        </p:nvSpPr>
        <p:spPr>
          <a:xfrm>
            <a:off x="4735068" y="1097280"/>
            <a:ext cx="906780" cy="233172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8"/>
          <p:cNvSpPr/>
          <p:nvPr/>
        </p:nvSpPr>
        <p:spPr>
          <a:xfrm>
            <a:off x="4780788" y="1115568"/>
            <a:ext cx="81534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Kristiansand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8"/>
          <p:cNvSpPr/>
          <p:nvPr/>
        </p:nvSpPr>
        <p:spPr>
          <a:xfrm>
            <a:off x="201168" y="1330452"/>
            <a:ext cx="906780" cy="233172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8"/>
          <p:cNvSpPr/>
          <p:nvPr/>
        </p:nvSpPr>
        <p:spPr>
          <a:xfrm>
            <a:off x="246888" y="1348740"/>
            <a:ext cx="81534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Rainfall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8"/>
          <p:cNvSpPr/>
          <p:nvPr/>
        </p:nvSpPr>
        <p:spPr>
          <a:xfrm>
            <a:off x="1107948" y="1330452"/>
            <a:ext cx="906780" cy="233172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8"/>
          <p:cNvSpPr/>
          <p:nvPr/>
        </p:nvSpPr>
        <p:spPr>
          <a:xfrm>
            <a:off x="1153668" y="1348740"/>
            <a:ext cx="81534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8"/>
          <p:cNvSpPr/>
          <p:nvPr/>
        </p:nvSpPr>
        <p:spPr>
          <a:xfrm>
            <a:off x="2014728" y="1330452"/>
            <a:ext cx="906780" cy="233172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8"/>
          <p:cNvSpPr/>
          <p:nvPr/>
        </p:nvSpPr>
        <p:spPr>
          <a:xfrm>
            <a:off x="2060448" y="1348740"/>
            <a:ext cx="81534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8"/>
          <p:cNvSpPr/>
          <p:nvPr/>
        </p:nvSpPr>
        <p:spPr>
          <a:xfrm>
            <a:off x="2921508" y="1330452"/>
            <a:ext cx="906780" cy="233172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8"/>
          <p:cNvSpPr/>
          <p:nvPr/>
        </p:nvSpPr>
        <p:spPr>
          <a:xfrm>
            <a:off x="2967228" y="1348740"/>
            <a:ext cx="81534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8"/>
          <p:cNvSpPr/>
          <p:nvPr/>
        </p:nvSpPr>
        <p:spPr>
          <a:xfrm>
            <a:off x="3828288" y="1330452"/>
            <a:ext cx="906780" cy="233172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8"/>
          <p:cNvSpPr/>
          <p:nvPr/>
        </p:nvSpPr>
        <p:spPr>
          <a:xfrm>
            <a:off x="3874008" y="1348740"/>
            <a:ext cx="81534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8"/>
          <p:cNvSpPr/>
          <p:nvPr/>
        </p:nvSpPr>
        <p:spPr>
          <a:xfrm>
            <a:off x="4735068" y="1330452"/>
            <a:ext cx="906780" cy="233172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8"/>
          <p:cNvSpPr/>
          <p:nvPr/>
        </p:nvSpPr>
        <p:spPr>
          <a:xfrm>
            <a:off x="4780788" y="1348740"/>
            <a:ext cx="81534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8"/>
          <p:cNvSpPr/>
          <p:nvPr/>
        </p:nvSpPr>
        <p:spPr>
          <a:xfrm>
            <a:off x="201168" y="1563624"/>
            <a:ext cx="906780" cy="2331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8"/>
          <p:cNvSpPr/>
          <p:nvPr/>
        </p:nvSpPr>
        <p:spPr>
          <a:xfrm>
            <a:off x="246888" y="1581912"/>
            <a:ext cx="81534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Humidity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8"/>
          <p:cNvSpPr/>
          <p:nvPr/>
        </p:nvSpPr>
        <p:spPr>
          <a:xfrm>
            <a:off x="1107948" y="1563624"/>
            <a:ext cx="906780" cy="2331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8"/>
          <p:cNvSpPr/>
          <p:nvPr/>
        </p:nvSpPr>
        <p:spPr>
          <a:xfrm>
            <a:off x="1153668" y="1581912"/>
            <a:ext cx="81534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8"/>
          <p:cNvSpPr/>
          <p:nvPr/>
        </p:nvSpPr>
        <p:spPr>
          <a:xfrm>
            <a:off x="2014728" y="1563624"/>
            <a:ext cx="906780" cy="2331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8"/>
          <p:cNvSpPr/>
          <p:nvPr/>
        </p:nvSpPr>
        <p:spPr>
          <a:xfrm>
            <a:off x="2060448" y="1581912"/>
            <a:ext cx="81534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8"/>
          <p:cNvSpPr/>
          <p:nvPr/>
        </p:nvSpPr>
        <p:spPr>
          <a:xfrm>
            <a:off x="2921508" y="1563624"/>
            <a:ext cx="906780" cy="2331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8"/>
          <p:cNvSpPr/>
          <p:nvPr/>
        </p:nvSpPr>
        <p:spPr>
          <a:xfrm>
            <a:off x="2967228" y="1581912"/>
            <a:ext cx="81534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8"/>
          <p:cNvSpPr/>
          <p:nvPr/>
        </p:nvSpPr>
        <p:spPr>
          <a:xfrm>
            <a:off x="3828288" y="1563624"/>
            <a:ext cx="906780" cy="2331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8"/>
          <p:cNvSpPr/>
          <p:nvPr/>
        </p:nvSpPr>
        <p:spPr>
          <a:xfrm>
            <a:off x="3874008" y="1581912"/>
            <a:ext cx="81534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8"/>
          <p:cNvSpPr/>
          <p:nvPr/>
        </p:nvSpPr>
        <p:spPr>
          <a:xfrm>
            <a:off x="4735068" y="1563624"/>
            <a:ext cx="906780" cy="2331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8"/>
          <p:cNvSpPr/>
          <p:nvPr/>
        </p:nvSpPr>
        <p:spPr>
          <a:xfrm>
            <a:off x="4780788" y="1581912"/>
            <a:ext cx="81534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8"/>
          <p:cNvSpPr/>
          <p:nvPr/>
        </p:nvSpPr>
        <p:spPr>
          <a:xfrm>
            <a:off x="201168" y="1796796"/>
            <a:ext cx="906780" cy="233172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8"/>
          <p:cNvSpPr/>
          <p:nvPr/>
        </p:nvSpPr>
        <p:spPr>
          <a:xfrm>
            <a:off x="246888" y="1815084"/>
            <a:ext cx="81534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Wind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8"/>
          <p:cNvSpPr/>
          <p:nvPr/>
        </p:nvSpPr>
        <p:spPr>
          <a:xfrm>
            <a:off x="1107948" y="1796796"/>
            <a:ext cx="906780" cy="233172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8"/>
          <p:cNvSpPr/>
          <p:nvPr/>
        </p:nvSpPr>
        <p:spPr>
          <a:xfrm>
            <a:off x="1153668" y="1815084"/>
            <a:ext cx="81534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8"/>
          <p:cNvSpPr/>
          <p:nvPr/>
        </p:nvSpPr>
        <p:spPr>
          <a:xfrm>
            <a:off x="2014728" y="1796796"/>
            <a:ext cx="906780" cy="233172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8"/>
          <p:cNvSpPr/>
          <p:nvPr/>
        </p:nvSpPr>
        <p:spPr>
          <a:xfrm>
            <a:off x="2060448" y="1815084"/>
            <a:ext cx="81534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8"/>
          <p:cNvSpPr/>
          <p:nvPr/>
        </p:nvSpPr>
        <p:spPr>
          <a:xfrm>
            <a:off x="2921508" y="1796796"/>
            <a:ext cx="906780" cy="233172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8"/>
          <p:cNvSpPr/>
          <p:nvPr/>
        </p:nvSpPr>
        <p:spPr>
          <a:xfrm>
            <a:off x="2967228" y="1815084"/>
            <a:ext cx="81534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8"/>
          <p:cNvSpPr/>
          <p:nvPr/>
        </p:nvSpPr>
        <p:spPr>
          <a:xfrm>
            <a:off x="3828288" y="1796796"/>
            <a:ext cx="906780" cy="233172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8"/>
          <p:cNvSpPr/>
          <p:nvPr/>
        </p:nvSpPr>
        <p:spPr>
          <a:xfrm>
            <a:off x="3874008" y="1815084"/>
            <a:ext cx="81534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8"/>
          <p:cNvSpPr/>
          <p:nvPr/>
        </p:nvSpPr>
        <p:spPr>
          <a:xfrm>
            <a:off x="4735068" y="1796796"/>
            <a:ext cx="906780" cy="233172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8"/>
          <p:cNvSpPr/>
          <p:nvPr/>
        </p:nvSpPr>
        <p:spPr>
          <a:xfrm>
            <a:off x="4780788" y="1815084"/>
            <a:ext cx="81534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8"/>
          <p:cNvSpPr/>
          <p:nvPr/>
        </p:nvSpPr>
        <p:spPr>
          <a:xfrm>
            <a:off x="5715000" y="146304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8"/>
          <p:cNvSpPr/>
          <p:nvPr/>
        </p:nvSpPr>
        <p:spPr>
          <a:xfrm>
            <a:off x="5696712" y="1719072"/>
            <a:ext cx="4389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stack()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8"/>
          <p:cNvSpPr/>
          <p:nvPr/>
        </p:nvSpPr>
        <p:spPr>
          <a:xfrm>
            <a:off x="6199632" y="841248"/>
            <a:ext cx="54864" cy="237744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8"/>
          <p:cNvSpPr/>
          <p:nvPr/>
        </p:nvSpPr>
        <p:spPr>
          <a:xfrm>
            <a:off x="6291072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9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9E8A"/>
                </a:solidFill>
                <a:latin typeface="Calibri"/>
                <a:ea typeface="Calibri"/>
                <a:cs typeface="Calibri"/>
                <a:sym typeface="Calibri"/>
              </a:rPr>
              <a:t>stacked  (LONG — MultiIndex Series)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8"/>
          <p:cNvSpPr/>
          <p:nvPr/>
        </p:nvSpPr>
        <p:spPr>
          <a:xfrm>
            <a:off x="6199632" y="1097280"/>
            <a:ext cx="914400" cy="219456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8"/>
          <p:cNvSpPr/>
          <p:nvPr/>
        </p:nvSpPr>
        <p:spPr>
          <a:xfrm>
            <a:off x="6245352" y="111556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Level 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8"/>
          <p:cNvSpPr/>
          <p:nvPr/>
        </p:nvSpPr>
        <p:spPr>
          <a:xfrm>
            <a:off x="7114032" y="1097280"/>
            <a:ext cx="914400" cy="219456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8"/>
          <p:cNvSpPr/>
          <p:nvPr/>
        </p:nvSpPr>
        <p:spPr>
          <a:xfrm>
            <a:off x="7159752" y="111556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Level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8"/>
          <p:cNvSpPr/>
          <p:nvPr/>
        </p:nvSpPr>
        <p:spPr>
          <a:xfrm>
            <a:off x="8028432" y="1097280"/>
            <a:ext cx="914400" cy="219456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8"/>
          <p:cNvSpPr/>
          <p:nvPr/>
        </p:nvSpPr>
        <p:spPr>
          <a:xfrm>
            <a:off x="8074152" y="111556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8"/>
          <p:cNvSpPr/>
          <p:nvPr/>
        </p:nvSpPr>
        <p:spPr>
          <a:xfrm>
            <a:off x="6199632" y="1316736"/>
            <a:ext cx="9144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8"/>
          <p:cNvSpPr/>
          <p:nvPr/>
        </p:nvSpPr>
        <p:spPr>
          <a:xfrm>
            <a:off x="6245352" y="1335024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Rainfall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8"/>
          <p:cNvSpPr/>
          <p:nvPr/>
        </p:nvSpPr>
        <p:spPr>
          <a:xfrm>
            <a:off x="7114032" y="1316736"/>
            <a:ext cx="9144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8"/>
          <p:cNvSpPr/>
          <p:nvPr/>
        </p:nvSpPr>
        <p:spPr>
          <a:xfrm>
            <a:off x="7159752" y="1335024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Bergen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8"/>
          <p:cNvSpPr/>
          <p:nvPr/>
        </p:nvSpPr>
        <p:spPr>
          <a:xfrm>
            <a:off x="8028432" y="1316736"/>
            <a:ext cx="9144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8"/>
          <p:cNvSpPr/>
          <p:nvPr/>
        </p:nvSpPr>
        <p:spPr>
          <a:xfrm>
            <a:off x="8074152" y="1335024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8"/>
          <p:cNvSpPr/>
          <p:nvPr/>
        </p:nvSpPr>
        <p:spPr>
          <a:xfrm>
            <a:off x="6199632" y="1536192"/>
            <a:ext cx="9144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8"/>
          <p:cNvSpPr/>
          <p:nvPr/>
        </p:nvSpPr>
        <p:spPr>
          <a:xfrm>
            <a:off x="7114032" y="1536192"/>
            <a:ext cx="9144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8"/>
          <p:cNvSpPr/>
          <p:nvPr/>
        </p:nvSpPr>
        <p:spPr>
          <a:xfrm>
            <a:off x="7159752" y="155448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Oslo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8"/>
          <p:cNvSpPr/>
          <p:nvPr/>
        </p:nvSpPr>
        <p:spPr>
          <a:xfrm>
            <a:off x="8028432" y="1536192"/>
            <a:ext cx="9144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8"/>
          <p:cNvSpPr/>
          <p:nvPr/>
        </p:nvSpPr>
        <p:spPr>
          <a:xfrm>
            <a:off x="8074152" y="155448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8"/>
          <p:cNvSpPr/>
          <p:nvPr/>
        </p:nvSpPr>
        <p:spPr>
          <a:xfrm>
            <a:off x="6199632" y="1755648"/>
            <a:ext cx="914400" cy="2196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8"/>
          <p:cNvSpPr/>
          <p:nvPr/>
        </p:nvSpPr>
        <p:spPr>
          <a:xfrm>
            <a:off x="7114032" y="1755648"/>
            <a:ext cx="9144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8"/>
          <p:cNvSpPr/>
          <p:nvPr/>
        </p:nvSpPr>
        <p:spPr>
          <a:xfrm>
            <a:off x="7159752" y="177393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Trondheim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8"/>
          <p:cNvSpPr/>
          <p:nvPr/>
        </p:nvSpPr>
        <p:spPr>
          <a:xfrm>
            <a:off x="8028432" y="1755648"/>
            <a:ext cx="9144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8"/>
          <p:cNvSpPr/>
          <p:nvPr/>
        </p:nvSpPr>
        <p:spPr>
          <a:xfrm>
            <a:off x="8074152" y="177393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8"/>
          <p:cNvSpPr/>
          <p:nvPr/>
        </p:nvSpPr>
        <p:spPr>
          <a:xfrm>
            <a:off x="6199632" y="1975104"/>
            <a:ext cx="9144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8"/>
          <p:cNvSpPr/>
          <p:nvPr/>
        </p:nvSpPr>
        <p:spPr>
          <a:xfrm>
            <a:off x="6245352" y="19933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Humidity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8"/>
          <p:cNvSpPr/>
          <p:nvPr/>
        </p:nvSpPr>
        <p:spPr>
          <a:xfrm>
            <a:off x="7114032" y="1975104"/>
            <a:ext cx="9144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8"/>
          <p:cNvSpPr/>
          <p:nvPr/>
        </p:nvSpPr>
        <p:spPr>
          <a:xfrm>
            <a:off x="7159752" y="19933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Bergen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8"/>
          <p:cNvSpPr/>
          <p:nvPr/>
        </p:nvSpPr>
        <p:spPr>
          <a:xfrm>
            <a:off x="8028432" y="1975104"/>
            <a:ext cx="9144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8"/>
          <p:cNvSpPr/>
          <p:nvPr/>
        </p:nvSpPr>
        <p:spPr>
          <a:xfrm>
            <a:off x="8074152" y="19933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8"/>
          <p:cNvSpPr/>
          <p:nvPr/>
        </p:nvSpPr>
        <p:spPr>
          <a:xfrm>
            <a:off x="6199632" y="2194560"/>
            <a:ext cx="9144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8"/>
          <p:cNvSpPr/>
          <p:nvPr/>
        </p:nvSpPr>
        <p:spPr>
          <a:xfrm>
            <a:off x="7114032" y="2194560"/>
            <a:ext cx="9144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8"/>
          <p:cNvSpPr/>
          <p:nvPr/>
        </p:nvSpPr>
        <p:spPr>
          <a:xfrm>
            <a:off x="7159752" y="221284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Oslo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8"/>
          <p:cNvSpPr/>
          <p:nvPr/>
        </p:nvSpPr>
        <p:spPr>
          <a:xfrm>
            <a:off x="8028432" y="2194560"/>
            <a:ext cx="9144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8"/>
          <p:cNvSpPr/>
          <p:nvPr/>
        </p:nvSpPr>
        <p:spPr>
          <a:xfrm>
            <a:off x="8074152" y="221284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8"/>
          <p:cNvSpPr/>
          <p:nvPr/>
        </p:nvSpPr>
        <p:spPr>
          <a:xfrm>
            <a:off x="6199632" y="2414016"/>
            <a:ext cx="9144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8"/>
          <p:cNvSpPr/>
          <p:nvPr/>
        </p:nvSpPr>
        <p:spPr>
          <a:xfrm>
            <a:off x="7114032" y="2414016"/>
            <a:ext cx="9144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8"/>
          <p:cNvSpPr/>
          <p:nvPr/>
        </p:nvSpPr>
        <p:spPr>
          <a:xfrm>
            <a:off x="7159752" y="2432304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Trondheim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8"/>
          <p:cNvSpPr/>
          <p:nvPr/>
        </p:nvSpPr>
        <p:spPr>
          <a:xfrm>
            <a:off x="8028432" y="2414016"/>
            <a:ext cx="9144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8"/>
          <p:cNvSpPr/>
          <p:nvPr/>
        </p:nvSpPr>
        <p:spPr>
          <a:xfrm>
            <a:off x="8074152" y="2432304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8"/>
          <p:cNvSpPr/>
          <p:nvPr/>
        </p:nvSpPr>
        <p:spPr>
          <a:xfrm>
            <a:off x="6199632" y="2633472"/>
            <a:ext cx="9144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8"/>
          <p:cNvSpPr/>
          <p:nvPr/>
        </p:nvSpPr>
        <p:spPr>
          <a:xfrm>
            <a:off x="6245352" y="265176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Wind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8"/>
          <p:cNvSpPr/>
          <p:nvPr/>
        </p:nvSpPr>
        <p:spPr>
          <a:xfrm>
            <a:off x="7114032" y="2633472"/>
            <a:ext cx="9144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8"/>
          <p:cNvSpPr/>
          <p:nvPr/>
        </p:nvSpPr>
        <p:spPr>
          <a:xfrm>
            <a:off x="7159752" y="265176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Bergen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8"/>
          <p:cNvSpPr/>
          <p:nvPr/>
        </p:nvSpPr>
        <p:spPr>
          <a:xfrm>
            <a:off x="8028432" y="2633472"/>
            <a:ext cx="9144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8"/>
          <p:cNvSpPr/>
          <p:nvPr/>
        </p:nvSpPr>
        <p:spPr>
          <a:xfrm>
            <a:off x="8074152" y="265176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8"/>
          <p:cNvSpPr/>
          <p:nvPr/>
        </p:nvSpPr>
        <p:spPr>
          <a:xfrm>
            <a:off x="6199632" y="2852928"/>
            <a:ext cx="9144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8"/>
          <p:cNvSpPr/>
          <p:nvPr/>
        </p:nvSpPr>
        <p:spPr>
          <a:xfrm>
            <a:off x="7114032" y="2852928"/>
            <a:ext cx="9144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8"/>
          <p:cNvSpPr/>
          <p:nvPr/>
        </p:nvSpPr>
        <p:spPr>
          <a:xfrm>
            <a:off x="7159752" y="28712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Oslo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8"/>
          <p:cNvSpPr/>
          <p:nvPr/>
        </p:nvSpPr>
        <p:spPr>
          <a:xfrm>
            <a:off x="8028432" y="2852928"/>
            <a:ext cx="9144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8"/>
          <p:cNvSpPr/>
          <p:nvPr/>
        </p:nvSpPr>
        <p:spPr>
          <a:xfrm>
            <a:off x="8074152" y="28712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8"/>
          <p:cNvSpPr/>
          <p:nvPr/>
        </p:nvSpPr>
        <p:spPr>
          <a:xfrm>
            <a:off x="6199632" y="3072384"/>
            <a:ext cx="9144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8"/>
          <p:cNvSpPr/>
          <p:nvPr/>
        </p:nvSpPr>
        <p:spPr>
          <a:xfrm>
            <a:off x="6245352" y="309067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8"/>
          <p:cNvSpPr/>
          <p:nvPr/>
        </p:nvSpPr>
        <p:spPr>
          <a:xfrm>
            <a:off x="7114032" y="3072384"/>
            <a:ext cx="9144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8"/>
          <p:cNvSpPr/>
          <p:nvPr/>
        </p:nvSpPr>
        <p:spPr>
          <a:xfrm>
            <a:off x="7159752" y="309067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8"/>
          <p:cNvSpPr/>
          <p:nvPr/>
        </p:nvSpPr>
        <p:spPr>
          <a:xfrm>
            <a:off x="8028432" y="3072384"/>
            <a:ext cx="9144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8"/>
          <p:cNvSpPr/>
          <p:nvPr/>
        </p:nvSpPr>
        <p:spPr>
          <a:xfrm>
            <a:off x="8074152" y="309067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8"/>
          <p:cNvSpPr/>
          <p:nvPr/>
        </p:nvSpPr>
        <p:spPr>
          <a:xfrm>
            <a:off x="201150" y="3468874"/>
            <a:ext cx="8741700" cy="1111500"/>
          </a:xfrm>
          <a:prstGeom prst="rect">
            <a:avLst/>
          </a:prstGeom>
          <a:solidFill>
            <a:srgbClr val="1A2B3C"/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8"/>
          <p:cNvSpPr/>
          <p:nvPr/>
        </p:nvSpPr>
        <p:spPr>
          <a:xfrm>
            <a:off x="201168" y="3282668"/>
            <a:ext cx="8741700" cy="1830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8"/>
          <p:cNvSpPr/>
          <p:nvPr/>
        </p:nvSpPr>
        <p:spPr>
          <a:xfrm>
            <a:off x="246895" y="3285218"/>
            <a:ext cx="1280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8"/>
          <p:cNvSpPr/>
          <p:nvPr/>
        </p:nvSpPr>
        <p:spPr>
          <a:xfrm>
            <a:off x="256025" y="3538050"/>
            <a:ext cx="4103400" cy="9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import numpy as np, pandas as pd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data    = np.arange(15).reshape((3, 5))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index   = ['Rainfall', 'Humidity', 'Wind']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cols    = ['Bergen','Oslo','Trondheim','Stavanger','Kristiansand']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dframe1 = pd.DataFrame(data, index=index, columns=cols)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8"/>
          <p:cNvSpPr/>
          <p:nvPr/>
        </p:nvSpPr>
        <p:spPr>
          <a:xfrm>
            <a:off x="164568" y="4571931"/>
            <a:ext cx="5998500" cy="329100"/>
          </a:xfrm>
          <a:prstGeom prst="rect">
            <a:avLst/>
          </a:prstGeom>
          <a:solidFill>
            <a:srgbClr val="0D6E8A">
              <a:alpha val="10196"/>
            </a:srgbClr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8"/>
          <p:cNvSpPr/>
          <p:nvPr/>
        </p:nvSpPr>
        <p:spPr>
          <a:xfrm>
            <a:off x="128018" y="4571881"/>
            <a:ext cx="54900" cy="3291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8"/>
          <p:cNvSpPr/>
          <p:nvPr/>
        </p:nvSpPr>
        <p:spPr>
          <a:xfrm>
            <a:off x="246896" y="4608569"/>
            <a:ext cx="5833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📌 stack() compresses 15 separate column values into a single Series with 2-level MultiIndex (row label + column name).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8"/>
          <p:cNvSpPr/>
          <p:nvPr/>
        </p:nvSpPr>
        <p:spPr>
          <a:xfrm>
            <a:off x="6309423" y="4608568"/>
            <a:ext cx="2633400" cy="329100"/>
          </a:xfrm>
          <a:prstGeom prst="rect">
            <a:avLst/>
          </a:prstGeom>
          <a:solidFill>
            <a:srgbClr val="1A7A34">
              <a:alpha val="10196"/>
            </a:srgbClr>
          </a:solidFill>
          <a:ln cap="flat" cmpd="sng" w="15225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8"/>
          <p:cNvSpPr/>
          <p:nvPr/>
        </p:nvSpPr>
        <p:spPr>
          <a:xfrm>
            <a:off x="6249935" y="4608568"/>
            <a:ext cx="54900" cy="329100"/>
          </a:xfrm>
          <a:prstGeom prst="rect">
            <a:avLst/>
          </a:prstGeom>
          <a:solidFill>
            <a:srgbClr val="1A7A34"/>
          </a:solidFill>
          <a:ln cap="flat" cmpd="sng" w="12700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8"/>
          <p:cNvSpPr/>
          <p:nvPr/>
        </p:nvSpPr>
        <p:spPr>
          <a:xfrm>
            <a:off x="6391638" y="4650069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🌐 Long format is required for seaborn groupby plots and pandas .groupby() aggregations.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8"/>
          <p:cNvSpPr/>
          <p:nvPr/>
        </p:nvSpPr>
        <p:spPr>
          <a:xfrm>
            <a:off x="4644475" y="3347187"/>
            <a:ext cx="41034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stack(): columns → MultiIndex rows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stacked = dframe1.stack()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print(type(stacked))   # &lt;class 'pandas.core.series.Series'&gt;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print(stacked)   # MultiIndex (15 entries)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Reverse: unstack() restores original DataFrame exactly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dframe1_restored = stacked.unstack()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9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9"/>
          <p:cNvSpPr/>
          <p:nvPr/>
        </p:nvSpPr>
        <p:spPr>
          <a:xfrm>
            <a:off x="0" y="0"/>
            <a:ext cx="82296" cy="804672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9"/>
          <p:cNvSpPr/>
          <p:nvPr/>
        </p:nvSpPr>
        <p:spPr>
          <a:xfrm>
            <a:off x="182880" y="64008"/>
            <a:ext cx="8778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Reshaping — unstack() : Long → Wide  +  Handling NaN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9"/>
          <p:cNvSpPr/>
          <p:nvPr/>
        </p:nvSpPr>
        <p:spPr>
          <a:xfrm>
            <a:off x="182880" y="493776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C8E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FC8E0"/>
                </a:solidFill>
                <a:latin typeface="Calibri"/>
                <a:ea typeface="Calibri"/>
                <a:cs typeface="Calibri"/>
                <a:sym typeface="Calibri"/>
              </a:rPr>
              <a:t>NaN appears for index combinations that don't exist in the source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9"/>
          <p:cNvSpPr/>
          <p:nvPr/>
        </p:nvSpPr>
        <p:spPr>
          <a:xfrm>
            <a:off x="201168" y="4910328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F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FC8"/>
                </a:solidFill>
                <a:latin typeface="Calibri"/>
                <a:ea typeface="Calibri"/>
                <a:cs typeface="Calibri"/>
                <a:sym typeface="Calibri"/>
              </a:rPr>
              <a:t>EDA | Module 2 | 23CSE422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9"/>
          <p:cNvSpPr/>
          <p:nvPr/>
        </p:nvSpPr>
        <p:spPr>
          <a:xfrm>
            <a:off x="201168" y="841248"/>
            <a:ext cx="54864" cy="237744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9"/>
          <p:cNvSpPr/>
          <p:nvPr/>
        </p:nvSpPr>
        <p:spPr>
          <a:xfrm>
            <a:off x="292608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Two Series → concat → MultiIndex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9"/>
          <p:cNvSpPr/>
          <p:nvPr/>
        </p:nvSpPr>
        <p:spPr>
          <a:xfrm>
            <a:off x="201168" y="1097280"/>
            <a:ext cx="4078224" cy="1316736"/>
          </a:xfrm>
          <a:prstGeom prst="rect">
            <a:avLst/>
          </a:prstGeom>
          <a:solidFill>
            <a:srgbClr val="1A2B3C"/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9"/>
          <p:cNvSpPr/>
          <p:nvPr/>
        </p:nvSpPr>
        <p:spPr>
          <a:xfrm>
            <a:off x="201168" y="1097280"/>
            <a:ext cx="4078224" cy="18288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9"/>
          <p:cNvSpPr/>
          <p:nvPr/>
        </p:nvSpPr>
        <p:spPr>
          <a:xfrm>
            <a:off x="274320" y="1115568"/>
            <a:ext cx="12801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9"/>
          <p:cNvSpPr/>
          <p:nvPr/>
        </p:nvSpPr>
        <p:spPr>
          <a:xfrm>
            <a:off x="292608" y="1307592"/>
            <a:ext cx="3895344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series1 = pd.Series([0,111,222,333],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        index=['zeros','ones','twos','threes'])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series2 = pd.Series([444,555,666],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        index=['fours','fives','sixes'])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frame2 = pd.concat([series1, series2],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               keys=['Number1','Number2'])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9"/>
          <p:cNvSpPr/>
          <p:nvPr/>
        </p:nvSpPr>
        <p:spPr>
          <a:xfrm>
            <a:off x="201168" y="2468880"/>
            <a:ext cx="54864" cy="237744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9"/>
          <p:cNvSpPr/>
          <p:nvPr/>
        </p:nvSpPr>
        <p:spPr>
          <a:xfrm>
            <a:off x="292608" y="2468880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frame2  (long/stacked form)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9"/>
          <p:cNvSpPr/>
          <p:nvPr/>
        </p:nvSpPr>
        <p:spPr>
          <a:xfrm>
            <a:off x="201168" y="2706624"/>
            <a:ext cx="798576" cy="205740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9"/>
          <p:cNvSpPr/>
          <p:nvPr/>
        </p:nvSpPr>
        <p:spPr>
          <a:xfrm>
            <a:off x="246888" y="2724912"/>
            <a:ext cx="707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9"/>
          <p:cNvSpPr/>
          <p:nvPr/>
        </p:nvSpPr>
        <p:spPr>
          <a:xfrm>
            <a:off x="999744" y="2706624"/>
            <a:ext cx="798576" cy="205740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9"/>
          <p:cNvSpPr/>
          <p:nvPr/>
        </p:nvSpPr>
        <p:spPr>
          <a:xfrm>
            <a:off x="1045464" y="2724912"/>
            <a:ext cx="707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9"/>
          <p:cNvSpPr/>
          <p:nvPr/>
        </p:nvSpPr>
        <p:spPr>
          <a:xfrm>
            <a:off x="1798320" y="2706624"/>
            <a:ext cx="798576" cy="205740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9"/>
          <p:cNvSpPr/>
          <p:nvPr/>
        </p:nvSpPr>
        <p:spPr>
          <a:xfrm>
            <a:off x="1844040" y="2724912"/>
            <a:ext cx="707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9"/>
          <p:cNvSpPr/>
          <p:nvPr/>
        </p:nvSpPr>
        <p:spPr>
          <a:xfrm>
            <a:off x="201168" y="2912364"/>
            <a:ext cx="798576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9"/>
          <p:cNvSpPr/>
          <p:nvPr/>
        </p:nvSpPr>
        <p:spPr>
          <a:xfrm>
            <a:off x="246888" y="2930652"/>
            <a:ext cx="707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Number1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9"/>
          <p:cNvSpPr/>
          <p:nvPr/>
        </p:nvSpPr>
        <p:spPr>
          <a:xfrm>
            <a:off x="999744" y="2912364"/>
            <a:ext cx="798576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9"/>
          <p:cNvSpPr/>
          <p:nvPr/>
        </p:nvSpPr>
        <p:spPr>
          <a:xfrm>
            <a:off x="1045464" y="2930652"/>
            <a:ext cx="707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zeros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9"/>
          <p:cNvSpPr/>
          <p:nvPr/>
        </p:nvSpPr>
        <p:spPr>
          <a:xfrm>
            <a:off x="1798320" y="2912364"/>
            <a:ext cx="798576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9"/>
          <p:cNvSpPr/>
          <p:nvPr/>
        </p:nvSpPr>
        <p:spPr>
          <a:xfrm>
            <a:off x="1844040" y="2930652"/>
            <a:ext cx="707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9"/>
          <p:cNvSpPr/>
          <p:nvPr/>
        </p:nvSpPr>
        <p:spPr>
          <a:xfrm>
            <a:off x="201168" y="3118104"/>
            <a:ext cx="798576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9"/>
          <p:cNvSpPr/>
          <p:nvPr/>
        </p:nvSpPr>
        <p:spPr>
          <a:xfrm>
            <a:off x="246888" y="3136392"/>
            <a:ext cx="707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Number1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9"/>
          <p:cNvSpPr/>
          <p:nvPr/>
        </p:nvSpPr>
        <p:spPr>
          <a:xfrm>
            <a:off x="999744" y="3118104"/>
            <a:ext cx="798576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9"/>
          <p:cNvSpPr/>
          <p:nvPr/>
        </p:nvSpPr>
        <p:spPr>
          <a:xfrm>
            <a:off x="1045464" y="3136392"/>
            <a:ext cx="707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9"/>
          <p:cNvSpPr/>
          <p:nvPr/>
        </p:nvSpPr>
        <p:spPr>
          <a:xfrm>
            <a:off x="1798320" y="3118104"/>
            <a:ext cx="798576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9"/>
          <p:cNvSpPr/>
          <p:nvPr/>
        </p:nvSpPr>
        <p:spPr>
          <a:xfrm>
            <a:off x="1844040" y="3136392"/>
            <a:ext cx="707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9"/>
          <p:cNvSpPr/>
          <p:nvPr/>
        </p:nvSpPr>
        <p:spPr>
          <a:xfrm>
            <a:off x="201168" y="3323844"/>
            <a:ext cx="798576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9"/>
          <p:cNvSpPr/>
          <p:nvPr/>
        </p:nvSpPr>
        <p:spPr>
          <a:xfrm>
            <a:off x="246888" y="3342132"/>
            <a:ext cx="707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Number1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9"/>
          <p:cNvSpPr/>
          <p:nvPr/>
        </p:nvSpPr>
        <p:spPr>
          <a:xfrm>
            <a:off x="999744" y="3323844"/>
            <a:ext cx="798576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9"/>
          <p:cNvSpPr/>
          <p:nvPr/>
        </p:nvSpPr>
        <p:spPr>
          <a:xfrm>
            <a:off x="1045464" y="3342132"/>
            <a:ext cx="707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twos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9"/>
          <p:cNvSpPr/>
          <p:nvPr/>
        </p:nvSpPr>
        <p:spPr>
          <a:xfrm>
            <a:off x="1798320" y="3323844"/>
            <a:ext cx="798576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9"/>
          <p:cNvSpPr/>
          <p:nvPr/>
        </p:nvSpPr>
        <p:spPr>
          <a:xfrm>
            <a:off x="1844040" y="3342132"/>
            <a:ext cx="707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9"/>
          <p:cNvSpPr/>
          <p:nvPr/>
        </p:nvSpPr>
        <p:spPr>
          <a:xfrm>
            <a:off x="201168" y="3529584"/>
            <a:ext cx="798576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9"/>
          <p:cNvSpPr/>
          <p:nvPr/>
        </p:nvSpPr>
        <p:spPr>
          <a:xfrm>
            <a:off x="246888" y="3547872"/>
            <a:ext cx="707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Number1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9"/>
          <p:cNvSpPr/>
          <p:nvPr/>
        </p:nvSpPr>
        <p:spPr>
          <a:xfrm>
            <a:off x="999744" y="3529584"/>
            <a:ext cx="798576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9"/>
          <p:cNvSpPr/>
          <p:nvPr/>
        </p:nvSpPr>
        <p:spPr>
          <a:xfrm>
            <a:off x="1045464" y="3547872"/>
            <a:ext cx="707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threes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9"/>
          <p:cNvSpPr/>
          <p:nvPr/>
        </p:nvSpPr>
        <p:spPr>
          <a:xfrm>
            <a:off x="1798320" y="3529584"/>
            <a:ext cx="798576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9"/>
          <p:cNvSpPr/>
          <p:nvPr/>
        </p:nvSpPr>
        <p:spPr>
          <a:xfrm>
            <a:off x="1844040" y="3547872"/>
            <a:ext cx="707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333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9"/>
          <p:cNvSpPr/>
          <p:nvPr/>
        </p:nvSpPr>
        <p:spPr>
          <a:xfrm>
            <a:off x="201168" y="3735324"/>
            <a:ext cx="798576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9"/>
          <p:cNvSpPr/>
          <p:nvPr/>
        </p:nvSpPr>
        <p:spPr>
          <a:xfrm>
            <a:off x="246888" y="3753612"/>
            <a:ext cx="707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Number2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9"/>
          <p:cNvSpPr/>
          <p:nvPr/>
        </p:nvSpPr>
        <p:spPr>
          <a:xfrm>
            <a:off x="999744" y="3735324"/>
            <a:ext cx="798576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9"/>
          <p:cNvSpPr/>
          <p:nvPr/>
        </p:nvSpPr>
        <p:spPr>
          <a:xfrm>
            <a:off x="1045464" y="3753612"/>
            <a:ext cx="707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fours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9"/>
          <p:cNvSpPr/>
          <p:nvPr/>
        </p:nvSpPr>
        <p:spPr>
          <a:xfrm>
            <a:off x="1798320" y="3735324"/>
            <a:ext cx="798576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9"/>
          <p:cNvSpPr/>
          <p:nvPr/>
        </p:nvSpPr>
        <p:spPr>
          <a:xfrm>
            <a:off x="1844040" y="3753612"/>
            <a:ext cx="707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444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9"/>
          <p:cNvSpPr/>
          <p:nvPr/>
        </p:nvSpPr>
        <p:spPr>
          <a:xfrm>
            <a:off x="201168" y="3941064"/>
            <a:ext cx="798576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9"/>
          <p:cNvSpPr/>
          <p:nvPr/>
        </p:nvSpPr>
        <p:spPr>
          <a:xfrm>
            <a:off x="246888" y="3959352"/>
            <a:ext cx="707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Number2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9"/>
          <p:cNvSpPr/>
          <p:nvPr/>
        </p:nvSpPr>
        <p:spPr>
          <a:xfrm>
            <a:off x="999744" y="3941064"/>
            <a:ext cx="798576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9"/>
          <p:cNvSpPr/>
          <p:nvPr/>
        </p:nvSpPr>
        <p:spPr>
          <a:xfrm>
            <a:off x="1045464" y="3959352"/>
            <a:ext cx="707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fives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9"/>
          <p:cNvSpPr/>
          <p:nvPr/>
        </p:nvSpPr>
        <p:spPr>
          <a:xfrm>
            <a:off x="1798320" y="3941064"/>
            <a:ext cx="798576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9"/>
          <p:cNvSpPr/>
          <p:nvPr/>
        </p:nvSpPr>
        <p:spPr>
          <a:xfrm>
            <a:off x="1844040" y="3959352"/>
            <a:ext cx="707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555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9"/>
          <p:cNvSpPr/>
          <p:nvPr/>
        </p:nvSpPr>
        <p:spPr>
          <a:xfrm>
            <a:off x="201168" y="4146804"/>
            <a:ext cx="798576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9"/>
          <p:cNvSpPr/>
          <p:nvPr/>
        </p:nvSpPr>
        <p:spPr>
          <a:xfrm>
            <a:off x="246888" y="4165092"/>
            <a:ext cx="707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Number2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9"/>
          <p:cNvSpPr/>
          <p:nvPr/>
        </p:nvSpPr>
        <p:spPr>
          <a:xfrm>
            <a:off x="999744" y="4146804"/>
            <a:ext cx="798576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9"/>
          <p:cNvSpPr/>
          <p:nvPr/>
        </p:nvSpPr>
        <p:spPr>
          <a:xfrm>
            <a:off x="1045464" y="4165092"/>
            <a:ext cx="707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sixes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9"/>
          <p:cNvSpPr/>
          <p:nvPr/>
        </p:nvSpPr>
        <p:spPr>
          <a:xfrm>
            <a:off x="1798320" y="4146804"/>
            <a:ext cx="798576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9"/>
          <p:cNvSpPr/>
          <p:nvPr/>
        </p:nvSpPr>
        <p:spPr>
          <a:xfrm>
            <a:off x="1844040" y="4165092"/>
            <a:ext cx="707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666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9"/>
          <p:cNvSpPr/>
          <p:nvPr/>
        </p:nvSpPr>
        <p:spPr>
          <a:xfrm>
            <a:off x="2706624" y="3346704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9"/>
          <p:cNvSpPr/>
          <p:nvPr/>
        </p:nvSpPr>
        <p:spPr>
          <a:xfrm>
            <a:off x="2688336" y="3602736"/>
            <a:ext cx="4389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unstack()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9"/>
          <p:cNvSpPr/>
          <p:nvPr/>
        </p:nvSpPr>
        <p:spPr>
          <a:xfrm>
            <a:off x="3163824" y="2468880"/>
            <a:ext cx="54864" cy="237744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9"/>
          <p:cNvSpPr/>
          <p:nvPr/>
        </p:nvSpPr>
        <p:spPr>
          <a:xfrm>
            <a:off x="3255264" y="2468880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9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9E8A"/>
                </a:solidFill>
                <a:latin typeface="Calibri"/>
                <a:ea typeface="Calibri"/>
                <a:cs typeface="Calibri"/>
                <a:sym typeface="Calibri"/>
              </a:rPr>
              <a:t>frame2.unstack()  →  NaN for missing combos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9"/>
          <p:cNvSpPr/>
          <p:nvPr/>
        </p:nvSpPr>
        <p:spPr>
          <a:xfrm>
            <a:off x="3163824" y="2706624"/>
            <a:ext cx="722376" cy="224028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9"/>
          <p:cNvSpPr/>
          <p:nvPr/>
        </p:nvSpPr>
        <p:spPr>
          <a:xfrm>
            <a:off x="3209544" y="2724912"/>
            <a:ext cx="630936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9"/>
          <p:cNvSpPr/>
          <p:nvPr/>
        </p:nvSpPr>
        <p:spPr>
          <a:xfrm>
            <a:off x="3886200" y="2706624"/>
            <a:ext cx="722376" cy="224028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p9"/>
          <p:cNvSpPr/>
          <p:nvPr/>
        </p:nvSpPr>
        <p:spPr>
          <a:xfrm>
            <a:off x="3931920" y="2724912"/>
            <a:ext cx="630936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fives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9"/>
          <p:cNvSpPr/>
          <p:nvPr/>
        </p:nvSpPr>
        <p:spPr>
          <a:xfrm>
            <a:off x="4608576" y="2706624"/>
            <a:ext cx="722376" cy="224028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9"/>
          <p:cNvSpPr/>
          <p:nvPr/>
        </p:nvSpPr>
        <p:spPr>
          <a:xfrm>
            <a:off x="4654296" y="2724912"/>
            <a:ext cx="630936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9"/>
          <p:cNvSpPr/>
          <p:nvPr/>
        </p:nvSpPr>
        <p:spPr>
          <a:xfrm>
            <a:off x="5330952" y="2706624"/>
            <a:ext cx="722376" cy="224028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9"/>
          <p:cNvSpPr/>
          <p:nvPr/>
        </p:nvSpPr>
        <p:spPr>
          <a:xfrm>
            <a:off x="5376672" y="2724912"/>
            <a:ext cx="630936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9"/>
          <p:cNvSpPr/>
          <p:nvPr/>
        </p:nvSpPr>
        <p:spPr>
          <a:xfrm>
            <a:off x="6053328" y="2706624"/>
            <a:ext cx="722376" cy="224028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9"/>
          <p:cNvSpPr/>
          <p:nvPr/>
        </p:nvSpPr>
        <p:spPr>
          <a:xfrm>
            <a:off x="6099048" y="2724912"/>
            <a:ext cx="630936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sixes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9"/>
          <p:cNvSpPr/>
          <p:nvPr/>
        </p:nvSpPr>
        <p:spPr>
          <a:xfrm>
            <a:off x="6775704" y="2706624"/>
            <a:ext cx="722376" cy="224028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1" name="Google Shape;1341;p9"/>
          <p:cNvSpPr/>
          <p:nvPr/>
        </p:nvSpPr>
        <p:spPr>
          <a:xfrm>
            <a:off x="6821424" y="2724912"/>
            <a:ext cx="630936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9"/>
          <p:cNvSpPr/>
          <p:nvPr/>
        </p:nvSpPr>
        <p:spPr>
          <a:xfrm>
            <a:off x="7498080" y="2706624"/>
            <a:ext cx="722376" cy="224028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9"/>
          <p:cNvSpPr/>
          <p:nvPr/>
        </p:nvSpPr>
        <p:spPr>
          <a:xfrm>
            <a:off x="7543800" y="2724912"/>
            <a:ext cx="630936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9"/>
          <p:cNvSpPr/>
          <p:nvPr/>
        </p:nvSpPr>
        <p:spPr>
          <a:xfrm>
            <a:off x="8220456" y="2706624"/>
            <a:ext cx="722376" cy="224028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9"/>
          <p:cNvSpPr/>
          <p:nvPr/>
        </p:nvSpPr>
        <p:spPr>
          <a:xfrm>
            <a:off x="8266176" y="2724912"/>
            <a:ext cx="630936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9"/>
          <p:cNvSpPr/>
          <p:nvPr/>
        </p:nvSpPr>
        <p:spPr>
          <a:xfrm>
            <a:off x="3163824" y="2930652"/>
            <a:ext cx="722376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p9"/>
          <p:cNvSpPr/>
          <p:nvPr/>
        </p:nvSpPr>
        <p:spPr>
          <a:xfrm>
            <a:off x="3209544" y="2948940"/>
            <a:ext cx="630936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Number1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9"/>
          <p:cNvSpPr/>
          <p:nvPr/>
        </p:nvSpPr>
        <p:spPr>
          <a:xfrm>
            <a:off x="3886200" y="2930652"/>
            <a:ext cx="722376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9"/>
          <p:cNvSpPr/>
          <p:nvPr/>
        </p:nvSpPr>
        <p:spPr>
          <a:xfrm>
            <a:off x="3931920" y="2948940"/>
            <a:ext cx="630936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9"/>
          <p:cNvSpPr/>
          <p:nvPr/>
        </p:nvSpPr>
        <p:spPr>
          <a:xfrm>
            <a:off x="4608576" y="2930652"/>
            <a:ext cx="722376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9"/>
          <p:cNvSpPr/>
          <p:nvPr/>
        </p:nvSpPr>
        <p:spPr>
          <a:xfrm>
            <a:off x="4654296" y="2948940"/>
            <a:ext cx="630936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9"/>
          <p:cNvSpPr/>
          <p:nvPr/>
        </p:nvSpPr>
        <p:spPr>
          <a:xfrm>
            <a:off x="5330952" y="2930652"/>
            <a:ext cx="722376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9"/>
          <p:cNvSpPr/>
          <p:nvPr/>
        </p:nvSpPr>
        <p:spPr>
          <a:xfrm>
            <a:off x="5376672" y="2948940"/>
            <a:ext cx="630936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9"/>
          <p:cNvSpPr/>
          <p:nvPr/>
        </p:nvSpPr>
        <p:spPr>
          <a:xfrm>
            <a:off x="6053328" y="2930652"/>
            <a:ext cx="722376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p9"/>
          <p:cNvSpPr/>
          <p:nvPr/>
        </p:nvSpPr>
        <p:spPr>
          <a:xfrm>
            <a:off x="6099048" y="2948940"/>
            <a:ext cx="630936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9"/>
          <p:cNvSpPr/>
          <p:nvPr/>
        </p:nvSpPr>
        <p:spPr>
          <a:xfrm>
            <a:off x="6775704" y="2930652"/>
            <a:ext cx="722376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9"/>
          <p:cNvSpPr/>
          <p:nvPr/>
        </p:nvSpPr>
        <p:spPr>
          <a:xfrm>
            <a:off x="6821424" y="2948940"/>
            <a:ext cx="630936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333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9"/>
          <p:cNvSpPr/>
          <p:nvPr/>
        </p:nvSpPr>
        <p:spPr>
          <a:xfrm>
            <a:off x="7498080" y="2930652"/>
            <a:ext cx="722376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9"/>
          <p:cNvSpPr/>
          <p:nvPr/>
        </p:nvSpPr>
        <p:spPr>
          <a:xfrm>
            <a:off x="7543800" y="2948940"/>
            <a:ext cx="630936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9"/>
          <p:cNvSpPr/>
          <p:nvPr/>
        </p:nvSpPr>
        <p:spPr>
          <a:xfrm>
            <a:off x="8220456" y="2930652"/>
            <a:ext cx="722376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9"/>
          <p:cNvSpPr/>
          <p:nvPr/>
        </p:nvSpPr>
        <p:spPr>
          <a:xfrm>
            <a:off x="8266176" y="2948940"/>
            <a:ext cx="630936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9"/>
          <p:cNvSpPr/>
          <p:nvPr/>
        </p:nvSpPr>
        <p:spPr>
          <a:xfrm>
            <a:off x="3163824" y="3154680"/>
            <a:ext cx="722376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9"/>
          <p:cNvSpPr/>
          <p:nvPr/>
        </p:nvSpPr>
        <p:spPr>
          <a:xfrm>
            <a:off x="3209544" y="3172968"/>
            <a:ext cx="630936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Number2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9"/>
          <p:cNvSpPr/>
          <p:nvPr/>
        </p:nvSpPr>
        <p:spPr>
          <a:xfrm>
            <a:off x="3886200" y="3154680"/>
            <a:ext cx="722376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9"/>
          <p:cNvSpPr/>
          <p:nvPr/>
        </p:nvSpPr>
        <p:spPr>
          <a:xfrm>
            <a:off x="3931920" y="3172968"/>
            <a:ext cx="630936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555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9"/>
          <p:cNvSpPr/>
          <p:nvPr/>
        </p:nvSpPr>
        <p:spPr>
          <a:xfrm>
            <a:off x="4608576" y="3154680"/>
            <a:ext cx="722376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9"/>
          <p:cNvSpPr/>
          <p:nvPr/>
        </p:nvSpPr>
        <p:spPr>
          <a:xfrm>
            <a:off x="4654296" y="3172968"/>
            <a:ext cx="630936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444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9"/>
          <p:cNvSpPr/>
          <p:nvPr/>
        </p:nvSpPr>
        <p:spPr>
          <a:xfrm>
            <a:off x="5330952" y="3154680"/>
            <a:ext cx="722376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9"/>
          <p:cNvSpPr/>
          <p:nvPr/>
        </p:nvSpPr>
        <p:spPr>
          <a:xfrm>
            <a:off x="5376672" y="3172968"/>
            <a:ext cx="630936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9"/>
          <p:cNvSpPr/>
          <p:nvPr/>
        </p:nvSpPr>
        <p:spPr>
          <a:xfrm>
            <a:off x="6053328" y="3154680"/>
            <a:ext cx="722376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9"/>
          <p:cNvSpPr/>
          <p:nvPr/>
        </p:nvSpPr>
        <p:spPr>
          <a:xfrm>
            <a:off x="6099048" y="3172968"/>
            <a:ext cx="630936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666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9"/>
          <p:cNvSpPr/>
          <p:nvPr/>
        </p:nvSpPr>
        <p:spPr>
          <a:xfrm>
            <a:off x="6775704" y="3154680"/>
            <a:ext cx="722376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9"/>
          <p:cNvSpPr/>
          <p:nvPr/>
        </p:nvSpPr>
        <p:spPr>
          <a:xfrm>
            <a:off x="6821424" y="3172968"/>
            <a:ext cx="630936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9"/>
          <p:cNvSpPr/>
          <p:nvPr/>
        </p:nvSpPr>
        <p:spPr>
          <a:xfrm>
            <a:off x="7498080" y="3154680"/>
            <a:ext cx="722376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9"/>
          <p:cNvSpPr/>
          <p:nvPr/>
        </p:nvSpPr>
        <p:spPr>
          <a:xfrm>
            <a:off x="7543800" y="3172968"/>
            <a:ext cx="630936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9"/>
          <p:cNvSpPr/>
          <p:nvPr/>
        </p:nvSpPr>
        <p:spPr>
          <a:xfrm>
            <a:off x="8220456" y="3154680"/>
            <a:ext cx="722376" cy="22402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9"/>
          <p:cNvSpPr/>
          <p:nvPr/>
        </p:nvSpPr>
        <p:spPr>
          <a:xfrm>
            <a:off x="8266176" y="3172968"/>
            <a:ext cx="630936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9"/>
          <p:cNvSpPr/>
          <p:nvPr/>
        </p:nvSpPr>
        <p:spPr>
          <a:xfrm>
            <a:off x="3163825" y="3456425"/>
            <a:ext cx="5778900" cy="1101900"/>
          </a:xfrm>
          <a:prstGeom prst="rect">
            <a:avLst/>
          </a:prstGeom>
          <a:solidFill>
            <a:srgbClr val="1A2B3C"/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9"/>
          <p:cNvSpPr/>
          <p:nvPr/>
        </p:nvSpPr>
        <p:spPr>
          <a:xfrm>
            <a:off x="3163824" y="3456432"/>
            <a:ext cx="5779008" cy="18288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9"/>
          <p:cNvSpPr/>
          <p:nvPr/>
        </p:nvSpPr>
        <p:spPr>
          <a:xfrm>
            <a:off x="3236976" y="3474720"/>
            <a:ext cx="12801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9"/>
          <p:cNvSpPr/>
          <p:nvPr/>
        </p:nvSpPr>
        <p:spPr>
          <a:xfrm>
            <a:off x="3255264" y="3666744"/>
            <a:ext cx="5596128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unstack: innermost index level → columns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wide = frame2.unstack()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NaN fills missing (outer, inner) combinations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Re-stack to restore long format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long_again = wide.stack(dropna=False)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9"/>
          <p:cNvSpPr/>
          <p:nvPr/>
        </p:nvSpPr>
        <p:spPr>
          <a:xfrm>
            <a:off x="173725" y="4626822"/>
            <a:ext cx="8741700" cy="224100"/>
          </a:xfrm>
          <a:prstGeom prst="rect">
            <a:avLst/>
          </a:prstGeom>
          <a:solidFill>
            <a:srgbClr val="0D6E8A">
              <a:alpha val="10196"/>
            </a:srgbClr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9"/>
          <p:cNvSpPr/>
          <p:nvPr/>
        </p:nvSpPr>
        <p:spPr>
          <a:xfrm>
            <a:off x="256075" y="4663373"/>
            <a:ext cx="85770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📌 NaN appears wherever a combination like (Number1,fours) never existed in the original data — expected and correct.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1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10"/>
          <p:cNvSpPr/>
          <p:nvPr/>
        </p:nvSpPr>
        <p:spPr>
          <a:xfrm>
            <a:off x="0" y="0"/>
            <a:ext cx="82296" cy="804672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10"/>
          <p:cNvSpPr/>
          <p:nvPr/>
        </p:nvSpPr>
        <p:spPr>
          <a:xfrm>
            <a:off x="182880" y="64008"/>
            <a:ext cx="8778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Cleaning — Detecting &amp; Removing Duplicates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10"/>
          <p:cNvSpPr/>
          <p:nvPr/>
        </p:nvSpPr>
        <p:spPr>
          <a:xfrm>
            <a:off x="182880" y="493776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C8E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FC8E0"/>
                </a:solidFill>
                <a:latin typeface="Calibri"/>
                <a:ea typeface="Calibri"/>
                <a:cs typeface="Calibri"/>
                <a:sym typeface="Calibri"/>
              </a:rPr>
              <a:t>duplicated() · drop_duplicates() · keep parameter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1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10"/>
          <p:cNvSpPr/>
          <p:nvPr/>
        </p:nvSpPr>
        <p:spPr>
          <a:xfrm>
            <a:off x="201168" y="4910328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F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FC8"/>
                </a:solidFill>
                <a:latin typeface="Calibri"/>
                <a:ea typeface="Calibri"/>
                <a:cs typeface="Calibri"/>
                <a:sym typeface="Calibri"/>
              </a:rPr>
              <a:t>EDA | Module 2 | 23CSE422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10"/>
          <p:cNvSpPr/>
          <p:nvPr/>
        </p:nvSpPr>
        <p:spPr>
          <a:xfrm>
            <a:off x="201168" y="841248"/>
            <a:ext cx="54864" cy="237744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10"/>
          <p:cNvSpPr/>
          <p:nvPr/>
        </p:nvSpPr>
        <p:spPr>
          <a:xfrm>
            <a:off x="292608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frame3  (original — with duplicates)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10"/>
          <p:cNvSpPr/>
          <p:nvPr/>
        </p:nvSpPr>
        <p:spPr>
          <a:xfrm>
            <a:off x="201168" y="1097280"/>
            <a:ext cx="798576" cy="217627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10"/>
          <p:cNvSpPr/>
          <p:nvPr/>
        </p:nvSpPr>
        <p:spPr>
          <a:xfrm>
            <a:off x="246888" y="1115568"/>
            <a:ext cx="70713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10"/>
          <p:cNvSpPr/>
          <p:nvPr/>
        </p:nvSpPr>
        <p:spPr>
          <a:xfrm>
            <a:off x="999744" y="1097280"/>
            <a:ext cx="798576" cy="217627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10"/>
          <p:cNvSpPr/>
          <p:nvPr/>
        </p:nvSpPr>
        <p:spPr>
          <a:xfrm>
            <a:off x="1045464" y="1115568"/>
            <a:ext cx="70713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10"/>
          <p:cNvSpPr/>
          <p:nvPr/>
        </p:nvSpPr>
        <p:spPr>
          <a:xfrm>
            <a:off x="1798320" y="1097280"/>
            <a:ext cx="798576" cy="217627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10"/>
          <p:cNvSpPr/>
          <p:nvPr/>
        </p:nvSpPr>
        <p:spPr>
          <a:xfrm>
            <a:off x="1844040" y="1115568"/>
            <a:ext cx="70713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10"/>
          <p:cNvSpPr/>
          <p:nvPr/>
        </p:nvSpPr>
        <p:spPr>
          <a:xfrm>
            <a:off x="201168" y="1314907"/>
            <a:ext cx="798576" cy="217627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10"/>
          <p:cNvSpPr/>
          <p:nvPr/>
        </p:nvSpPr>
        <p:spPr>
          <a:xfrm>
            <a:off x="246888" y="1333195"/>
            <a:ext cx="70713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10"/>
          <p:cNvSpPr/>
          <p:nvPr/>
        </p:nvSpPr>
        <p:spPr>
          <a:xfrm>
            <a:off x="999744" y="1314907"/>
            <a:ext cx="798576" cy="217627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10"/>
          <p:cNvSpPr/>
          <p:nvPr/>
        </p:nvSpPr>
        <p:spPr>
          <a:xfrm>
            <a:off x="1045464" y="1333195"/>
            <a:ext cx="70713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Looping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10"/>
          <p:cNvSpPr/>
          <p:nvPr/>
        </p:nvSpPr>
        <p:spPr>
          <a:xfrm>
            <a:off x="1798320" y="1314907"/>
            <a:ext cx="798576" cy="217627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10"/>
          <p:cNvSpPr/>
          <p:nvPr/>
        </p:nvSpPr>
        <p:spPr>
          <a:xfrm>
            <a:off x="1844040" y="1333195"/>
            <a:ext cx="70713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10"/>
          <p:cNvSpPr/>
          <p:nvPr/>
        </p:nvSpPr>
        <p:spPr>
          <a:xfrm>
            <a:off x="201168" y="1532534"/>
            <a:ext cx="798576" cy="217627"/>
          </a:xfrm>
          <a:prstGeom prst="rect">
            <a:avLst/>
          </a:prstGeom>
          <a:solidFill>
            <a:srgbClr val="F8D7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10"/>
          <p:cNvSpPr/>
          <p:nvPr/>
        </p:nvSpPr>
        <p:spPr>
          <a:xfrm>
            <a:off x="246888" y="1550822"/>
            <a:ext cx="70713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10"/>
          <p:cNvSpPr/>
          <p:nvPr/>
        </p:nvSpPr>
        <p:spPr>
          <a:xfrm>
            <a:off x="999744" y="1532534"/>
            <a:ext cx="798576" cy="217627"/>
          </a:xfrm>
          <a:prstGeom prst="rect">
            <a:avLst/>
          </a:prstGeom>
          <a:solidFill>
            <a:srgbClr val="F8D7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p10"/>
          <p:cNvSpPr/>
          <p:nvPr/>
        </p:nvSpPr>
        <p:spPr>
          <a:xfrm>
            <a:off x="1045464" y="1550822"/>
            <a:ext cx="70713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Looping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10"/>
          <p:cNvSpPr/>
          <p:nvPr/>
        </p:nvSpPr>
        <p:spPr>
          <a:xfrm>
            <a:off x="1798320" y="1532534"/>
            <a:ext cx="798576" cy="217627"/>
          </a:xfrm>
          <a:prstGeom prst="rect">
            <a:avLst/>
          </a:prstGeom>
          <a:solidFill>
            <a:srgbClr val="F8D7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10"/>
          <p:cNvSpPr/>
          <p:nvPr/>
        </p:nvSpPr>
        <p:spPr>
          <a:xfrm>
            <a:off x="1844040" y="1550822"/>
            <a:ext cx="70713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10"/>
          <p:cNvSpPr/>
          <p:nvPr/>
        </p:nvSpPr>
        <p:spPr>
          <a:xfrm>
            <a:off x="201168" y="1750162"/>
            <a:ext cx="798576" cy="217627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10"/>
          <p:cNvSpPr/>
          <p:nvPr/>
        </p:nvSpPr>
        <p:spPr>
          <a:xfrm>
            <a:off x="246888" y="1768450"/>
            <a:ext cx="70713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10"/>
          <p:cNvSpPr/>
          <p:nvPr/>
        </p:nvSpPr>
        <p:spPr>
          <a:xfrm>
            <a:off x="999744" y="1750162"/>
            <a:ext cx="798576" cy="217627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10"/>
          <p:cNvSpPr/>
          <p:nvPr/>
        </p:nvSpPr>
        <p:spPr>
          <a:xfrm>
            <a:off x="1045464" y="1768450"/>
            <a:ext cx="70713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Looping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10"/>
          <p:cNvSpPr/>
          <p:nvPr/>
        </p:nvSpPr>
        <p:spPr>
          <a:xfrm>
            <a:off x="1798320" y="1750162"/>
            <a:ext cx="798576" cy="217627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10"/>
          <p:cNvSpPr/>
          <p:nvPr/>
        </p:nvSpPr>
        <p:spPr>
          <a:xfrm>
            <a:off x="1844040" y="1768450"/>
            <a:ext cx="70713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10"/>
          <p:cNvSpPr/>
          <p:nvPr/>
        </p:nvSpPr>
        <p:spPr>
          <a:xfrm>
            <a:off x="201168" y="1967789"/>
            <a:ext cx="798576" cy="21762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2" name="Google Shape;1422;p10"/>
          <p:cNvSpPr/>
          <p:nvPr/>
        </p:nvSpPr>
        <p:spPr>
          <a:xfrm>
            <a:off x="246888" y="1986077"/>
            <a:ext cx="70713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10"/>
          <p:cNvSpPr/>
          <p:nvPr/>
        </p:nvSpPr>
        <p:spPr>
          <a:xfrm>
            <a:off x="999744" y="1967789"/>
            <a:ext cx="798576" cy="21762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p10"/>
          <p:cNvSpPr/>
          <p:nvPr/>
        </p:nvSpPr>
        <p:spPr>
          <a:xfrm>
            <a:off x="1045464" y="1986077"/>
            <a:ext cx="70713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Functions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10"/>
          <p:cNvSpPr/>
          <p:nvPr/>
        </p:nvSpPr>
        <p:spPr>
          <a:xfrm>
            <a:off x="1798320" y="1967789"/>
            <a:ext cx="798576" cy="21762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6" name="Google Shape;1426;p10"/>
          <p:cNvSpPr/>
          <p:nvPr/>
        </p:nvSpPr>
        <p:spPr>
          <a:xfrm>
            <a:off x="1844040" y="1986077"/>
            <a:ext cx="70713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10"/>
          <p:cNvSpPr/>
          <p:nvPr/>
        </p:nvSpPr>
        <p:spPr>
          <a:xfrm>
            <a:off x="201168" y="2185416"/>
            <a:ext cx="798576" cy="217627"/>
          </a:xfrm>
          <a:prstGeom prst="rect">
            <a:avLst/>
          </a:prstGeom>
          <a:solidFill>
            <a:srgbClr val="F8D7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p10"/>
          <p:cNvSpPr/>
          <p:nvPr/>
        </p:nvSpPr>
        <p:spPr>
          <a:xfrm>
            <a:off x="246888" y="2203704"/>
            <a:ext cx="70713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10"/>
          <p:cNvSpPr/>
          <p:nvPr/>
        </p:nvSpPr>
        <p:spPr>
          <a:xfrm>
            <a:off x="999744" y="2185416"/>
            <a:ext cx="798576" cy="217627"/>
          </a:xfrm>
          <a:prstGeom prst="rect">
            <a:avLst/>
          </a:prstGeom>
          <a:solidFill>
            <a:srgbClr val="F8D7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10"/>
          <p:cNvSpPr/>
          <p:nvPr/>
        </p:nvSpPr>
        <p:spPr>
          <a:xfrm>
            <a:off x="1045464" y="2203704"/>
            <a:ext cx="70713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Functions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10"/>
          <p:cNvSpPr/>
          <p:nvPr/>
        </p:nvSpPr>
        <p:spPr>
          <a:xfrm>
            <a:off x="1798320" y="2185416"/>
            <a:ext cx="798576" cy="217627"/>
          </a:xfrm>
          <a:prstGeom prst="rect">
            <a:avLst/>
          </a:prstGeom>
          <a:solidFill>
            <a:srgbClr val="F8D7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10"/>
          <p:cNvSpPr/>
          <p:nvPr/>
        </p:nvSpPr>
        <p:spPr>
          <a:xfrm>
            <a:off x="1844040" y="2203704"/>
            <a:ext cx="70713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10"/>
          <p:cNvSpPr/>
          <p:nvPr/>
        </p:nvSpPr>
        <p:spPr>
          <a:xfrm>
            <a:off x="201168" y="2403043"/>
            <a:ext cx="798576" cy="21762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10"/>
          <p:cNvSpPr/>
          <p:nvPr/>
        </p:nvSpPr>
        <p:spPr>
          <a:xfrm>
            <a:off x="246888" y="2421331"/>
            <a:ext cx="70713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10"/>
          <p:cNvSpPr/>
          <p:nvPr/>
        </p:nvSpPr>
        <p:spPr>
          <a:xfrm>
            <a:off x="999744" y="2403043"/>
            <a:ext cx="798576" cy="21762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10"/>
          <p:cNvSpPr/>
          <p:nvPr/>
        </p:nvSpPr>
        <p:spPr>
          <a:xfrm>
            <a:off x="1045464" y="2421331"/>
            <a:ext cx="70713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Functions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10"/>
          <p:cNvSpPr/>
          <p:nvPr/>
        </p:nvSpPr>
        <p:spPr>
          <a:xfrm>
            <a:off x="1798320" y="2403043"/>
            <a:ext cx="798576" cy="21762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p10"/>
          <p:cNvSpPr/>
          <p:nvPr/>
        </p:nvSpPr>
        <p:spPr>
          <a:xfrm>
            <a:off x="1844040" y="2421331"/>
            <a:ext cx="70713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10"/>
          <p:cNvSpPr/>
          <p:nvPr/>
        </p:nvSpPr>
        <p:spPr>
          <a:xfrm>
            <a:off x="201168" y="2620670"/>
            <a:ext cx="798576" cy="217627"/>
          </a:xfrm>
          <a:prstGeom prst="rect">
            <a:avLst/>
          </a:prstGeom>
          <a:solidFill>
            <a:srgbClr val="F8D7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10"/>
          <p:cNvSpPr/>
          <p:nvPr/>
        </p:nvSpPr>
        <p:spPr>
          <a:xfrm>
            <a:off x="246888" y="2638958"/>
            <a:ext cx="70713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10"/>
          <p:cNvSpPr/>
          <p:nvPr/>
        </p:nvSpPr>
        <p:spPr>
          <a:xfrm>
            <a:off x="999744" y="2620670"/>
            <a:ext cx="798576" cy="217627"/>
          </a:xfrm>
          <a:prstGeom prst="rect">
            <a:avLst/>
          </a:prstGeom>
          <a:solidFill>
            <a:srgbClr val="F8D7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10"/>
          <p:cNvSpPr/>
          <p:nvPr/>
        </p:nvSpPr>
        <p:spPr>
          <a:xfrm>
            <a:off x="1045464" y="2638958"/>
            <a:ext cx="70713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Functions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10"/>
          <p:cNvSpPr/>
          <p:nvPr/>
        </p:nvSpPr>
        <p:spPr>
          <a:xfrm>
            <a:off x="1798320" y="2620670"/>
            <a:ext cx="798576" cy="217627"/>
          </a:xfrm>
          <a:prstGeom prst="rect">
            <a:avLst/>
          </a:prstGeom>
          <a:solidFill>
            <a:srgbClr val="F8D7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10"/>
          <p:cNvSpPr/>
          <p:nvPr/>
        </p:nvSpPr>
        <p:spPr>
          <a:xfrm>
            <a:off x="1844040" y="2638958"/>
            <a:ext cx="70713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10"/>
          <p:cNvSpPr/>
          <p:nvPr/>
        </p:nvSpPr>
        <p:spPr>
          <a:xfrm>
            <a:off x="2724912" y="841248"/>
            <a:ext cx="54864" cy="237744"/>
          </a:xfrm>
          <a:prstGeom prst="rect">
            <a:avLst/>
          </a:prstGeom>
          <a:solidFill>
            <a:srgbClr val="D4850A"/>
          </a:solidFill>
          <a:ln cap="flat" cmpd="sng" w="12700">
            <a:solidFill>
              <a:srgbClr val="D485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p10"/>
          <p:cNvSpPr/>
          <p:nvPr/>
        </p:nvSpPr>
        <p:spPr>
          <a:xfrm>
            <a:off x="2816352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50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4850A"/>
                </a:solidFill>
                <a:latin typeface="Calibri"/>
                <a:ea typeface="Calibri"/>
                <a:cs typeface="Calibri"/>
                <a:sym typeface="Calibri"/>
              </a:rPr>
              <a:t>duplicated()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10"/>
          <p:cNvSpPr/>
          <p:nvPr/>
        </p:nvSpPr>
        <p:spPr>
          <a:xfrm>
            <a:off x="2724912" y="1097280"/>
            <a:ext cx="905256" cy="217627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10"/>
          <p:cNvSpPr/>
          <p:nvPr/>
        </p:nvSpPr>
        <p:spPr>
          <a:xfrm>
            <a:off x="2770632" y="1115568"/>
            <a:ext cx="81381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10"/>
          <p:cNvSpPr/>
          <p:nvPr/>
        </p:nvSpPr>
        <p:spPr>
          <a:xfrm>
            <a:off x="3630168" y="1097280"/>
            <a:ext cx="905256" cy="217627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0" name="Google Shape;1450;p10"/>
          <p:cNvSpPr/>
          <p:nvPr/>
        </p:nvSpPr>
        <p:spPr>
          <a:xfrm>
            <a:off x="3675888" y="1115568"/>
            <a:ext cx="81381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isDuplicate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10"/>
          <p:cNvSpPr/>
          <p:nvPr/>
        </p:nvSpPr>
        <p:spPr>
          <a:xfrm>
            <a:off x="2724912" y="1314907"/>
            <a:ext cx="905256" cy="217627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10"/>
          <p:cNvSpPr/>
          <p:nvPr/>
        </p:nvSpPr>
        <p:spPr>
          <a:xfrm>
            <a:off x="2770632" y="1333195"/>
            <a:ext cx="81381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10"/>
          <p:cNvSpPr/>
          <p:nvPr/>
        </p:nvSpPr>
        <p:spPr>
          <a:xfrm>
            <a:off x="3630168" y="1314907"/>
            <a:ext cx="905256" cy="217627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p10"/>
          <p:cNvSpPr/>
          <p:nvPr/>
        </p:nvSpPr>
        <p:spPr>
          <a:xfrm>
            <a:off x="3675888" y="1333195"/>
            <a:ext cx="81381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10"/>
          <p:cNvSpPr/>
          <p:nvPr/>
        </p:nvSpPr>
        <p:spPr>
          <a:xfrm>
            <a:off x="2724912" y="1532534"/>
            <a:ext cx="905256" cy="217627"/>
          </a:xfrm>
          <a:prstGeom prst="rect">
            <a:avLst/>
          </a:prstGeom>
          <a:solidFill>
            <a:srgbClr val="F8D7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10"/>
          <p:cNvSpPr/>
          <p:nvPr/>
        </p:nvSpPr>
        <p:spPr>
          <a:xfrm>
            <a:off x="2770632" y="1550822"/>
            <a:ext cx="81381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10"/>
          <p:cNvSpPr/>
          <p:nvPr/>
        </p:nvSpPr>
        <p:spPr>
          <a:xfrm>
            <a:off x="3630168" y="1532534"/>
            <a:ext cx="905256" cy="217627"/>
          </a:xfrm>
          <a:prstGeom prst="rect">
            <a:avLst/>
          </a:prstGeom>
          <a:solidFill>
            <a:srgbClr val="F8D7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Google Shape;1458;p10"/>
          <p:cNvSpPr/>
          <p:nvPr/>
        </p:nvSpPr>
        <p:spPr>
          <a:xfrm>
            <a:off x="3675888" y="1550822"/>
            <a:ext cx="81381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True 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10"/>
          <p:cNvSpPr/>
          <p:nvPr/>
        </p:nvSpPr>
        <p:spPr>
          <a:xfrm>
            <a:off x="2724912" y="1750162"/>
            <a:ext cx="905256" cy="217627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10"/>
          <p:cNvSpPr/>
          <p:nvPr/>
        </p:nvSpPr>
        <p:spPr>
          <a:xfrm>
            <a:off x="2770632" y="1768450"/>
            <a:ext cx="81381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10"/>
          <p:cNvSpPr/>
          <p:nvPr/>
        </p:nvSpPr>
        <p:spPr>
          <a:xfrm>
            <a:off x="3630168" y="1750162"/>
            <a:ext cx="905256" cy="217627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10"/>
          <p:cNvSpPr/>
          <p:nvPr/>
        </p:nvSpPr>
        <p:spPr>
          <a:xfrm>
            <a:off x="3675888" y="1768450"/>
            <a:ext cx="81381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10"/>
          <p:cNvSpPr/>
          <p:nvPr/>
        </p:nvSpPr>
        <p:spPr>
          <a:xfrm>
            <a:off x="2724912" y="1967789"/>
            <a:ext cx="905256" cy="21762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10"/>
          <p:cNvSpPr/>
          <p:nvPr/>
        </p:nvSpPr>
        <p:spPr>
          <a:xfrm>
            <a:off x="2770632" y="1986077"/>
            <a:ext cx="81381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10"/>
          <p:cNvSpPr/>
          <p:nvPr/>
        </p:nvSpPr>
        <p:spPr>
          <a:xfrm>
            <a:off x="3630168" y="1967789"/>
            <a:ext cx="905256" cy="21762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10"/>
          <p:cNvSpPr/>
          <p:nvPr/>
        </p:nvSpPr>
        <p:spPr>
          <a:xfrm>
            <a:off x="3675888" y="1986077"/>
            <a:ext cx="81381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10"/>
          <p:cNvSpPr/>
          <p:nvPr/>
        </p:nvSpPr>
        <p:spPr>
          <a:xfrm>
            <a:off x="2724912" y="2185416"/>
            <a:ext cx="905256" cy="217627"/>
          </a:xfrm>
          <a:prstGeom prst="rect">
            <a:avLst/>
          </a:prstGeom>
          <a:solidFill>
            <a:srgbClr val="F8D7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10"/>
          <p:cNvSpPr/>
          <p:nvPr/>
        </p:nvSpPr>
        <p:spPr>
          <a:xfrm>
            <a:off x="2770632" y="2203704"/>
            <a:ext cx="81381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10"/>
          <p:cNvSpPr/>
          <p:nvPr/>
        </p:nvSpPr>
        <p:spPr>
          <a:xfrm>
            <a:off x="3630168" y="2185416"/>
            <a:ext cx="905256" cy="217627"/>
          </a:xfrm>
          <a:prstGeom prst="rect">
            <a:avLst/>
          </a:prstGeom>
          <a:solidFill>
            <a:srgbClr val="F8D7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10"/>
          <p:cNvSpPr/>
          <p:nvPr/>
        </p:nvSpPr>
        <p:spPr>
          <a:xfrm>
            <a:off x="3675888" y="2203704"/>
            <a:ext cx="81381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True 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10"/>
          <p:cNvSpPr/>
          <p:nvPr/>
        </p:nvSpPr>
        <p:spPr>
          <a:xfrm>
            <a:off x="2724912" y="2403043"/>
            <a:ext cx="905256" cy="21762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10"/>
          <p:cNvSpPr/>
          <p:nvPr/>
        </p:nvSpPr>
        <p:spPr>
          <a:xfrm>
            <a:off x="2770632" y="2421331"/>
            <a:ext cx="81381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10"/>
          <p:cNvSpPr/>
          <p:nvPr/>
        </p:nvSpPr>
        <p:spPr>
          <a:xfrm>
            <a:off x="3630168" y="2403043"/>
            <a:ext cx="905256" cy="21762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10"/>
          <p:cNvSpPr/>
          <p:nvPr/>
        </p:nvSpPr>
        <p:spPr>
          <a:xfrm>
            <a:off x="3675888" y="2421331"/>
            <a:ext cx="81381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10"/>
          <p:cNvSpPr/>
          <p:nvPr/>
        </p:nvSpPr>
        <p:spPr>
          <a:xfrm>
            <a:off x="2724912" y="2620670"/>
            <a:ext cx="905256" cy="217627"/>
          </a:xfrm>
          <a:prstGeom prst="rect">
            <a:avLst/>
          </a:prstGeom>
          <a:solidFill>
            <a:srgbClr val="F8D7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10"/>
          <p:cNvSpPr/>
          <p:nvPr/>
        </p:nvSpPr>
        <p:spPr>
          <a:xfrm>
            <a:off x="2770632" y="2638958"/>
            <a:ext cx="81381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10"/>
          <p:cNvSpPr/>
          <p:nvPr/>
        </p:nvSpPr>
        <p:spPr>
          <a:xfrm>
            <a:off x="3630168" y="2620670"/>
            <a:ext cx="905256" cy="217627"/>
          </a:xfrm>
          <a:prstGeom prst="rect">
            <a:avLst/>
          </a:prstGeom>
          <a:solidFill>
            <a:srgbClr val="F8D7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10"/>
          <p:cNvSpPr/>
          <p:nvPr/>
        </p:nvSpPr>
        <p:spPr>
          <a:xfrm>
            <a:off x="3675888" y="2638958"/>
            <a:ext cx="81381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True 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10"/>
          <p:cNvSpPr/>
          <p:nvPr/>
        </p:nvSpPr>
        <p:spPr>
          <a:xfrm>
            <a:off x="4663440" y="841248"/>
            <a:ext cx="54864" cy="237744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10"/>
          <p:cNvSpPr/>
          <p:nvPr/>
        </p:nvSpPr>
        <p:spPr>
          <a:xfrm>
            <a:off x="4754880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9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9E8A"/>
                </a:solidFill>
                <a:latin typeface="Calibri"/>
                <a:ea typeface="Calibri"/>
                <a:cs typeface="Calibri"/>
                <a:sym typeface="Calibri"/>
              </a:rPr>
              <a:t>drop_duplicates()  keep='first'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10"/>
          <p:cNvSpPr/>
          <p:nvPr/>
        </p:nvSpPr>
        <p:spPr>
          <a:xfrm>
            <a:off x="4663440" y="1097280"/>
            <a:ext cx="676656" cy="246888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10"/>
          <p:cNvSpPr/>
          <p:nvPr/>
        </p:nvSpPr>
        <p:spPr>
          <a:xfrm>
            <a:off x="4709160" y="1115568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10"/>
          <p:cNvSpPr/>
          <p:nvPr/>
        </p:nvSpPr>
        <p:spPr>
          <a:xfrm>
            <a:off x="5340096" y="1097280"/>
            <a:ext cx="676656" cy="246888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10"/>
          <p:cNvSpPr/>
          <p:nvPr/>
        </p:nvSpPr>
        <p:spPr>
          <a:xfrm>
            <a:off x="5385816" y="1115568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p10"/>
          <p:cNvSpPr/>
          <p:nvPr/>
        </p:nvSpPr>
        <p:spPr>
          <a:xfrm>
            <a:off x="6016752" y="1097280"/>
            <a:ext cx="676656" cy="246888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10"/>
          <p:cNvSpPr/>
          <p:nvPr/>
        </p:nvSpPr>
        <p:spPr>
          <a:xfrm>
            <a:off x="6062472" y="1115568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10"/>
          <p:cNvSpPr/>
          <p:nvPr/>
        </p:nvSpPr>
        <p:spPr>
          <a:xfrm>
            <a:off x="4663440" y="1344168"/>
            <a:ext cx="676656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10"/>
          <p:cNvSpPr/>
          <p:nvPr/>
        </p:nvSpPr>
        <p:spPr>
          <a:xfrm>
            <a:off x="4709160" y="1362456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10"/>
          <p:cNvSpPr/>
          <p:nvPr/>
        </p:nvSpPr>
        <p:spPr>
          <a:xfrm>
            <a:off x="5340096" y="1344168"/>
            <a:ext cx="676656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0" name="Google Shape;1490;p10"/>
          <p:cNvSpPr/>
          <p:nvPr/>
        </p:nvSpPr>
        <p:spPr>
          <a:xfrm>
            <a:off x="5385816" y="1362456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Looping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10"/>
          <p:cNvSpPr/>
          <p:nvPr/>
        </p:nvSpPr>
        <p:spPr>
          <a:xfrm>
            <a:off x="6016752" y="1344168"/>
            <a:ext cx="676656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10"/>
          <p:cNvSpPr/>
          <p:nvPr/>
        </p:nvSpPr>
        <p:spPr>
          <a:xfrm>
            <a:off x="6062472" y="1362456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10"/>
          <p:cNvSpPr/>
          <p:nvPr/>
        </p:nvSpPr>
        <p:spPr>
          <a:xfrm>
            <a:off x="4663440" y="1591056"/>
            <a:ext cx="676656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10"/>
          <p:cNvSpPr/>
          <p:nvPr/>
        </p:nvSpPr>
        <p:spPr>
          <a:xfrm>
            <a:off x="4709160" y="1609344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10"/>
          <p:cNvSpPr/>
          <p:nvPr/>
        </p:nvSpPr>
        <p:spPr>
          <a:xfrm>
            <a:off x="5340096" y="1591056"/>
            <a:ext cx="676656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10"/>
          <p:cNvSpPr/>
          <p:nvPr/>
        </p:nvSpPr>
        <p:spPr>
          <a:xfrm>
            <a:off x="5385816" y="1609344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Looping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p10"/>
          <p:cNvSpPr/>
          <p:nvPr/>
        </p:nvSpPr>
        <p:spPr>
          <a:xfrm>
            <a:off x="6016752" y="1591056"/>
            <a:ext cx="676656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8" name="Google Shape;1498;p10"/>
          <p:cNvSpPr/>
          <p:nvPr/>
        </p:nvSpPr>
        <p:spPr>
          <a:xfrm>
            <a:off x="6062472" y="1609344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10"/>
          <p:cNvSpPr/>
          <p:nvPr/>
        </p:nvSpPr>
        <p:spPr>
          <a:xfrm>
            <a:off x="4663440" y="1837944"/>
            <a:ext cx="676656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p10"/>
          <p:cNvSpPr/>
          <p:nvPr/>
        </p:nvSpPr>
        <p:spPr>
          <a:xfrm>
            <a:off x="4709160" y="1856232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10"/>
          <p:cNvSpPr/>
          <p:nvPr/>
        </p:nvSpPr>
        <p:spPr>
          <a:xfrm>
            <a:off x="5340096" y="1837944"/>
            <a:ext cx="676656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2" name="Google Shape;1502;p10"/>
          <p:cNvSpPr/>
          <p:nvPr/>
        </p:nvSpPr>
        <p:spPr>
          <a:xfrm>
            <a:off x="5385816" y="1856232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Functions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10"/>
          <p:cNvSpPr/>
          <p:nvPr/>
        </p:nvSpPr>
        <p:spPr>
          <a:xfrm>
            <a:off x="6016752" y="1837944"/>
            <a:ext cx="676656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p10"/>
          <p:cNvSpPr/>
          <p:nvPr/>
        </p:nvSpPr>
        <p:spPr>
          <a:xfrm>
            <a:off x="6062472" y="1856232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p10"/>
          <p:cNvSpPr/>
          <p:nvPr/>
        </p:nvSpPr>
        <p:spPr>
          <a:xfrm>
            <a:off x="4663440" y="2084832"/>
            <a:ext cx="676656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6" name="Google Shape;1506;p10"/>
          <p:cNvSpPr/>
          <p:nvPr/>
        </p:nvSpPr>
        <p:spPr>
          <a:xfrm>
            <a:off x="4709160" y="2103120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p10"/>
          <p:cNvSpPr/>
          <p:nvPr/>
        </p:nvSpPr>
        <p:spPr>
          <a:xfrm>
            <a:off x="5340096" y="2084832"/>
            <a:ext cx="676656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10"/>
          <p:cNvSpPr/>
          <p:nvPr/>
        </p:nvSpPr>
        <p:spPr>
          <a:xfrm>
            <a:off x="5385816" y="2103120"/>
            <a:ext cx="5852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Functions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9" name="Google Shape;1509;p10"/>
          <p:cNvSpPr/>
          <p:nvPr/>
        </p:nvSpPr>
        <p:spPr>
          <a:xfrm>
            <a:off x="6016752" y="2084832"/>
            <a:ext cx="676656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0" name="Google Shape;1510;p10"/>
          <p:cNvSpPr/>
          <p:nvPr/>
        </p:nvSpPr>
        <p:spPr>
          <a:xfrm>
            <a:off x="6062472" y="2103120"/>
            <a:ext cx="585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p10"/>
          <p:cNvSpPr/>
          <p:nvPr/>
        </p:nvSpPr>
        <p:spPr>
          <a:xfrm>
            <a:off x="6821424" y="841248"/>
            <a:ext cx="54864" cy="23774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p10"/>
          <p:cNvSpPr/>
          <p:nvPr/>
        </p:nvSpPr>
        <p:spPr>
          <a:xfrm>
            <a:off x="6912864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keep='last'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3" name="Google Shape;1513;p10"/>
          <p:cNvSpPr/>
          <p:nvPr/>
        </p:nvSpPr>
        <p:spPr>
          <a:xfrm>
            <a:off x="6821424" y="1097280"/>
            <a:ext cx="701040" cy="246888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4" name="Google Shape;1514;p10"/>
          <p:cNvSpPr/>
          <p:nvPr/>
        </p:nvSpPr>
        <p:spPr>
          <a:xfrm>
            <a:off x="6867144" y="1115568"/>
            <a:ext cx="609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p10"/>
          <p:cNvSpPr/>
          <p:nvPr/>
        </p:nvSpPr>
        <p:spPr>
          <a:xfrm>
            <a:off x="7522464" y="1097280"/>
            <a:ext cx="701040" cy="246888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6" name="Google Shape;1516;p10"/>
          <p:cNvSpPr/>
          <p:nvPr/>
        </p:nvSpPr>
        <p:spPr>
          <a:xfrm>
            <a:off x="7568184" y="1115568"/>
            <a:ext cx="609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10"/>
          <p:cNvSpPr/>
          <p:nvPr/>
        </p:nvSpPr>
        <p:spPr>
          <a:xfrm>
            <a:off x="8223504" y="1097280"/>
            <a:ext cx="701040" cy="246888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8" name="Google Shape;1518;p10"/>
          <p:cNvSpPr/>
          <p:nvPr/>
        </p:nvSpPr>
        <p:spPr>
          <a:xfrm>
            <a:off x="8269224" y="1115568"/>
            <a:ext cx="609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10"/>
          <p:cNvSpPr/>
          <p:nvPr/>
        </p:nvSpPr>
        <p:spPr>
          <a:xfrm>
            <a:off x="6821424" y="1344168"/>
            <a:ext cx="70104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0" name="Google Shape;1520;p10"/>
          <p:cNvSpPr/>
          <p:nvPr/>
        </p:nvSpPr>
        <p:spPr>
          <a:xfrm>
            <a:off x="6867144" y="1362456"/>
            <a:ext cx="609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10"/>
          <p:cNvSpPr/>
          <p:nvPr/>
        </p:nvSpPr>
        <p:spPr>
          <a:xfrm>
            <a:off x="7522464" y="1344168"/>
            <a:ext cx="70104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2" name="Google Shape;1522;p10"/>
          <p:cNvSpPr/>
          <p:nvPr/>
        </p:nvSpPr>
        <p:spPr>
          <a:xfrm>
            <a:off x="7568184" y="1362456"/>
            <a:ext cx="609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Looping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10"/>
          <p:cNvSpPr/>
          <p:nvPr/>
        </p:nvSpPr>
        <p:spPr>
          <a:xfrm>
            <a:off x="8223504" y="1344168"/>
            <a:ext cx="70104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10"/>
          <p:cNvSpPr/>
          <p:nvPr/>
        </p:nvSpPr>
        <p:spPr>
          <a:xfrm>
            <a:off x="8269224" y="1362456"/>
            <a:ext cx="609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p10"/>
          <p:cNvSpPr/>
          <p:nvPr/>
        </p:nvSpPr>
        <p:spPr>
          <a:xfrm>
            <a:off x="6821424" y="1591056"/>
            <a:ext cx="701040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10"/>
          <p:cNvSpPr/>
          <p:nvPr/>
        </p:nvSpPr>
        <p:spPr>
          <a:xfrm>
            <a:off x="6867144" y="1609344"/>
            <a:ext cx="609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10"/>
          <p:cNvSpPr/>
          <p:nvPr/>
        </p:nvSpPr>
        <p:spPr>
          <a:xfrm>
            <a:off x="7522464" y="1591056"/>
            <a:ext cx="701040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8" name="Google Shape;1528;p10"/>
          <p:cNvSpPr/>
          <p:nvPr/>
        </p:nvSpPr>
        <p:spPr>
          <a:xfrm>
            <a:off x="7568184" y="1609344"/>
            <a:ext cx="609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Looping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10"/>
          <p:cNvSpPr/>
          <p:nvPr/>
        </p:nvSpPr>
        <p:spPr>
          <a:xfrm>
            <a:off x="8223504" y="1591056"/>
            <a:ext cx="701040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0" name="Google Shape;1530;p10"/>
          <p:cNvSpPr/>
          <p:nvPr/>
        </p:nvSpPr>
        <p:spPr>
          <a:xfrm>
            <a:off x="8269224" y="1609344"/>
            <a:ext cx="609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10"/>
          <p:cNvSpPr/>
          <p:nvPr/>
        </p:nvSpPr>
        <p:spPr>
          <a:xfrm>
            <a:off x="6821424" y="1837944"/>
            <a:ext cx="70104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2" name="Google Shape;1532;p10"/>
          <p:cNvSpPr/>
          <p:nvPr/>
        </p:nvSpPr>
        <p:spPr>
          <a:xfrm>
            <a:off x="6867144" y="1856232"/>
            <a:ext cx="609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10"/>
          <p:cNvSpPr/>
          <p:nvPr/>
        </p:nvSpPr>
        <p:spPr>
          <a:xfrm>
            <a:off x="7522464" y="1837944"/>
            <a:ext cx="70104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4" name="Google Shape;1534;p10"/>
          <p:cNvSpPr/>
          <p:nvPr/>
        </p:nvSpPr>
        <p:spPr>
          <a:xfrm>
            <a:off x="7568184" y="1856232"/>
            <a:ext cx="609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Functions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10"/>
          <p:cNvSpPr/>
          <p:nvPr/>
        </p:nvSpPr>
        <p:spPr>
          <a:xfrm>
            <a:off x="8223504" y="1837944"/>
            <a:ext cx="70104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10"/>
          <p:cNvSpPr/>
          <p:nvPr/>
        </p:nvSpPr>
        <p:spPr>
          <a:xfrm>
            <a:off x="8269224" y="1856232"/>
            <a:ext cx="609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10"/>
          <p:cNvSpPr/>
          <p:nvPr/>
        </p:nvSpPr>
        <p:spPr>
          <a:xfrm>
            <a:off x="6821424" y="2084832"/>
            <a:ext cx="701040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p10"/>
          <p:cNvSpPr/>
          <p:nvPr/>
        </p:nvSpPr>
        <p:spPr>
          <a:xfrm>
            <a:off x="6867144" y="2103120"/>
            <a:ext cx="609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10"/>
          <p:cNvSpPr/>
          <p:nvPr/>
        </p:nvSpPr>
        <p:spPr>
          <a:xfrm>
            <a:off x="7522464" y="2084832"/>
            <a:ext cx="701040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10"/>
          <p:cNvSpPr/>
          <p:nvPr/>
        </p:nvSpPr>
        <p:spPr>
          <a:xfrm>
            <a:off x="7568184" y="2103120"/>
            <a:ext cx="609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Functions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10"/>
          <p:cNvSpPr/>
          <p:nvPr/>
        </p:nvSpPr>
        <p:spPr>
          <a:xfrm>
            <a:off x="8223504" y="2084832"/>
            <a:ext cx="701040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10"/>
          <p:cNvSpPr/>
          <p:nvPr/>
        </p:nvSpPr>
        <p:spPr>
          <a:xfrm>
            <a:off x="8269224" y="2103120"/>
            <a:ext cx="609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10"/>
          <p:cNvSpPr/>
          <p:nvPr/>
        </p:nvSpPr>
        <p:spPr>
          <a:xfrm>
            <a:off x="5066200" y="2409475"/>
            <a:ext cx="3806100" cy="2720400"/>
          </a:xfrm>
          <a:prstGeom prst="rect">
            <a:avLst/>
          </a:prstGeom>
          <a:solidFill>
            <a:srgbClr val="1A2B3C"/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p10"/>
          <p:cNvSpPr/>
          <p:nvPr/>
        </p:nvSpPr>
        <p:spPr>
          <a:xfrm>
            <a:off x="5066200" y="2322600"/>
            <a:ext cx="3806100" cy="1371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5" name="Google Shape;1545;p10"/>
          <p:cNvSpPr/>
          <p:nvPr/>
        </p:nvSpPr>
        <p:spPr>
          <a:xfrm>
            <a:off x="5108875" y="2468883"/>
            <a:ext cx="3864000" cy="26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frame3 = pd.DataFrame({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'col1': ['Looping']*3 + ['Functions']*4,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'col2': [10, 10, 22, 23, 23, 24, 24]})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Step 1: Detect — True means 'repeat of a previous row'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frame3.duplicated()              # rows 1, 4, 6 → True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Step 2: Remove — keeps first occurrence by default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frame3.drop_duplicates()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Keep LAST occurrence instead of first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frame3.drop_duplicates(keep='last')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Check only specific column for duplicates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frame3.drop_duplicates(subset=['col2'])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After drop, always clean the index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clean = frame3.drop_duplicates().reset_index(drop=True)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10"/>
          <p:cNvSpPr/>
          <p:nvPr/>
        </p:nvSpPr>
        <p:spPr>
          <a:xfrm>
            <a:off x="0" y="4220875"/>
            <a:ext cx="4835700" cy="402300"/>
          </a:xfrm>
          <a:prstGeom prst="rect">
            <a:avLst/>
          </a:prstGeom>
          <a:solidFill>
            <a:srgbClr val="C0392B">
              <a:alpha val="10196"/>
            </a:srgbClr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7" name="Google Shape;1547;p10"/>
          <p:cNvSpPr/>
          <p:nvPr/>
        </p:nvSpPr>
        <p:spPr>
          <a:xfrm>
            <a:off x="13700" y="4220875"/>
            <a:ext cx="54900" cy="4023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8" name="Google Shape;1548;p10"/>
          <p:cNvSpPr/>
          <p:nvPr/>
        </p:nvSpPr>
        <p:spPr>
          <a:xfrm>
            <a:off x="112650" y="4308675"/>
            <a:ext cx="461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⚠️ Always .reset_index(drop=True) after dropping duplicates — otherwise index has gaps (0,2,3,5) </a:t>
            </a:r>
            <a:endParaRPr b="0" i="0" sz="88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that confuse later .iloc[] operations.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10"/>
          <p:cNvSpPr/>
          <p:nvPr/>
        </p:nvSpPr>
        <p:spPr>
          <a:xfrm>
            <a:off x="1045473" y="3265369"/>
            <a:ext cx="2157900" cy="329100"/>
          </a:xfrm>
          <a:prstGeom prst="rect">
            <a:avLst/>
          </a:prstGeom>
          <a:solidFill>
            <a:srgbClr val="1A7A34">
              <a:alpha val="10196"/>
            </a:srgbClr>
          </a:solidFill>
          <a:ln cap="flat" cmpd="sng" w="15225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0" name="Google Shape;1550;p10"/>
          <p:cNvSpPr/>
          <p:nvPr/>
        </p:nvSpPr>
        <p:spPr>
          <a:xfrm>
            <a:off x="999748" y="3274519"/>
            <a:ext cx="54900" cy="329100"/>
          </a:xfrm>
          <a:prstGeom prst="rect">
            <a:avLst/>
          </a:prstGeom>
          <a:solidFill>
            <a:srgbClr val="1A7A34"/>
          </a:solidFill>
          <a:ln cap="flat" cmpd="sng" w="12700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1" name="Google Shape;1551;p10"/>
          <p:cNvSpPr/>
          <p:nvPr/>
        </p:nvSpPr>
        <p:spPr>
          <a:xfrm>
            <a:off x="1200864" y="3292820"/>
            <a:ext cx="1993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🌐 Use case: deduplicating transaction logs, removing repeated API responses.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11"/>
          <p:cNvSpPr/>
          <p:nvPr/>
        </p:nvSpPr>
        <p:spPr>
          <a:xfrm>
            <a:off x="0" y="0"/>
            <a:ext cx="9144000" cy="6492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8" name="Google Shape;1558;p11"/>
          <p:cNvSpPr/>
          <p:nvPr/>
        </p:nvSpPr>
        <p:spPr>
          <a:xfrm>
            <a:off x="0" y="0"/>
            <a:ext cx="54900" cy="6492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9" name="Google Shape;1559;p11"/>
          <p:cNvSpPr/>
          <p:nvPr/>
        </p:nvSpPr>
        <p:spPr>
          <a:xfrm>
            <a:off x="182875" y="64001"/>
            <a:ext cx="8778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Replacing Values — replace()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11"/>
          <p:cNvSpPr/>
          <p:nvPr/>
        </p:nvSpPr>
        <p:spPr>
          <a:xfrm>
            <a:off x="182905" y="393176"/>
            <a:ext cx="8778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C8E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FC8E0"/>
                </a:solidFill>
                <a:latin typeface="Calibri"/>
                <a:ea typeface="Calibri"/>
                <a:cs typeface="Calibri"/>
                <a:sym typeface="Calibri"/>
              </a:rPr>
              <a:t>Fixing sentinel values, typos, and standardising entries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11"/>
          <p:cNvSpPr/>
          <p:nvPr/>
        </p:nvSpPr>
        <p:spPr>
          <a:xfrm>
            <a:off x="0" y="4892040"/>
            <a:ext cx="9144000" cy="2469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2" name="Google Shape;1562;p11"/>
          <p:cNvSpPr/>
          <p:nvPr/>
        </p:nvSpPr>
        <p:spPr>
          <a:xfrm>
            <a:off x="201168" y="4910328"/>
            <a:ext cx="8686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F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FC8"/>
                </a:solidFill>
                <a:latin typeface="Calibri"/>
                <a:ea typeface="Calibri"/>
                <a:cs typeface="Calibri"/>
                <a:sym typeface="Calibri"/>
              </a:rPr>
              <a:t>EDA | Module 2 | 23CSE422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11"/>
          <p:cNvSpPr/>
          <p:nvPr/>
        </p:nvSpPr>
        <p:spPr>
          <a:xfrm>
            <a:off x="218125" y="2715775"/>
            <a:ext cx="3917400" cy="2445900"/>
          </a:xfrm>
          <a:prstGeom prst="rect">
            <a:avLst/>
          </a:prstGeom>
          <a:solidFill>
            <a:srgbClr val="1A2B3C"/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11"/>
          <p:cNvSpPr/>
          <p:nvPr/>
        </p:nvSpPr>
        <p:spPr>
          <a:xfrm>
            <a:off x="257650" y="2724950"/>
            <a:ext cx="4343700" cy="21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import pandas as pd, numpy as np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 = pd.DataFrame({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'col1': [200., 3000., -786., 3000., 234., 444., -786.],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'col2': range(7)})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Single value replacement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df.replace(to_replace=-786, value=np.nan)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Multiple values — list form (positional 1-to-1 mapping)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df.replace(to_replace=[-786, 0], value=[np.nan, 2])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Multiple values — dict form (preferred, explicit)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df.replace({-786: np.nan, 0: 2})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Column-specific replacement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df['col1'].replace(-786, np.nan, inplace=True)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11"/>
          <p:cNvSpPr/>
          <p:nvPr/>
        </p:nvSpPr>
        <p:spPr>
          <a:xfrm>
            <a:off x="4800600" y="3995950"/>
            <a:ext cx="4343700" cy="449400"/>
          </a:xfrm>
          <a:prstGeom prst="rect">
            <a:avLst/>
          </a:prstGeom>
          <a:solidFill>
            <a:srgbClr val="C0392B">
              <a:alpha val="10196"/>
            </a:srgbClr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6" name="Google Shape;1566;p11"/>
          <p:cNvSpPr/>
          <p:nvPr/>
        </p:nvSpPr>
        <p:spPr>
          <a:xfrm>
            <a:off x="4745700" y="3956250"/>
            <a:ext cx="54900" cy="5028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7" name="Google Shape;1567;p11"/>
          <p:cNvSpPr/>
          <p:nvPr/>
        </p:nvSpPr>
        <p:spPr>
          <a:xfrm>
            <a:off x="4864600" y="3977650"/>
            <a:ext cx="4279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⚠️ replace() returns a NEW DataFrame by default — assign back: df=df.replace(...) or use inplace=True. Does not modify original.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11"/>
          <p:cNvSpPr/>
          <p:nvPr/>
        </p:nvSpPr>
        <p:spPr>
          <a:xfrm>
            <a:off x="6784850" y="3214177"/>
            <a:ext cx="2157900" cy="449400"/>
          </a:xfrm>
          <a:prstGeom prst="rect">
            <a:avLst/>
          </a:prstGeom>
          <a:solidFill>
            <a:srgbClr val="1A7A34">
              <a:alpha val="10196"/>
            </a:srgbClr>
          </a:solidFill>
          <a:ln cap="flat" cmpd="sng" w="15225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9" name="Google Shape;1569;p11"/>
          <p:cNvSpPr/>
          <p:nvPr/>
        </p:nvSpPr>
        <p:spPr>
          <a:xfrm>
            <a:off x="6739125" y="3191325"/>
            <a:ext cx="54900" cy="502800"/>
          </a:xfrm>
          <a:prstGeom prst="rect">
            <a:avLst/>
          </a:prstGeom>
          <a:solidFill>
            <a:srgbClr val="1A7A34"/>
          </a:solidFill>
          <a:ln cap="flat" cmpd="sng" w="12700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0" name="Google Shape;1570;p11"/>
          <p:cNvSpPr/>
          <p:nvPr/>
        </p:nvSpPr>
        <p:spPr>
          <a:xfrm>
            <a:off x="6812213" y="3305619"/>
            <a:ext cx="1993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🌐 Use case: survey datasets where −1=refused, 99=unknown, 9999=not applicable.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1" name="Google Shape;157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75" y="678200"/>
            <a:ext cx="8250324" cy="187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2" name="Google Shape;1572;p11"/>
          <p:cNvSpPr/>
          <p:nvPr/>
        </p:nvSpPr>
        <p:spPr>
          <a:xfrm>
            <a:off x="201175" y="2578675"/>
            <a:ext cx="3951300" cy="1371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12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9" name="Google Shape;1579;p12"/>
          <p:cNvSpPr/>
          <p:nvPr/>
        </p:nvSpPr>
        <p:spPr>
          <a:xfrm>
            <a:off x="0" y="0"/>
            <a:ext cx="82296" cy="804672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0" name="Google Shape;1580;p12"/>
          <p:cNvSpPr/>
          <p:nvPr/>
        </p:nvSpPr>
        <p:spPr>
          <a:xfrm>
            <a:off x="182880" y="64008"/>
            <a:ext cx="8778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Missing Data — isnull() / notnull() Detection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12"/>
          <p:cNvSpPr/>
          <p:nvPr/>
        </p:nvSpPr>
        <p:spPr>
          <a:xfrm>
            <a:off x="182880" y="493776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C8E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FC8E0"/>
                </a:solidFill>
                <a:latin typeface="Calibri"/>
                <a:ea typeface="Calibri"/>
                <a:cs typeface="Calibri"/>
                <a:sym typeface="Calibri"/>
              </a:rPr>
              <a:t>Locating NaN values and measuring their extent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1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p12"/>
          <p:cNvSpPr/>
          <p:nvPr/>
        </p:nvSpPr>
        <p:spPr>
          <a:xfrm>
            <a:off x="201168" y="4910328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F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FC8"/>
                </a:solidFill>
                <a:latin typeface="Calibri"/>
                <a:ea typeface="Calibri"/>
                <a:cs typeface="Calibri"/>
                <a:sym typeface="Calibri"/>
              </a:rPr>
              <a:t>EDA | Module 2 | 23CSE422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12"/>
          <p:cNvSpPr/>
          <p:nvPr/>
        </p:nvSpPr>
        <p:spPr>
          <a:xfrm>
            <a:off x="201168" y="841248"/>
            <a:ext cx="54864" cy="237744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p12"/>
          <p:cNvSpPr/>
          <p:nvPr/>
        </p:nvSpPr>
        <p:spPr>
          <a:xfrm>
            <a:off x="292608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dfx  (fruit sales — NaN in store4 &amp; store5)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12"/>
          <p:cNvSpPr/>
          <p:nvPr/>
        </p:nvSpPr>
        <p:spPr>
          <a:xfrm>
            <a:off x="201168" y="1097280"/>
            <a:ext cx="621792" cy="219456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12"/>
          <p:cNvSpPr/>
          <p:nvPr/>
        </p:nvSpPr>
        <p:spPr>
          <a:xfrm>
            <a:off x="246888" y="1115568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12"/>
          <p:cNvSpPr/>
          <p:nvPr/>
        </p:nvSpPr>
        <p:spPr>
          <a:xfrm>
            <a:off x="822960" y="1097280"/>
            <a:ext cx="621792" cy="219456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12"/>
          <p:cNvSpPr/>
          <p:nvPr/>
        </p:nvSpPr>
        <p:spPr>
          <a:xfrm>
            <a:off x="868680" y="1115568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Google Shape;1590;p12"/>
          <p:cNvSpPr/>
          <p:nvPr/>
        </p:nvSpPr>
        <p:spPr>
          <a:xfrm>
            <a:off x="1444752" y="1097280"/>
            <a:ext cx="621792" cy="219456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1" name="Google Shape;1591;p12"/>
          <p:cNvSpPr/>
          <p:nvPr/>
        </p:nvSpPr>
        <p:spPr>
          <a:xfrm>
            <a:off x="1490472" y="1115568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12"/>
          <p:cNvSpPr/>
          <p:nvPr/>
        </p:nvSpPr>
        <p:spPr>
          <a:xfrm>
            <a:off x="2066544" y="1097280"/>
            <a:ext cx="621792" cy="219456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3" name="Google Shape;1593;p12"/>
          <p:cNvSpPr/>
          <p:nvPr/>
        </p:nvSpPr>
        <p:spPr>
          <a:xfrm>
            <a:off x="2112264" y="1115568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12"/>
          <p:cNvSpPr/>
          <p:nvPr/>
        </p:nvSpPr>
        <p:spPr>
          <a:xfrm>
            <a:off x="2688336" y="1097280"/>
            <a:ext cx="621792" cy="219456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5" name="Google Shape;1595;p12"/>
          <p:cNvSpPr/>
          <p:nvPr/>
        </p:nvSpPr>
        <p:spPr>
          <a:xfrm>
            <a:off x="2734056" y="1115568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12"/>
          <p:cNvSpPr/>
          <p:nvPr/>
        </p:nvSpPr>
        <p:spPr>
          <a:xfrm>
            <a:off x="3310128" y="1097280"/>
            <a:ext cx="621792" cy="219456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7" name="Google Shape;1597;p12"/>
          <p:cNvSpPr/>
          <p:nvPr/>
        </p:nvSpPr>
        <p:spPr>
          <a:xfrm>
            <a:off x="3355848" y="1115568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12"/>
          <p:cNvSpPr/>
          <p:nvPr/>
        </p:nvSpPr>
        <p:spPr>
          <a:xfrm>
            <a:off x="201168" y="1316736"/>
            <a:ext cx="621792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9" name="Google Shape;1599;p12"/>
          <p:cNvSpPr/>
          <p:nvPr/>
        </p:nvSpPr>
        <p:spPr>
          <a:xfrm>
            <a:off x="246888" y="1335024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12"/>
          <p:cNvSpPr/>
          <p:nvPr/>
        </p:nvSpPr>
        <p:spPr>
          <a:xfrm>
            <a:off x="822960" y="1316736"/>
            <a:ext cx="621792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1" name="Google Shape;1601;p12"/>
          <p:cNvSpPr/>
          <p:nvPr/>
        </p:nvSpPr>
        <p:spPr>
          <a:xfrm>
            <a:off x="868680" y="1335024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12"/>
          <p:cNvSpPr/>
          <p:nvPr/>
        </p:nvSpPr>
        <p:spPr>
          <a:xfrm>
            <a:off x="1444752" y="1316736"/>
            <a:ext cx="621792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3" name="Google Shape;1603;p12"/>
          <p:cNvSpPr/>
          <p:nvPr/>
        </p:nvSpPr>
        <p:spPr>
          <a:xfrm>
            <a:off x="1490472" y="1335024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p12"/>
          <p:cNvSpPr/>
          <p:nvPr/>
        </p:nvSpPr>
        <p:spPr>
          <a:xfrm>
            <a:off x="2066544" y="1316736"/>
            <a:ext cx="621792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5" name="Google Shape;1605;p12"/>
          <p:cNvSpPr/>
          <p:nvPr/>
        </p:nvSpPr>
        <p:spPr>
          <a:xfrm>
            <a:off x="2112264" y="1335024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12"/>
          <p:cNvSpPr/>
          <p:nvPr/>
        </p:nvSpPr>
        <p:spPr>
          <a:xfrm>
            <a:off x="2688336" y="1316736"/>
            <a:ext cx="621792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7" name="Google Shape;1607;p12"/>
          <p:cNvSpPr/>
          <p:nvPr/>
        </p:nvSpPr>
        <p:spPr>
          <a:xfrm>
            <a:off x="2734056" y="1335024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20.0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12"/>
          <p:cNvSpPr/>
          <p:nvPr/>
        </p:nvSpPr>
        <p:spPr>
          <a:xfrm>
            <a:off x="3310128" y="1316736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9" name="Google Shape;1609;p12"/>
          <p:cNvSpPr/>
          <p:nvPr/>
        </p:nvSpPr>
        <p:spPr>
          <a:xfrm>
            <a:off x="3355848" y="1335024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12"/>
          <p:cNvSpPr/>
          <p:nvPr/>
        </p:nvSpPr>
        <p:spPr>
          <a:xfrm>
            <a:off x="201168" y="1536192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1" name="Google Shape;1611;p12"/>
          <p:cNvSpPr/>
          <p:nvPr/>
        </p:nvSpPr>
        <p:spPr>
          <a:xfrm>
            <a:off x="246888" y="1554480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banana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p12"/>
          <p:cNvSpPr/>
          <p:nvPr/>
        </p:nvSpPr>
        <p:spPr>
          <a:xfrm>
            <a:off x="822960" y="1536192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p12"/>
          <p:cNvSpPr/>
          <p:nvPr/>
        </p:nvSpPr>
        <p:spPr>
          <a:xfrm>
            <a:off x="868680" y="1554480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12"/>
          <p:cNvSpPr/>
          <p:nvPr/>
        </p:nvSpPr>
        <p:spPr>
          <a:xfrm>
            <a:off x="1444752" y="1536192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5" name="Google Shape;1615;p12"/>
          <p:cNvSpPr/>
          <p:nvPr/>
        </p:nvSpPr>
        <p:spPr>
          <a:xfrm>
            <a:off x="1490472" y="1554480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12"/>
          <p:cNvSpPr/>
          <p:nvPr/>
        </p:nvSpPr>
        <p:spPr>
          <a:xfrm>
            <a:off x="2066544" y="1536192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7" name="Google Shape;1617;p12"/>
          <p:cNvSpPr/>
          <p:nvPr/>
        </p:nvSpPr>
        <p:spPr>
          <a:xfrm>
            <a:off x="2112264" y="1554480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12"/>
          <p:cNvSpPr/>
          <p:nvPr/>
        </p:nvSpPr>
        <p:spPr>
          <a:xfrm>
            <a:off x="2688336" y="1536192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9" name="Google Shape;1619;p12"/>
          <p:cNvSpPr/>
          <p:nvPr/>
        </p:nvSpPr>
        <p:spPr>
          <a:xfrm>
            <a:off x="2734056" y="1554480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12"/>
          <p:cNvSpPr/>
          <p:nvPr/>
        </p:nvSpPr>
        <p:spPr>
          <a:xfrm>
            <a:off x="3310128" y="1536192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1" name="Google Shape;1621;p12"/>
          <p:cNvSpPr/>
          <p:nvPr/>
        </p:nvSpPr>
        <p:spPr>
          <a:xfrm>
            <a:off x="3355848" y="1554480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12"/>
          <p:cNvSpPr/>
          <p:nvPr/>
        </p:nvSpPr>
        <p:spPr>
          <a:xfrm>
            <a:off x="201168" y="1755648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3" name="Google Shape;1623;p12"/>
          <p:cNvSpPr/>
          <p:nvPr/>
        </p:nvSpPr>
        <p:spPr>
          <a:xfrm>
            <a:off x="246888" y="1773936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kiwi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12"/>
          <p:cNvSpPr/>
          <p:nvPr/>
        </p:nvSpPr>
        <p:spPr>
          <a:xfrm>
            <a:off x="822960" y="1755648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5" name="Google Shape;1625;p12"/>
          <p:cNvSpPr/>
          <p:nvPr/>
        </p:nvSpPr>
        <p:spPr>
          <a:xfrm>
            <a:off x="868680" y="1773936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12"/>
          <p:cNvSpPr/>
          <p:nvPr/>
        </p:nvSpPr>
        <p:spPr>
          <a:xfrm>
            <a:off x="1444752" y="1755648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7" name="Google Shape;1627;p12"/>
          <p:cNvSpPr/>
          <p:nvPr/>
        </p:nvSpPr>
        <p:spPr>
          <a:xfrm>
            <a:off x="1490472" y="1773936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12"/>
          <p:cNvSpPr/>
          <p:nvPr/>
        </p:nvSpPr>
        <p:spPr>
          <a:xfrm>
            <a:off x="2066544" y="1755648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9" name="Google Shape;1629;p12"/>
          <p:cNvSpPr/>
          <p:nvPr/>
        </p:nvSpPr>
        <p:spPr>
          <a:xfrm>
            <a:off x="2112264" y="1773936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12"/>
          <p:cNvSpPr/>
          <p:nvPr/>
        </p:nvSpPr>
        <p:spPr>
          <a:xfrm>
            <a:off x="2688336" y="1755648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1" name="Google Shape;1631;p12"/>
          <p:cNvSpPr/>
          <p:nvPr/>
        </p:nvSpPr>
        <p:spPr>
          <a:xfrm>
            <a:off x="2734056" y="1773936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12"/>
          <p:cNvSpPr/>
          <p:nvPr/>
        </p:nvSpPr>
        <p:spPr>
          <a:xfrm>
            <a:off x="3310128" y="1755648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3" name="Google Shape;1633;p12"/>
          <p:cNvSpPr/>
          <p:nvPr/>
        </p:nvSpPr>
        <p:spPr>
          <a:xfrm>
            <a:off x="3355848" y="1773936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12"/>
          <p:cNvSpPr/>
          <p:nvPr/>
        </p:nvSpPr>
        <p:spPr>
          <a:xfrm>
            <a:off x="201168" y="1975104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5" name="Google Shape;1635;p12"/>
          <p:cNvSpPr/>
          <p:nvPr/>
        </p:nvSpPr>
        <p:spPr>
          <a:xfrm>
            <a:off x="246888" y="1993392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grapes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12"/>
          <p:cNvSpPr/>
          <p:nvPr/>
        </p:nvSpPr>
        <p:spPr>
          <a:xfrm>
            <a:off x="822960" y="1975104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7" name="Google Shape;1637;p12"/>
          <p:cNvSpPr/>
          <p:nvPr/>
        </p:nvSpPr>
        <p:spPr>
          <a:xfrm>
            <a:off x="868680" y="1993392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12"/>
          <p:cNvSpPr/>
          <p:nvPr/>
        </p:nvSpPr>
        <p:spPr>
          <a:xfrm>
            <a:off x="1444752" y="1975104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9" name="Google Shape;1639;p12"/>
          <p:cNvSpPr/>
          <p:nvPr/>
        </p:nvSpPr>
        <p:spPr>
          <a:xfrm>
            <a:off x="1490472" y="1993392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p12"/>
          <p:cNvSpPr/>
          <p:nvPr/>
        </p:nvSpPr>
        <p:spPr>
          <a:xfrm>
            <a:off x="2066544" y="1975104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1" name="Google Shape;1641;p12"/>
          <p:cNvSpPr/>
          <p:nvPr/>
        </p:nvSpPr>
        <p:spPr>
          <a:xfrm>
            <a:off x="2112264" y="1993392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12"/>
          <p:cNvSpPr/>
          <p:nvPr/>
        </p:nvSpPr>
        <p:spPr>
          <a:xfrm>
            <a:off x="2688336" y="1975104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3" name="Google Shape;1643;p12"/>
          <p:cNvSpPr/>
          <p:nvPr/>
        </p:nvSpPr>
        <p:spPr>
          <a:xfrm>
            <a:off x="2734056" y="1993392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4" name="Google Shape;1644;p12"/>
          <p:cNvSpPr/>
          <p:nvPr/>
        </p:nvSpPr>
        <p:spPr>
          <a:xfrm>
            <a:off x="3310128" y="1975104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5" name="Google Shape;1645;p12"/>
          <p:cNvSpPr/>
          <p:nvPr/>
        </p:nvSpPr>
        <p:spPr>
          <a:xfrm>
            <a:off x="3355848" y="1993392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12"/>
          <p:cNvSpPr/>
          <p:nvPr/>
        </p:nvSpPr>
        <p:spPr>
          <a:xfrm>
            <a:off x="201168" y="2194560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7" name="Google Shape;1647;p12"/>
          <p:cNvSpPr/>
          <p:nvPr/>
        </p:nvSpPr>
        <p:spPr>
          <a:xfrm>
            <a:off x="246888" y="2212848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mango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8" name="Google Shape;1648;p12"/>
          <p:cNvSpPr/>
          <p:nvPr/>
        </p:nvSpPr>
        <p:spPr>
          <a:xfrm>
            <a:off x="822960" y="2194560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9" name="Google Shape;1649;p12"/>
          <p:cNvSpPr/>
          <p:nvPr/>
        </p:nvSpPr>
        <p:spPr>
          <a:xfrm>
            <a:off x="868680" y="2212848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0" name="Google Shape;1650;p12"/>
          <p:cNvSpPr/>
          <p:nvPr/>
        </p:nvSpPr>
        <p:spPr>
          <a:xfrm>
            <a:off x="1444752" y="2194560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1" name="Google Shape;1651;p12"/>
          <p:cNvSpPr/>
          <p:nvPr/>
        </p:nvSpPr>
        <p:spPr>
          <a:xfrm>
            <a:off x="1490472" y="2212848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2" name="Google Shape;1652;p12"/>
          <p:cNvSpPr/>
          <p:nvPr/>
        </p:nvSpPr>
        <p:spPr>
          <a:xfrm>
            <a:off x="2066544" y="2194560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3" name="Google Shape;1653;p12"/>
          <p:cNvSpPr/>
          <p:nvPr/>
        </p:nvSpPr>
        <p:spPr>
          <a:xfrm>
            <a:off x="2112264" y="2212848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12"/>
          <p:cNvSpPr/>
          <p:nvPr/>
        </p:nvSpPr>
        <p:spPr>
          <a:xfrm>
            <a:off x="2688336" y="2194560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5" name="Google Shape;1655;p12"/>
          <p:cNvSpPr/>
          <p:nvPr/>
        </p:nvSpPr>
        <p:spPr>
          <a:xfrm>
            <a:off x="2734056" y="2212848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6" name="Google Shape;1656;p12"/>
          <p:cNvSpPr/>
          <p:nvPr/>
        </p:nvSpPr>
        <p:spPr>
          <a:xfrm>
            <a:off x="3310128" y="2194560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7" name="Google Shape;1657;p12"/>
          <p:cNvSpPr/>
          <p:nvPr/>
        </p:nvSpPr>
        <p:spPr>
          <a:xfrm>
            <a:off x="3355848" y="2212848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Google Shape;1658;p12"/>
          <p:cNvSpPr/>
          <p:nvPr/>
        </p:nvSpPr>
        <p:spPr>
          <a:xfrm>
            <a:off x="201168" y="2414016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9" name="Google Shape;1659;p12"/>
          <p:cNvSpPr/>
          <p:nvPr/>
        </p:nvSpPr>
        <p:spPr>
          <a:xfrm>
            <a:off x="246888" y="2432304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waterml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12"/>
          <p:cNvSpPr/>
          <p:nvPr/>
        </p:nvSpPr>
        <p:spPr>
          <a:xfrm>
            <a:off x="822960" y="2414016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1" name="Google Shape;1661;p12"/>
          <p:cNvSpPr/>
          <p:nvPr/>
        </p:nvSpPr>
        <p:spPr>
          <a:xfrm>
            <a:off x="868680" y="2432304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12"/>
          <p:cNvSpPr/>
          <p:nvPr/>
        </p:nvSpPr>
        <p:spPr>
          <a:xfrm>
            <a:off x="1444752" y="2414016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3" name="Google Shape;1663;p12"/>
          <p:cNvSpPr/>
          <p:nvPr/>
        </p:nvSpPr>
        <p:spPr>
          <a:xfrm>
            <a:off x="1490472" y="2432304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12"/>
          <p:cNvSpPr/>
          <p:nvPr/>
        </p:nvSpPr>
        <p:spPr>
          <a:xfrm>
            <a:off x="2066544" y="2414016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5" name="Google Shape;1665;p12"/>
          <p:cNvSpPr/>
          <p:nvPr/>
        </p:nvSpPr>
        <p:spPr>
          <a:xfrm>
            <a:off x="2112264" y="2432304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12"/>
          <p:cNvSpPr/>
          <p:nvPr/>
        </p:nvSpPr>
        <p:spPr>
          <a:xfrm>
            <a:off x="2688336" y="2414016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7" name="Google Shape;1667;p12"/>
          <p:cNvSpPr/>
          <p:nvPr/>
        </p:nvSpPr>
        <p:spPr>
          <a:xfrm>
            <a:off x="2734056" y="2432304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18.0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p12"/>
          <p:cNvSpPr/>
          <p:nvPr/>
        </p:nvSpPr>
        <p:spPr>
          <a:xfrm>
            <a:off x="3310128" y="2414016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9" name="Google Shape;1669;p12"/>
          <p:cNvSpPr/>
          <p:nvPr/>
        </p:nvSpPr>
        <p:spPr>
          <a:xfrm>
            <a:off x="3355848" y="2432304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0" name="Google Shape;1670;p12"/>
          <p:cNvSpPr/>
          <p:nvPr/>
        </p:nvSpPr>
        <p:spPr>
          <a:xfrm>
            <a:off x="201168" y="2633472"/>
            <a:ext cx="621792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1" name="Google Shape;1671;p12"/>
          <p:cNvSpPr/>
          <p:nvPr/>
        </p:nvSpPr>
        <p:spPr>
          <a:xfrm>
            <a:off x="246888" y="2651760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oranges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2" name="Google Shape;1672;p12"/>
          <p:cNvSpPr/>
          <p:nvPr/>
        </p:nvSpPr>
        <p:spPr>
          <a:xfrm>
            <a:off x="822960" y="2633472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3" name="Google Shape;1673;p12"/>
          <p:cNvSpPr/>
          <p:nvPr/>
        </p:nvSpPr>
        <p:spPr>
          <a:xfrm>
            <a:off x="868680" y="2651760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12"/>
          <p:cNvSpPr/>
          <p:nvPr/>
        </p:nvSpPr>
        <p:spPr>
          <a:xfrm>
            <a:off x="1444752" y="2633472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5" name="Google Shape;1675;p12"/>
          <p:cNvSpPr/>
          <p:nvPr/>
        </p:nvSpPr>
        <p:spPr>
          <a:xfrm>
            <a:off x="1490472" y="2651760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12"/>
          <p:cNvSpPr/>
          <p:nvPr/>
        </p:nvSpPr>
        <p:spPr>
          <a:xfrm>
            <a:off x="2066544" y="2633472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7" name="Google Shape;1677;p12"/>
          <p:cNvSpPr/>
          <p:nvPr/>
        </p:nvSpPr>
        <p:spPr>
          <a:xfrm>
            <a:off x="2112264" y="2651760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p12"/>
          <p:cNvSpPr/>
          <p:nvPr/>
        </p:nvSpPr>
        <p:spPr>
          <a:xfrm>
            <a:off x="2688336" y="2633472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9" name="Google Shape;1679;p12"/>
          <p:cNvSpPr/>
          <p:nvPr/>
        </p:nvSpPr>
        <p:spPr>
          <a:xfrm>
            <a:off x="2734056" y="2651760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12"/>
          <p:cNvSpPr/>
          <p:nvPr/>
        </p:nvSpPr>
        <p:spPr>
          <a:xfrm>
            <a:off x="3310128" y="2633472"/>
            <a:ext cx="62179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1" name="Google Shape;1681;p12"/>
          <p:cNvSpPr/>
          <p:nvPr/>
        </p:nvSpPr>
        <p:spPr>
          <a:xfrm>
            <a:off x="3355848" y="2651760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2" name="Google Shape;1682;p12"/>
          <p:cNvSpPr/>
          <p:nvPr/>
        </p:nvSpPr>
        <p:spPr>
          <a:xfrm>
            <a:off x="4041648" y="841248"/>
            <a:ext cx="54864" cy="23774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3" name="Google Shape;1683;p12"/>
          <p:cNvSpPr/>
          <p:nvPr/>
        </p:nvSpPr>
        <p:spPr>
          <a:xfrm>
            <a:off x="4133088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dfx.isnull()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p12"/>
          <p:cNvSpPr/>
          <p:nvPr/>
        </p:nvSpPr>
        <p:spPr>
          <a:xfrm>
            <a:off x="4041648" y="1097280"/>
            <a:ext cx="591312" cy="219456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5" name="Google Shape;1685;p12"/>
          <p:cNvSpPr/>
          <p:nvPr/>
        </p:nvSpPr>
        <p:spPr>
          <a:xfrm>
            <a:off x="4087368" y="1115568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p12"/>
          <p:cNvSpPr/>
          <p:nvPr/>
        </p:nvSpPr>
        <p:spPr>
          <a:xfrm>
            <a:off x="4632960" y="1097280"/>
            <a:ext cx="591312" cy="219456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7" name="Google Shape;1687;p12"/>
          <p:cNvSpPr/>
          <p:nvPr/>
        </p:nvSpPr>
        <p:spPr>
          <a:xfrm>
            <a:off x="4678680" y="1115568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12"/>
          <p:cNvSpPr/>
          <p:nvPr/>
        </p:nvSpPr>
        <p:spPr>
          <a:xfrm>
            <a:off x="5224272" y="1097280"/>
            <a:ext cx="591312" cy="219456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9" name="Google Shape;1689;p12"/>
          <p:cNvSpPr/>
          <p:nvPr/>
        </p:nvSpPr>
        <p:spPr>
          <a:xfrm>
            <a:off x="5269992" y="1115568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12"/>
          <p:cNvSpPr/>
          <p:nvPr/>
        </p:nvSpPr>
        <p:spPr>
          <a:xfrm>
            <a:off x="5815584" y="1097280"/>
            <a:ext cx="591312" cy="219456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1" name="Google Shape;1691;p12"/>
          <p:cNvSpPr/>
          <p:nvPr/>
        </p:nvSpPr>
        <p:spPr>
          <a:xfrm>
            <a:off x="5861304" y="1115568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2" name="Google Shape;1692;p12"/>
          <p:cNvSpPr/>
          <p:nvPr/>
        </p:nvSpPr>
        <p:spPr>
          <a:xfrm>
            <a:off x="6406896" y="1097280"/>
            <a:ext cx="591312" cy="219456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3" name="Google Shape;1693;p12"/>
          <p:cNvSpPr/>
          <p:nvPr/>
        </p:nvSpPr>
        <p:spPr>
          <a:xfrm>
            <a:off x="6452616" y="1115568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4" name="Google Shape;1694;p12"/>
          <p:cNvSpPr/>
          <p:nvPr/>
        </p:nvSpPr>
        <p:spPr>
          <a:xfrm>
            <a:off x="6998208" y="1097280"/>
            <a:ext cx="591312" cy="219456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p12"/>
          <p:cNvSpPr/>
          <p:nvPr/>
        </p:nvSpPr>
        <p:spPr>
          <a:xfrm>
            <a:off x="7043928" y="1115568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6" name="Google Shape;1696;p12"/>
          <p:cNvSpPr/>
          <p:nvPr/>
        </p:nvSpPr>
        <p:spPr>
          <a:xfrm>
            <a:off x="4041648" y="1316736"/>
            <a:ext cx="591312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7" name="Google Shape;1697;p12"/>
          <p:cNvSpPr/>
          <p:nvPr/>
        </p:nvSpPr>
        <p:spPr>
          <a:xfrm>
            <a:off x="4087368" y="1335024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8" name="Google Shape;1698;p12"/>
          <p:cNvSpPr/>
          <p:nvPr/>
        </p:nvSpPr>
        <p:spPr>
          <a:xfrm>
            <a:off x="4632960" y="1316736"/>
            <a:ext cx="591312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9" name="Google Shape;1699;p12"/>
          <p:cNvSpPr/>
          <p:nvPr/>
        </p:nvSpPr>
        <p:spPr>
          <a:xfrm>
            <a:off x="4678680" y="1335024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p12"/>
          <p:cNvSpPr/>
          <p:nvPr/>
        </p:nvSpPr>
        <p:spPr>
          <a:xfrm>
            <a:off x="5224272" y="1316736"/>
            <a:ext cx="591312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1" name="Google Shape;1701;p12"/>
          <p:cNvSpPr/>
          <p:nvPr/>
        </p:nvSpPr>
        <p:spPr>
          <a:xfrm>
            <a:off x="5269992" y="1335024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12"/>
          <p:cNvSpPr/>
          <p:nvPr/>
        </p:nvSpPr>
        <p:spPr>
          <a:xfrm>
            <a:off x="5815584" y="1316736"/>
            <a:ext cx="591312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3" name="Google Shape;1703;p12"/>
          <p:cNvSpPr/>
          <p:nvPr/>
        </p:nvSpPr>
        <p:spPr>
          <a:xfrm>
            <a:off x="5861304" y="1335024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4" name="Google Shape;1704;p12"/>
          <p:cNvSpPr/>
          <p:nvPr/>
        </p:nvSpPr>
        <p:spPr>
          <a:xfrm>
            <a:off x="6406896" y="1316736"/>
            <a:ext cx="591312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5" name="Google Shape;1705;p12"/>
          <p:cNvSpPr/>
          <p:nvPr/>
        </p:nvSpPr>
        <p:spPr>
          <a:xfrm>
            <a:off x="6452616" y="1335024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12"/>
          <p:cNvSpPr/>
          <p:nvPr/>
        </p:nvSpPr>
        <p:spPr>
          <a:xfrm>
            <a:off x="6998208" y="1316736"/>
            <a:ext cx="591312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7" name="Google Shape;1707;p12"/>
          <p:cNvSpPr/>
          <p:nvPr/>
        </p:nvSpPr>
        <p:spPr>
          <a:xfrm>
            <a:off x="7043928" y="1335024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12"/>
          <p:cNvSpPr/>
          <p:nvPr/>
        </p:nvSpPr>
        <p:spPr>
          <a:xfrm>
            <a:off x="4041648" y="1536192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9" name="Google Shape;1709;p12"/>
          <p:cNvSpPr/>
          <p:nvPr/>
        </p:nvSpPr>
        <p:spPr>
          <a:xfrm>
            <a:off x="4087368" y="1554480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banana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p12"/>
          <p:cNvSpPr/>
          <p:nvPr/>
        </p:nvSpPr>
        <p:spPr>
          <a:xfrm>
            <a:off x="4632960" y="1536192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1" name="Google Shape;1711;p12"/>
          <p:cNvSpPr/>
          <p:nvPr/>
        </p:nvSpPr>
        <p:spPr>
          <a:xfrm>
            <a:off x="4678680" y="1554480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12"/>
          <p:cNvSpPr/>
          <p:nvPr/>
        </p:nvSpPr>
        <p:spPr>
          <a:xfrm>
            <a:off x="5224272" y="1536192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3" name="Google Shape;1713;p12"/>
          <p:cNvSpPr/>
          <p:nvPr/>
        </p:nvSpPr>
        <p:spPr>
          <a:xfrm>
            <a:off x="5269992" y="1554480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12"/>
          <p:cNvSpPr/>
          <p:nvPr/>
        </p:nvSpPr>
        <p:spPr>
          <a:xfrm>
            <a:off x="5815584" y="1536192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5" name="Google Shape;1715;p12"/>
          <p:cNvSpPr/>
          <p:nvPr/>
        </p:nvSpPr>
        <p:spPr>
          <a:xfrm>
            <a:off x="5861304" y="1554480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12"/>
          <p:cNvSpPr/>
          <p:nvPr/>
        </p:nvSpPr>
        <p:spPr>
          <a:xfrm>
            <a:off x="6406896" y="1536192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7" name="Google Shape;1717;p12"/>
          <p:cNvSpPr/>
          <p:nvPr/>
        </p:nvSpPr>
        <p:spPr>
          <a:xfrm>
            <a:off x="6452616" y="1554480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p12"/>
          <p:cNvSpPr/>
          <p:nvPr/>
        </p:nvSpPr>
        <p:spPr>
          <a:xfrm>
            <a:off x="6998208" y="1536192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9" name="Google Shape;1719;p12"/>
          <p:cNvSpPr/>
          <p:nvPr/>
        </p:nvSpPr>
        <p:spPr>
          <a:xfrm>
            <a:off x="7043928" y="1554480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12"/>
          <p:cNvSpPr/>
          <p:nvPr/>
        </p:nvSpPr>
        <p:spPr>
          <a:xfrm>
            <a:off x="4041648" y="1755648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12"/>
          <p:cNvSpPr/>
          <p:nvPr/>
        </p:nvSpPr>
        <p:spPr>
          <a:xfrm>
            <a:off x="4087368" y="1773936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kiwi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2" name="Google Shape;1722;p12"/>
          <p:cNvSpPr/>
          <p:nvPr/>
        </p:nvSpPr>
        <p:spPr>
          <a:xfrm>
            <a:off x="4632960" y="1755648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p12"/>
          <p:cNvSpPr/>
          <p:nvPr/>
        </p:nvSpPr>
        <p:spPr>
          <a:xfrm>
            <a:off x="4678680" y="1773936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12"/>
          <p:cNvSpPr/>
          <p:nvPr/>
        </p:nvSpPr>
        <p:spPr>
          <a:xfrm>
            <a:off x="5224272" y="1755648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5" name="Google Shape;1725;p12"/>
          <p:cNvSpPr/>
          <p:nvPr/>
        </p:nvSpPr>
        <p:spPr>
          <a:xfrm>
            <a:off x="5269992" y="1773936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12"/>
          <p:cNvSpPr/>
          <p:nvPr/>
        </p:nvSpPr>
        <p:spPr>
          <a:xfrm>
            <a:off x="5815584" y="1755648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7" name="Google Shape;1727;p12"/>
          <p:cNvSpPr/>
          <p:nvPr/>
        </p:nvSpPr>
        <p:spPr>
          <a:xfrm>
            <a:off x="5861304" y="1773936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8" name="Google Shape;1728;p12"/>
          <p:cNvSpPr/>
          <p:nvPr/>
        </p:nvSpPr>
        <p:spPr>
          <a:xfrm>
            <a:off x="6406896" y="1755648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9" name="Google Shape;1729;p12"/>
          <p:cNvSpPr/>
          <p:nvPr/>
        </p:nvSpPr>
        <p:spPr>
          <a:xfrm>
            <a:off x="6452616" y="1773936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0" name="Google Shape;1730;p12"/>
          <p:cNvSpPr/>
          <p:nvPr/>
        </p:nvSpPr>
        <p:spPr>
          <a:xfrm>
            <a:off x="6998208" y="1755648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1" name="Google Shape;1731;p12"/>
          <p:cNvSpPr/>
          <p:nvPr/>
        </p:nvSpPr>
        <p:spPr>
          <a:xfrm>
            <a:off x="7043928" y="1773936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2" name="Google Shape;1732;p12"/>
          <p:cNvSpPr/>
          <p:nvPr/>
        </p:nvSpPr>
        <p:spPr>
          <a:xfrm>
            <a:off x="4041648" y="1975104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3" name="Google Shape;1733;p12"/>
          <p:cNvSpPr/>
          <p:nvPr/>
        </p:nvSpPr>
        <p:spPr>
          <a:xfrm>
            <a:off x="4087368" y="1993392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grapes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4" name="Google Shape;1734;p12"/>
          <p:cNvSpPr/>
          <p:nvPr/>
        </p:nvSpPr>
        <p:spPr>
          <a:xfrm>
            <a:off x="4632960" y="1975104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5" name="Google Shape;1735;p12"/>
          <p:cNvSpPr/>
          <p:nvPr/>
        </p:nvSpPr>
        <p:spPr>
          <a:xfrm>
            <a:off x="4678680" y="1993392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6" name="Google Shape;1736;p12"/>
          <p:cNvSpPr/>
          <p:nvPr/>
        </p:nvSpPr>
        <p:spPr>
          <a:xfrm>
            <a:off x="5224272" y="1975104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7" name="Google Shape;1737;p12"/>
          <p:cNvSpPr/>
          <p:nvPr/>
        </p:nvSpPr>
        <p:spPr>
          <a:xfrm>
            <a:off x="5269992" y="1993392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8" name="Google Shape;1738;p12"/>
          <p:cNvSpPr/>
          <p:nvPr/>
        </p:nvSpPr>
        <p:spPr>
          <a:xfrm>
            <a:off x="5815584" y="1975104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12"/>
          <p:cNvSpPr/>
          <p:nvPr/>
        </p:nvSpPr>
        <p:spPr>
          <a:xfrm>
            <a:off x="5861304" y="1993392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0" name="Google Shape;1740;p12"/>
          <p:cNvSpPr/>
          <p:nvPr/>
        </p:nvSpPr>
        <p:spPr>
          <a:xfrm>
            <a:off x="6406896" y="1975104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1" name="Google Shape;1741;p12"/>
          <p:cNvSpPr/>
          <p:nvPr/>
        </p:nvSpPr>
        <p:spPr>
          <a:xfrm>
            <a:off x="6452616" y="1993392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p12"/>
          <p:cNvSpPr/>
          <p:nvPr/>
        </p:nvSpPr>
        <p:spPr>
          <a:xfrm>
            <a:off x="6998208" y="1975104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3" name="Google Shape;1743;p12"/>
          <p:cNvSpPr/>
          <p:nvPr/>
        </p:nvSpPr>
        <p:spPr>
          <a:xfrm>
            <a:off x="7043928" y="1993392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4" name="Google Shape;1744;p12"/>
          <p:cNvSpPr/>
          <p:nvPr/>
        </p:nvSpPr>
        <p:spPr>
          <a:xfrm>
            <a:off x="4041648" y="2194560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5" name="Google Shape;1745;p12"/>
          <p:cNvSpPr/>
          <p:nvPr/>
        </p:nvSpPr>
        <p:spPr>
          <a:xfrm>
            <a:off x="4087368" y="2212848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mango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6" name="Google Shape;1746;p12"/>
          <p:cNvSpPr/>
          <p:nvPr/>
        </p:nvSpPr>
        <p:spPr>
          <a:xfrm>
            <a:off x="4632960" y="2194560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7" name="Google Shape;1747;p12"/>
          <p:cNvSpPr/>
          <p:nvPr/>
        </p:nvSpPr>
        <p:spPr>
          <a:xfrm>
            <a:off x="4678680" y="2212848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8" name="Google Shape;1748;p12"/>
          <p:cNvSpPr/>
          <p:nvPr/>
        </p:nvSpPr>
        <p:spPr>
          <a:xfrm>
            <a:off x="5224272" y="2194560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p12"/>
          <p:cNvSpPr/>
          <p:nvPr/>
        </p:nvSpPr>
        <p:spPr>
          <a:xfrm>
            <a:off x="5269992" y="2212848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0" name="Google Shape;1750;p12"/>
          <p:cNvSpPr/>
          <p:nvPr/>
        </p:nvSpPr>
        <p:spPr>
          <a:xfrm>
            <a:off x="5815584" y="2194560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p12"/>
          <p:cNvSpPr/>
          <p:nvPr/>
        </p:nvSpPr>
        <p:spPr>
          <a:xfrm>
            <a:off x="5861304" y="2212848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2" name="Google Shape;1752;p12"/>
          <p:cNvSpPr/>
          <p:nvPr/>
        </p:nvSpPr>
        <p:spPr>
          <a:xfrm>
            <a:off x="6406896" y="2194560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3" name="Google Shape;1753;p12"/>
          <p:cNvSpPr/>
          <p:nvPr/>
        </p:nvSpPr>
        <p:spPr>
          <a:xfrm>
            <a:off x="6452616" y="2212848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4" name="Google Shape;1754;p12"/>
          <p:cNvSpPr/>
          <p:nvPr/>
        </p:nvSpPr>
        <p:spPr>
          <a:xfrm>
            <a:off x="6998208" y="2194560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5" name="Google Shape;1755;p12"/>
          <p:cNvSpPr/>
          <p:nvPr/>
        </p:nvSpPr>
        <p:spPr>
          <a:xfrm>
            <a:off x="7043928" y="2212848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6" name="Google Shape;1756;p12"/>
          <p:cNvSpPr/>
          <p:nvPr/>
        </p:nvSpPr>
        <p:spPr>
          <a:xfrm>
            <a:off x="4041648" y="2414016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7" name="Google Shape;1757;p12"/>
          <p:cNvSpPr/>
          <p:nvPr/>
        </p:nvSpPr>
        <p:spPr>
          <a:xfrm>
            <a:off x="4087368" y="2432304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waterml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8" name="Google Shape;1758;p12"/>
          <p:cNvSpPr/>
          <p:nvPr/>
        </p:nvSpPr>
        <p:spPr>
          <a:xfrm>
            <a:off x="4632960" y="2414016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9" name="Google Shape;1759;p12"/>
          <p:cNvSpPr/>
          <p:nvPr/>
        </p:nvSpPr>
        <p:spPr>
          <a:xfrm>
            <a:off x="4678680" y="2432304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0" name="Google Shape;1760;p12"/>
          <p:cNvSpPr/>
          <p:nvPr/>
        </p:nvSpPr>
        <p:spPr>
          <a:xfrm>
            <a:off x="5224272" y="2414016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1" name="Google Shape;1761;p12"/>
          <p:cNvSpPr/>
          <p:nvPr/>
        </p:nvSpPr>
        <p:spPr>
          <a:xfrm>
            <a:off x="5269992" y="2432304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2" name="Google Shape;1762;p12"/>
          <p:cNvSpPr/>
          <p:nvPr/>
        </p:nvSpPr>
        <p:spPr>
          <a:xfrm>
            <a:off x="5815584" y="2414016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3" name="Google Shape;1763;p12"/>
          <p:cNvSpPr/>
          <p:nvPr/>
        </p:nvSpPr>
        <p:spPr>
          <a:xfrm>
            <a:off x="5861304" y="2432304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4" name="Google Shape;1764;p12"/>
          <p:cNvSpPr/>
          <p:nvPr/>
        </p:nvSpPr>
        <p:spPr>
          <a:xfrm>
            <a:off x="6406896" y="2414016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5" name="Google Shape;1765;p12"/>
          <p:cNvSpPr/>
          <p:nvPr/>
        </p:nvSpPr>
        <p:spPr>
          <a:xfrm>
            <a:off x="6452616" y="2432304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6" name="Google Shape;1766;p12"/>
          <p:cNvSpPr/>
          <p:nvPr/>
        </p:nvSpPr>
        <p:spPr>
          <a:xfrm>
            <a:off x="6998208" y="2414016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7" name="Google Shape;1767;p12"/>
          <p:cNvSpPr/>
          <p:nvPr/>
        </p:nvSpPr>
        <p:spPr>
          <a:xfrm>
            <a:off x="7043928" y="2432304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8" name="Google Shape;1768;p12"/>
          <p:cNvSpPr/>
          <p:nvPr/>
        </p:nvSpPr>
        <p:spPr>
          <a:xfrm>
            <a:off x="4041648" y="2633472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9" name="Google Shape;1769;p12"/>
          <p:cNvSpPr/>
          <p:nvPr/>
        </p:nvSpPr>
        <p:spPr>
          <a:xfrm>
            <a:off x="4087368" y="2651760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oranges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0" name="Google Shape;1770;p12"/>
          <p:cNvSpPr/>
          <p:nvPr/>
        </p:nvSpPr>
        <p:spPr>
          <a:xfrm>
            <a:off x="4632960" y="2633472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1" name="Google Shape;1771;p12"/>
          <p:cNvSpPr/>
          <p:nvPr/>
        </p:nvSpPr>
        <p:spPr>
          <a:xfrm>
            <a:off x="4678680" y="2651760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2" name="Google Shape;1772;p12"/>
          <p:cNvSpPr/>
          <p:nvPr/>
        </p:nvSpPr>
        <p:spPr>
          <a:xfrm>
            <a:off x="5224272" y="2633472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3" name="Google Shape;1773;p12"/>
          <p:cNvSpPr/>
          <p:nvPr/>
        </p:nvSpPr>
        <p:spPr>
          <a:xfrm>
            <a:off x="5269992" y="2651760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4" name="Google Shape;1774;p12"/>
          <p:cNvSpPr/>
          <p:nvPr/>
        </p:nvSpPr>
        <p:spPr>
          <a:xfrm>
            <a:off x="5815584" y="2633472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p12"/>
          <p:cNvSpPr/>
          <p:nvPr/>
        </p:nvSpPr>
        <p:spPr>
          <a:xfrm>
            <a:off x="5861304" y="2651760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6" name="Google Shape;1776;p12"/>
          <p:cNvSpPr/>
          <p:nvPr/>
        </p:nvSpPr>
        <p:spPr>
          <a:xfrm>
            <a:off x="6406896" y="2633472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7" name="Google Shape;1777;p12"/>
          <p:cNvSpPr/>
          <p:nvPr/>
        </p:nvSpPr>
        <p:spPr>
          <a:xfrm>
            <a:off x="6452616" y="2651760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8" name="Google Shape;1778;p12"/>
          <p:cNvSpPr/>
          <p:nvPr/>
        </p:nvSpPr>
        <p:spPr>
          <a:xfrm>
            <a:off x="6998208" y="2633472"/>
            <a:ext cx="591312" cy="219456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9" name="Google Shape;1779;p12"/>
          <p:cNvSpPr/>
          <p:nvPr/>
        </p:nvSpPr>
        <p:spPr>
          <a:xfrm>
            <a:off x="7043928" y="2651760"/>
            <a:ext cx="499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12"/>
          <p:cNvSpPr/>
          <p:nvPr/>
        </p:nvSpPr>
        <p:spPr>
          <a:xfrm>
            <a:off x="1202625" y="3052000"/>
            <a:ext cx="5540700" cy="1544400"/>
          </a:xfrm>
          <a:prstGeom prst="rect">
            <a:avLst/>
          </a:prstGeom>
          <a:solidFill>
            <a:srgbClr val="1A2B3C"/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1" name="Google Shape;1781;p12"/>
          <p:cNvSpPr/>
          <p:nvPr/>
        </p:nvSpPr>
        <p:spPr>
          <a:xfrm>
            <a:off x="1202632" y="2882800"/>
            <a:ext cx="5540700" cy="1830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2" name="Google Shape;1782;p12"/>
          <p:cNvSpPr/>
          <p:nvPr/>
        </p:nvSpPr>
        <p:spPr>
          <a:xfrm>
            <a:off x="1299800" y="2896606"/>
            <a:ext cx="1280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12"/>
          <p:cNvSpPr/>
          <p:nvPr/>
        </p:nvSpPr>
        <p:spPr>
          <a:xfrm>
            <a:off x="1399025" y="3095675"/>
            <a:ext cx="25953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Count NaN per column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dfx.isnull().sum()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s1=1  s2=1  s3=1  s4=6  s5=7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Total NaN in entire DataFrame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dfx.isnull().sum().sum()    # → 16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Count valid (non-NaN) values per column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dfx.count()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s1=6  s2=6  s3=6  s4=2  s5=0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4" name="Google Shape;1784;p12"/>
          <p:cNvSpPr/>
          <p:nvPr/>
        </p:nvSpPr>
        <p:spPr>
          <a:xfrm>
            <a:off x="146268" y="4583043"/>
            <a:ext cx="6656700" cy="329100"/>
          </a:xfrm>
          <a:prstGeom prst="rect">
            <a:avLst/>
          </a:prstGeom>
          <a:solidFill>
            <a:srgbClr val="C0392B">
              <a:alpha val="10196"/>
            </a:srgbClr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5" name="Google Shape;1785;p12"/>
          <p:cNvSpPr/>
          <p:nvPr/>
        </p:nvSpPr>
        <p:spPr>
          <a:xfrm>
            <a:off x="82293" y="4583006"/>
            <a:ext cx="54900" cy="3291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6" name="Google Shape;1786;p12"/>
          <p:cNvSpPr/>
          <p:nvPr/>
        </p:nvSpPr>
        <p:spPr>
          <a:xfrm>
            <a:off x="246896" y="4583044"/>
            <a:ext cx="6492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⚠️ store5 (s5) has 0 valid values — entirely NaN. Drop it with dropna(axis=1,how='all'), do not fill it.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7" name="Google Shape;1787;p12"/>
          <p:cNvSpPr/>
          <p:nvPr/>
        </p:nvSpPr>
        <p:spPr>
          <a:xfrm>
            <a:off x="7123000" y="4407398"/>
            <a:ext cx="1993500" cy="434700"/>
          </a:xfrm>
          <a:prstGeom prst="rect">
            <a:avLst/>
          </a:prstGeom>
          <a:solidFill>
            <a:srgbClr val="1A7A34">
              <a:alpha val="10196"/>
            </a:srgbClr>
          </a:solidFill>
          <a:ln cap="flat" cmpd="sng" w="15225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8" name="Google Shape;1788;p12"/>
          <p:cNvSpPr/>
          <p:nvPr/>
        </p:nvSpPr>
        <p:spPr>
          <a:xfrm>
            <a:off x="7068100" y="4386950"/>
            <a:ext cx="54900" cy="455100"/>
          </a:xfrm>
          <a:prstGeom prst="rect">
            <a:avLst/>
          </a:prstGeom>
          <a:solidFill>
            <a:srgbClr val="1A7A34"/>
          </a:solidFill>
          <a:ln cap="flat" cmpd="sng" w="12700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9" name="Google Shape;1789;p12"/>
          <p:cNvSpPr/>
          <p:nvPr/>
        </p:nvSpPr>
        <p:spPr>
          <a:xfrm>
            <a:off x="7123000" y="4460200"/>
            <a:ext cx="199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🌐 Use case: data quality audit — identify columns too sparse to be useful before ML pipeline.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12"/>
          <p:cNvSpPr/>
          <p:nvPr/>
        </p:nvSpPr>
        <p:spPr>
          <a:xfrm>
            <a:off x="4041650" y="3095673"/>
            <a:ext cx="25953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Find rows that contain ANY NaN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dfx[dfx.isnull().any(axis=1)]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Find rows where ALL values are NaN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dfx[dfx.isnull().all(axis=1)]  # → oranges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p13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p13"/>
          <p:cNvSpPr/>
          <p:nvPr/>
        </p:nvSpPr>
        <p:spPr>
          <a:xfrm>
            <a:off x="0" y="0"/>
            <a:ext cx="82296" cy="804672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p13"/>
          <p:cNvSpPr/>
          <p:nvPr/>
        </p:nvSpPr>
        <p:spPr>
          <a:xfrm>
            <a:off x="182880" y="64008"/>
            <a:ext cx="8778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Missing Data — dropna() Variants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9" name="Google Shape;1799;p13"/>
          <p:cNvSpPr/>
          <p:nvPr/>
        </p:nvSpPr>
        <p:spPr>
          <a:xfrm>
            <a:off x="182880" y="493776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C8E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FC8E0"/>
                </a:solidFill>
                <a:latin typeface="Calibri"/>
                <a:ea typeface="Calibri"/>
                <a:cs typeface="Calibri"/>
                <a:sym typeface="Calibri"/>
              </a:rPr>
              <a:t>Before vs After for every parameter combination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0" name="Google Shape;1800;p1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1" name="Google Shape;1801;p13"/>
          <p:cNvSpPr/>
          <p:nvPr/>
        </p:nvSpPr>
        <p:spPr>
          <a:xfrm>
            <a:off x="201168" y="4910328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F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FC8"/>
                </a:solidFill>
                <a:latin typeface="Calibri"/>
                <a:ea typeface="Calibri"/>
                <a:cs typeface="Calibri"/>
                <a:sym typeface="Calibri"/>
              </a:rPr>
              <a:t>EDA | Module 2 | 23CSE422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p13"/>
          <p:cNvSpPr/>
          <p:nvPr/>
        </p:nvSpPr>
        <p:spPr>
          <a:xfrm>
            <a:off x="201168" y="841248"/>
            <a:ext cx="54864" cy="237744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3" name="Google Shape;1803;p13"/>
          <p:cNvSpPr/>
          <p:nvPr/>
        </p:nvSpPr>
        <p:spPr>
          <a:xfrm>
            <a:off x="292608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Original dfx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13"/>
          <p:cNvSpPr/>
          <p:nvPr/>
        </p:nvSpPr>
        <p:spPr>
          <a:xfrm>
            <a:off x="201168" y="1097280"/>
            <a:ext cx="377952" cy="205740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5" name="Google Shape;1805;p13"/>
          <p:cNvSpPr/>
          <p:nvPr/>
        </p:nvSpPr>
        <p:spPr>
          <a:xfrm>
            <a:off x="246888" y="111556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6" name="Google Shape;1806;p13"/>
          <p:cNvSpPr/>
          <p:nvPr/>
        </p:nvSpPr>
        <p:spPr>
          <a:xfrm>
            <a:off x="579120" y="1097280"/>
            <a:ext cx="377952" cy="205740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7" name="Google Shape;1807;p13"/>
          <p:cNvSpPr/>
          <p:nvPr/>
        </p:nvSpPr>
        <p:spPr>
          <a:xfrm>
            <a:off x="624840" y="111556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8" name="Google Shape;1808;p13"/>
          <p:cNvSpPr/>
          <p:nvPr/>
        </p:nvSpPr>
        <p:spPr>
          <a:xfrm>
            <a:off x="957072" y="1097280"/>
            <a:ext cx="377952" cy="205740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9" name="Google Shape;1809;p13"/>
          <p:cNvSpPr/>
          <p:nvPr/>
        </p:nvSpPr>
        <p:spPr>
          <a:xfrm>
            <a:off x="1002792" y="111556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p13"/>
          <p:cNvSpPr/>
          <p:nvPr/>
        </p:nvSpPr>
        <p:spPr>
          <a:xfrm>
            <a:off x="1335024" y="1097280"/>
            <a:ext cx="377952" cy="205740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p13"/>
          <p:cNvSpPr/>
          <p:nvPr/>
        </p:nvSpPr>
        <p:spPr>
          <a:xfrm>
            <a:off x="1380744" y="111556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2" name="Google Shape;1812;p13"/>
          <p:cNvSpPr/>
          <p:nvPr/>
        </p:nvSpPr>
        <p:spPr>
          <a:xfrm>
            <a:off x="1712976" y="1097280"/>
            <a:ext cx="377952" cy="205740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13"/>
          <p:cNvSpPr/>
          <p:nvPr/>
        </p:nvSpPr>
        <p:spPr>
          <a:xfrm>
            <a:off x="1758696" y="111556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4" name="Google Shape;1814;p13"/>
          <p:cNvSpPr/>
          <p:nvPr/>
        </p:nvSpPr>
        <p:spPr>
          <a:xfrm>
            <a:off x="2090928" y="1097280"/>
            <a:ext cx="377952" cy="205740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13"/>
          <p:cNvSpPr/>
          <p:nvPr/>
        </p:nvSpPr>
        <p:spPr>
          <a:xfrm>
            <a:off x="2136648" y="111556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13"/>
          <p:cNvSpPr/>
          <p:nvPr/>
        </p:nvSpPr>
        <p:spPr>
          <a:xfrm>
            <a:off x="201168" y="1303020"/>
            <a:ext cx="377952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7" name="Google Shape;1817;p13"/>
          <p:cNvSpPr/>
          <p:nvPr/>
        </p:nvSpPr>
        <p:spPr>
          <a:xfrm>
            <a:off x="246888" y="132130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8" name="Google Shape;1818;p13"/>
          <p:cNvSpPr/>
          <p:nvPr/>
        </p:nvSpPr>
        <p:spPr>
          <a:xfrm>
            <a:off x="579120" y="1303020"/>
            <a:ext cx="377952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9" name="Google Shape;1819;p13"/>
          <p:cNvSpPr/>
          <p:nvPr/>
        </p:nvSpPr>
        <p:spPr>
          <a:xfrm>
            <a:off x="624840" y="132130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13"/>
          <p:cNvSpPr/>
          <p:nvPr/>
        </p:nvSpPr>
        <p:spPr>
          <a:xfrm>
            <a:off x="957072" y="1303020"/>
            <a:ext cx="377952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1" name="Google Shape;1821;p13"/>
          <p:cNvSpPr/>
          <p:nvPr/>
        </p:nvSpPr>
        <p:spPr>
          <a:xfrm>
            <a:off x="1002792" y="132130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13"/>
          <p:cNvSpPr/>
          <p:nvPr/>
        </p:nvSpPr>
        <p:spPr>
          <a:xfrm>
            <a:off x="1335024" y="1303020"/>
            <a:ext cx="377952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3" name="Google Shape;1823;p13"/>
          <p:cNvSpPr/>
          <p:nvPr/>
        </p:nvSpPr>
        <p:spPr>
          <a:xfrm>
            <a:off x="1380744" y="132130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p13"/>
          <p:cNvSpPr/>
          <p:nvPr/>
        </p:nvSpPr>
        <p:spPr>
          <a:xfrm>
            <a:off x="1712976" y="1303020"/>
            <a:ext cx="377952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5" name="Google Shape;1825;p13"/>
          <p:cNvSpPr/>
          <p:nvPr/>
        </p:nvSpPr>
        <p:spPr>
          <a:xfrm>
            <a:off x="1758696" y="132130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6" name="Google Shape;1826;p13"/>
          <p:cNvSpPr/>
          <p:nvPr/>
        </p:nvSpPr>
        <p:spPr>
          <a:xfrm>
            <a:off x="2090928" y="130302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7" name="Google Shape;1827;p13"/>
          <p:cNvSpPr/>
          <p:nvPr/>
        </p:nvSpPr>
        <p:spPr>
          <a:xfrm>
            <a:off x="2136648" y="132130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p13"/>
          <p:cNvSpPr/>
          <p:nvPr/>
        </p:nvSpPr>
        <p:spPr>
          <a:xfrm>
            <a:off x="201168" y="150876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9" name="Google Shape;1829;p13"/>
          <p:cNvSpPr/>
          <p:nvPr/>
        </p:nvSpPr>
        <p:spPr>
          <a:xfrm>
            <a:off x="246888" y="152704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banana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13"/>
          <p:cNvSpPr/>
          <p:nvPr/>
        </p:nvSpPr>
        <p:spPr>
          <a:xfrm>
            <a:off x="579120" y="150876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1" name="Google Shape;1831;p13"/>
          <p:cNvSpPr/>
          <p:nvPr/>
        </p:nvSpPr>
        <p:spPr>
          <a:xfrm>
            <a:off x="624840" y="152704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2" name="Google Shape;1832;p13"/>
          <p:cNvSpPr/>
          <p:nvPr/>
        </p:nvSpPr>
        <p:spPr>
          <a:xfrm>
            <a:off x="957072" y="150876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3" name="Google Shape;1833;p13"/>
          <p:cNvSpPr/>
          <p:nvPr/>
        </p:nvSpPr>
        <p:spPr>
          <a:xfrm>
            <a:off x="1002792" y="152704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13"/>
          <p:cNvSpPr/>
          <p:nvPr/>
        </p:nvSpPr>
        <p:spPr>
          <a:xfrm>
            <a:off x="1335024" y="150876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5" name="Google Shape;1835;p13"/>
          <p:cNvSpPr/>
          <p:nvPr/>
        </p:nvSpPr>
        <p:spPr>
          <a:xfrm>
            <a:off x="1380744" y="152704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6" name="Google Shape;1836;p13"/>
          <p:cNvSpPr/>
          <p:nvPr/>
        </p:nvSpPr>
        <p:spPr>
          <a:xfrm>
            <a:off x="1712976" y="150876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7" name="Google Shape;1837;p13"/>
          <p:cNvSpPr/>
          <p:nvPr/>
        </p:nvSpPr>
        <p:spPr>
          <a:xfrm>
            <a:off x="1758696" y="152704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13"/>
          <p:cNvSpPr/>
          <p:nvPr/>
        </p:nvSpPr>
        <p:spPr>
          <a:xfrm>
            <a:off x="2090928" y="150876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9" name="Google Shape;1839;p13"/>
          <p:cNvSpPr/>
          <p:nvPr/>
        </p:nvSpPr>
        <p:spPr>
          <a:xfrm>
            <a:off x="2136648" y="152704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13"/>
          <p:cNvSpPr/>
          <p:nvPr/>
        </p:nvSpPr>
        <p:spPr>
          <a:xfrm>
            <a:off x="201168" y="171450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1" name="Google Shape;1841;p13"/>
          <p:cNvSpPr/>
          <p:nvPr/>
        </p:nvSpPr>
        <p:spPr>
          <a:xfrm>
            <a:off x="246888" y="173278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kiwi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2" name="Google Shape;1842;p13"/>
          <p:cNvSpPr/>
          <p:nvPr/>
        </p:nvSpPr>
        <p:spPr>
          <a:xfrm>
            <a:off x="579120" y="171450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3" name="Google Shape;1843;p13"/>
          <p:cNvSpPr/>
          <p:nvPr/>
        </p:nvSpPr>
        <p:spPr>
          <a:xfrm>
            <a:off x="624840" y="173278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13"/>
          <p:cNvSpPr/>
          <p:nvPr/>
        </p:nvSpPr>
        <p:spPr>
          <a:xfrm>
            <a:off x="957072" y="171450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5" name="Google Shape;1845;p13"/>
          <p:cNvSpPr/>
          <p:nvPr/>
        </p:nvSpPr>
        <p:spPr>
          <a:xfrm>
            <a:off x="1002792" y="173278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p13"/>
          <p:cNvSpPr/>
          <p:nvPr/>
        </p:nvSpPr>
        <p:spPr>
          <a:xfrm>
            <a:off x="1335024" y="171450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7" name="Google Shape;1847;p13"/>
          <p:cNvSpPr/>
          <p:nvPr/>
        </p:nvSpPr>
        <p:spPr>
          <a:xfrm>
            <a:off x="1380744" y="173278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8" name="Google Shape;1848;p13"/>
          <p:cNvSpPr/>
          <p:nvPr/>
        </p:nvSpPr>
        <p:spPr>
          <a:xfrm>
            <a:off x="1712976" y="171450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9" name="Google Shape;1849;p13"/>
          <p:cNvSpPr/>
          <p:nvPr/>
        </p:nvSpPr>
        <p:spPr>
          <a:xfrm>
            <a:off x="1758696" y="173278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0" name="Google Shape;1850;p13"/>
          <p:cNvSpPr/>
          <p:nvPr/>
        </p:nvSpPr>
        <p:spPr>
          <a:xfrm>
            <a:off x="2090928" y="171450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1" name="Google Shape;1851;p13"/>
          <p:cNvSpPr/>
          <p:nvPr/>
        </p:nvSpPr>
        <p:spPr>
          <a:xfrm>
            <a:off x="2136648" y="173278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13"/>
          <p:cNvSpPr/>
          <p:nvPr/>
        </p:nvSpPr>
        <p:spPr>
          <a:xfrm>
            <a:off x="201168" y="192024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3" name="Google Shape;1853;p13"/>
          <p:cNvSpPr/>
          <p:nvPr/>
        </p:nvSpPr>
        <p:spPr>
          <a:xfrm>
            <a:off x="246888" y="193852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grapes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p13"/>
          <p:cNvSpPr/>
          <p:nvPr/>
        </p:nvSpPr>
        <p:spPr>
          <a:xfrm>
            <a:off x="579120" y="192024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5" name="Google Shape;1855;p13"/>
          <p:cNvSpPr/>
          <p:nvPr/>
        </p:nvSpPr>
        <p:spPr>
          <a:xfrm>
            <a:off x="624840" y="193852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6" name="Google Shape;1856;p13"/>
          <p:cNvSpPr/>
          <p:nvPr/>
        </p:nvSpPr>
        <p:spPr>
          <a:xfrm>
            <a:off x="957072" y="192024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7" name="Google Shape;1857;p13"/>
          <p:cNvSpPr/>
          <p:nvPr/>
        </p:nvSpPr>
        <p:spPr>
          <a:xfrm>
            <a:off x="1002792" y="193852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" name="Google Shape;1858;p13"/>
          <p:cNvSpPr/>
          <p:nvPr/>
        </p:nvSpPr>
        <p:spPr>
          <a:xfrm>
            <a:off x="1335024" y="192024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9" name="Google Shape;1859;p13"/>
          <p:cNvSpPr/>
          <p:nvPr/>
        </p:nvSpPr>
        <p:spPr>
          <a:xfrm>
            <a:off x="1380744" y="193852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0" name="Google Shape;1860;p13"/>
          <p:cNvSpPr/>
          <p:nvPr/>
        </p:nvSpPr>
        <p:spPr>
          <a:xfrm>
            <a:off x="1712976" y="192024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1" name="Google Shape;1861;p13"/>
          <p:cNvSpPr/>
          <p:nvPr/>
        </p:nvSpPr>
        <p:spPr>
          <a:xfrm>
            <a:off x="1758696" y="193852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13"/>
          <p:cNvSpPr/>
          <p:nvPr/>
        </p:nvSpPr>
        <p:spPr>
          <a:xfrm>
            <a:off x="2090928" y="192024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p13"/>
          <p:cNvSpPr/>
          <p:nvPr/>
        </p:nvSpPr>
        <p:spPr>
          <a:xfrm>
            <a:off x="2136648" y="193852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4" name="Google Shape;1864;p13"/>
          <p:cNvSpPr/>
          <p:nvPr/>
        </p:nvSpPr>
        <p:spPr>
          <a:xfrm>
            <a:off x="201168" y="212598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13"/>
          <p:cNvSpPr/>
          <p:nvPr/>
        </p:nvSpPr>
        <p:spPr>
          <a:xfrm>
            <a:off x="246888" y="214426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mango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6" name="Google Shape;1866;p13"/>
          <p:cNvSpPr/>
          <p:nvPr/>
        </p:nvSpPr>
        <p:spPr>
          <a:xfrm>
            <a:off x="579120" y="212598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7" name="Google Shape;1867;p13"/>
          <p:cNvSpPr/>
          <p:nvPr/>
        </p:nvSpPr>
        <p:spPr>
          <a:xfrm>
            <a:off x="624840" y="214426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p13"/>
          <p:cNvSpPr/>
          <p:nvPr/>
        </p:nvSpPr>
        <p:spPr>
          <a:xfrm>
            <a:off x="957072" y="212598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9" name="Google Shape;1869;p13"/>
          <p:cNvSpPr/>
          <p:nvPr/>
        </p:nvSpPr>
        <p:spPr>
          <a:xfrm>
            <a:off x="1002792" y="214426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p13"/>
          <p:cNvSpPr/>
          <p:nvPr/>
        </p:nvSpPr>
        <p:spPr>
          <a:xfrm>
            <a:off x="1335024" y="212598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1" name="Google Shape;1871;p13"/>
          <p:cNvSpPr/>
          <p:nvPr/>
        </p:nvSpPr>
        <p:spPr>
          <a:xfrm>
            <a:off x="1380744" y="214426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2" name="Google Shape;1872;p13"/>
          <p:cNvSpPr/>
          <p:nvPr/>
        </p:nvSpPr>
        <p:spPr>
          <a:xfrm>
            <a:off x="1712976" y="212598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3" name="Google Shape;1873;p13"/>
          <p:cNvSpPr/>
          <p:nvPr/>
        </p:nvSpPr>
        <p:spPr>
          <a:xfrm>
            <a:off x="1758696" y="214426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p13"/>
          <p:cNvSpPr/>
          <p:nvPr/>
        </p:nvSpPr>
        <p:spPr>
          <a:xfrm>
            <a:off x="2090928" y="212598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5" name="Google Shape;1875;p13"/>
          <p:cNvSpPr/>
          <p:nvPr/>
        </p:nvSpPr>
        <p:spPr>
          <a:xfrm>
            <a:off x="2136648" y="214426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6" name="Google Shape;1876;p13"/>
          <p:cNvSpPr/>
          <p:nvPr/>
        </p:nvSpPr>
        <p:spPr>
          <a:xfrm>
            <a:off x="201168" y="233172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7" name="Google Shape;1877;p13"/>
          <p:cNvSpPr/>
          <p:nvPr/>
        </p:nvSpPr>
        <p:spPr>
          <a:xfrm>
            <a:off x="246888" y="235000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waterml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13"/>
          <p:cNvSpPr/>
          <p:nvPr/>
        </p:nvSpPr>
        <p:spPr>
          <a:xfrm>
            <a:off x="579120" y="233172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9" name="Google Shape;1879;p13"/>
          <p:cNvSpPr/>
          <p:nvPr/>
        </p:nvSpPr>
        <p:spPr>
          <a:xfrm>
            <a:off x="624840" y="235000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p13"/>
          <p:cNvSpPr/>
          <p:nvPr/>
        </p:nvSpPr>
        <p:spPr>
          <a:xfrm>
            <a:off x="957072" y="233172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1" name="Google Shape;1881;p13"/>
          <p:cNvSpPr/>
          <p:nvPr/>
        </p:nvSpPr>
        <p:spPr>
          <a:xfrm>
            <a:off x="1002792" y="235000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13"/>
          <p:cNvSpPr/>
          <p:nvPr/>
        </p:nvSpPr>
        <p:spPr>
          <a:xfrm>
            <a:off x="1335024" y="233172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3" name="Google Shape;1883;p13"/>
          <p:cNvSpPr/>
          <p:nvPr/>
        </p:nvSpPr>
        <p:spPr>
          <a:xfrm>
            <a:off x="1380744" y="235000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4" name="Google Shape;1884;p13"/>
          <p:cNvSpPr/>
          <p:nvPr/>
        </p:nvSpPr>
        <p:spPr>
          <a:xfrm>
            <a:off x="1712976" y="233172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5" name="Google Shape;1885;p13"/>
          <p:cNvSpPr/>
          <p:nvPr/>
        </p:nvSpPr>
        <p:spPr>
          <a:xfrm>
            <a:off x="1758696" y="235000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6" name="Google Shape;1886;p13"/>
          <p:cNvSpPr/>
          <p:nvPr/>
        </p:nvSpPr>
        <p:spPr>
          <a:xfrm>
            <a:off x="2090928" y="233172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7" name="Google Shape;1887;p13"/>
          <p:cNvSpPr/>
          <p:nvPr/>
        </p:nvSpPr>
        <p:spPr>
          <a:xfrm>
            <a:off x="2136648" y="235000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8" name="Google Shape;1888;p13"/>
          <p:cNvSpPr/>
          <p:nvPr/>
        </p:nvSpPr>
        <p:spPr>
          <a:xfrm>
            <a:off x="201168" y="2537460"/>
            <a:ext cx="377952" cy="205740"/>
          </a:xfrm>
          <a:prstGeom prst="rect">
            <a:avLst/>
          </a:prstGeom>
          <a:solidFill>
            <a:srgbClr val="F8D7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9" name="Google Shape;1889;p13"/>
          <p:cNvSpPr/>
          <p:nvPr/>
        </p:nvSpPr>
        <p:spPr>
          <a:xfrm>
            <a:off x="246888" y="255574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oranges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0" name="Google Shape;1890;p13"/>
          <p:cNvSpPr/>
          <p:nvPr/>
        </p:nvSpPr>
        <p:spPr>
          <a:xfrm>
            <a:off x="579120" y="253746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1" name="Google Shape;1891;p13"/>
          <p:cNvSpPr/>
          <p:nvPr/>
        </p:nvSpPr>
        <p:spPr>
          <a:xfrm>
            <a:off x="624840" y="255574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2" name="Google Shape;1892;p13"/>
          <p:cNvSpPr/>
          <p:nvPr/>
        </p:nvSpPr>
        <p:spPr>
          <a:xfrm>
            <a:off x="957072" y="253746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13"/>
          <p:cNvSpPr/>
          <p:nvPr/>
        </p:nvSpPr>
        <p:spPr>
          <a:xfrm>
            <a:off x="1002792" y="255574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4" name="Google Shape;1894;p13"/>
          <p:cNvSpPr/>
          <p:nvPr/>
        </p:nvSpPr>
        <p:spPr>
          <a:xfrm>
            <a:off x="1335024" y="253746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5" name="Google Shape;1895;p13"/>
          <p:cNvSpPr/>
          <p:nvPr/>
        </p:nvSpPr>
        <p:spPr>
          <a:xfrm>
            <a:off x="1380744" y="255574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6" name="Google Shape;1896;p13"/>
          <p:cNvSpPr/>
          <p:nvPr/>
        </p:nvSpPr>
        <p:spPr>
          <a:xfrm>
            <a:off x="1712976" y="253746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7" name="Google Shape;1897;p13"/>
          <p:cNvSpPr/>
          <p:nvPr/>
        </p:nvSpPr>
        <p:spPr>
          <a:xfrm>
            <a:off x="1758696" y="255574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8" name="Google Shape;1898;p13"/>
          <p:cNvSpPr/>
          <p:nvPr/>
        </p:nvSpPr>
        <p:spPr>
          <a:xfrm>
            <a:off x="2090928" y="253746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9" name="Google Shape;1899;p13"/>
          <p:cNvSpPr/>
          <p:nvPr/>
        </p:nvSpPr>
        <p:spPr>
          <a:xfrm>
            <a:off x="2136648" y="255574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0" name="Google Shape;1900;p13"/>
          <p:cNvSpPr/>
          <p:nvPr/>
        </p:nvSpPr>
        <p:spPr>
          <a:xfrm>
            <a:off x="2578608" y="841248"/>
            <a:ext cx="54864" cy="237744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1" name="Google Shape;1901;p13"/>
          <p:cNvSpPr/>
          <p:nvPr/>
        </p:nvSpPr>
        <p:spPr>
          <a:xfrm>
            <a:off x="2670048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9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9E8A"/>
                </a:solidFill>
                <a:latin typeface="Calibri"/>
                <a:ea typeface="Calibri"/>
                <a:cs typeface="Calibri"/>
                <a:sym typeface="Calibri"/>
              </a:rPr>
              <a:t>dropna(how='all')  →  only 'oranges' removed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2" name="Google Shape;1902;p13"/>
          <p:cNvSpPr/>
          <p:nvPr/>
        </p:nvSpPr>
        <p:spPr>
          <a:xfrm>
            <a:off x="2578608" y="1097280"/>
            <a:ext cx="377952" cy="205740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3" name="Google Shape;1903;p13"/>
          <p:cNvSpPr/>
          <p:nvPr/>
        </p:nvSpPr>
        <p:spPr>
          <a:xfrm>
            <a:off x="2624328" y="111556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13"/>
          <p:cNvSpPr/>
          <p:nvPr/>
        </p:nvSpPr>
        <p:spPr>
          <a:xfrm>
            <a:off x="2956560" y="1097280"/>
            <a:ext cx="377952" cy="205740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5" name="Google Shape;1905;p13"/>
          <p:cNvSpPr/>
          <p:nvPr/>
        </p:nvSpPr>
        <p:spPr>
          <a:xfrm>
            <a:off x="3002280" y="111556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p13"/>
          <p:cNvSpPr/>
          <p:nvPr/>
        </p:nvSpPr>
        <p:spPr>
          <a:xfrm>
            <a:off x="3334512" y="1097280"/>
            <a:ext cx="377952" cy="205740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7" name="Google Shape;1907;p13"/>
          <p:cNvSpPr/>
          <p:nvPr/>
        </p:nvSpPr>
        <p:spPr>
          <a:xfrm>
            <a:off x="3380232" y="111556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8" name="Google Shape;1908;p13"/>
          <p:cNvSpPr/>
          <p:nvPr/>
        </p:nvSpPr>
        <p:spPr>
          <a:xfrm>
            <a:off x="3712464" y="1097280"/>
            <a:ext cx="377952" cy="205740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9" name="Google Shape;1909;p13"/>
          <p:cNvSpPr/>
          <p:nvPr/>
        </p:nvSpPr>
        <p:spPr>
          <a:xfrm>
            <a:off x="3758184" y="111556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0" name="Google Shape;1910;p13"/>
          <p:cNvSpPr/>
          <p:nvPr/>
        </p:nvSpPr>
        <p:spPr>
          <a:xfrm>
            <a:off x="4090416" y="1097280"/>
            <a:ext cx="377952" cy="205740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1" name="Google Shape;1911;p13"/>
          <p:cNvSpPr/>
          <p:nvPr/>
        </p:nvSpPr>
        <p:spPr>
          <a:xfrm>
            <a:off x="4136136" y="111556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2" name="Google Shape;1912;p13"/>
          <p:cNvSpPr/>
          <p:nvPr/>
        </p:nvSpPr>
        <p:spPr>
          <a:xfrm>
            <a:off x="4468368" y="1097280"/>
            <a:ext cx="377952" cy="205740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3" name="Google Shape;1913;p13"/>
          <p:cNvSpPr/>
          <p:nvPr/>
        </p:nvSpPr>
        <p:spPr>
          <a:xfrm>
            <a:off x="4514088" y="111556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4" name="Google Shape;1914;p13"/>
          <p:cNvSpPr/>
          <p:nvPr/>
        </p:nvSpPr>
        <p:spPr>
          <a:xfrm>
            <a:off x="2578608" y="1303020"/>
            <a:ext cx="377952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5" name="Google Shape;1915;p13"/>
          <p:cNvSpPr/>
          <p:nvPr/>
        </p:nvSpPr>
        <p:spPr>
          <a:xfrm>
            <a:off x="2548752" y="1335075"/>
            <a:ext cx="362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6" name="Google Shape;1916;p13"/>
          <p:cNvSpPr/>
          <p:nvPr/>
        </p:nvSpPr>
        <p:spPr>
          <a:xfrm>
            <a:off x="2956560" y="1303020"/>
            <a:ext cx="377952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7" name="Google Shape;1917;p13"/>
          <p:cNvSpPr/>
          <p:nvPr/>
        </p:nvSpPr>
        <p:spPr>
          <a:xfrm>
            <a:off x="3002280" y="132130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8" name="Google Shape;1918;p13"/>
          <p:cNvSpPr/>
          <p:nvPr/>
        </p:nvSpPr>
        <p:spPr>
          <a:xfrm>
            <a:off x="3334512" y="1303020"/>
            <a:ext cx="377952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9" name="Google Shape;1919;p13"/>
          <p:cNvSpPr/>
          <p:nvPr/>
        </p:nvSpPr>
        <p:spPr>
          <a:xfrm>
            <a:off x="3380232" y="132130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0" name="Google Shape;1920;p13"/>
          <p:cNvSpPr/>
          <p:nvPr/>
        </p:nvSpPr>
        <p:spPr>
          <a:xfrm>
            <a:off x="3712464" y="1303020"/>
            <a:ext cx="377952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1" name="Google Shape;1921;p13"/>
          <p:cNvSpPr/>
          <p:nvPr/>
        </p:nvSpPr>
        <p:spPr>
          <a:xfrm>
            <a:off x="3758184" y="132130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2" name="Google Shape;1922;p13"/>
          <p:cNvSpPr/>
          <p:nvPr/>
        </p:nvSpPr>
        <p:spPr>
          <a:xfrm>
            <a:off x="4090416" y="1303020"/>
            <a:ext cx="377952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3" name="Google Shape;1923;p13"/>
          <p:cNvSpPr/>
          <p:nvPr/>
        </p:nvSpPr>
        <p:spPr>
          <a:xfrm>
            <a:off x="4136136" y="132130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p13"/>
          <p:cNvSpPr/>
          <p:nvPr/>
        </p:nvSpPr>
        <p:spPr>
          <a:xfrm>
            <a:off x="4468368" y="130302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5" name="Google Shape;1925;p13"/>
          <p:cNvSpPr/>
          <p:nvPr/>
        </p:nvSpPr>
        <p:spPr>
          <a:xfrm>
            <a:off x="4514088" y="132130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6" name="Google Shape;1926;p13"/>
          <p:cNvSpPr/>
          <p:nvPr/>
        </p:nvSpPr>
        <p:spPr>
          <a:xfrm>
            <a:off x="2578608" y="150876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7" name="Google Shape;1927;p13"/>
          <p:cNvSpPr/>
          <p:nvPr/>
        </p:nvSpPr>
        <p:spPr>
          <a:xfrm>
            <a:off x="2548752" y="1540801"/>
            <a:ext cx="362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banana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8" name="Google Shape;1928;p13"/>
          <p:cNvSpPr/>
          <p:nvPr/>
        </p:nvSpPr>
        <p:spPr>
          <a:xfrm>
            <a:off x="2956560" y="150876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9" name="Google Shape;1929;p13"/>
          <p:cNvSpPr/>
          <p:nvPr/>
        </p:nvSpPr>
        <p:spPr>
          <a:xfrm>
            <a:off x="3002280" y="152704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p13"/>
          <p:cNvSpPr/>
          <p:nvPr/>
        </p:nvSpPr>
        <p:spPr>
          <a:xfrm>
            <a:off x="3334512" y="150876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1" name="Google Shape;1931;p13"/>
          <p:cNvSpPr/>
          <p:nvPr/>
        </p:nvSpPr>
        <p:spPr>
          <a:xfrm>
            <a:off x="3380232" y="152704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2" name="Google Shape;1932;p13"/>
          <p:cNvSpPr/>
          <p:nvPr/>
        </p:nvSpPr>
        <p:spPr>
          <a:xfrm>
            <a:off x="3712464" y="150876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3" name="Google Shape;1933;p13"/>
          <p:cNvSpPr/>
          <p:nvPr/>
        </p:nvSpPr>
        <p:spPr>
          <a:xfrm>
            <a:off x="3758184" y="152704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4" name="Google Shape;1934;p13"/>
          <p:cNvSpPr/>
          <p:nvPr/>
        </p:nvSpPr>
        <p:spPr>
          <a:xfrm>
            <a:off x="4090416" y="150876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5" name="Google Shape;1935;p13"/>
          <p:cNvSpPr/>
          <p:nvPr/>
        </p:nvSpPr>
        <p:spPr>
          <a:xfrm>
            <a:off x="4136136" y="152704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6" name="Google Shape;1936;p13"/>
          <p:cNvSpPr/>
          <p:nvPr/>
        </p:nvSpPr>
        <p:spPr>
          <a:xfrm>
            <a:off x="4468368" y="150876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13"/>
          <p:cNvSpPr/>
          <p:nvPr/>
        </p:nvSpPr>
        <p:spPr>
          <a:xfrm>
            <a:off x="4514088" y="152704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8" name="Google Shape;1938;p13"/>
          <p:cNvSpPr/>
          <p:nvPr/>
        </p:nvSpPr>
        <p:spPr>
          <a:xfrm>
            <a:off x="2578608" y="171450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9" name="Google Shape;1939;p13"/>
          <p:cNvSpPr/>
          <p:nvPr/>
        </p:nvSpPr>
        <p:spPr>
          <a:xfrm>
            <a:off x="2624328" y="173278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kiwi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0" name="Google Shape;1940;p13"/>
          <p:cNvSpPr/>
          <p:nvPr/>
        </p:nvSpPr>
        <p:spPr>
          <a:xfrm>
            <a:off x="2956560" y="171450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p13"/>
          <p:cNvSpPr/>
          <p:nvPr/>
        </p:nvSpPr>
        <p:spPr>
          <a:xfrm>
            <a:off x="3002280" y="173278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2" name="Google Shape;1942;p13"/>
          <p:cNvSpPr/>
          <p:nvPr/>
        </p:nvSpPr>
        <p:spPr>
          <a:xfrm>
            <a:off x="3334512" y="171450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3" name="Google Shape;1943;p13"/>
          <p:cNvSpPr/>
          <p:nvPr/>
        </p:nvSpPr>
        <p:spPr>
          <a:xfrm>
            <a:off x="3380232" y="173278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4" name="Google Shape;1944;p13"/>
          <p:cNvSpPr/>
          <p:nvPr/>
        </p:nvSpPr>
        <p:spPr>
          <a:xfrm>
            <a:off x="3712464" y="171450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p13"/>
          <p:cNvSpPr/>
          <p:nvPr/>
        </p:nvSpPr>
        <p:spPr>
          <a:xfrm>
            <a:off x="3758184" y="173278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6" name="Google Shape;1946;p13"/>
          <p:cNvSpPr/>
          <p:nvPr/>
        </p:nvSpPr>
        <p:spPr>
          <a:xfrm>
            <a:off x="4090416" y="171450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13"/>
          <p:cNvSpPr/>
          <p:nvPr/>
        </p:nvSpPr>
        <p:spPr>
          <a:xfrm>
            <a:off x="4136136" y="173278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8" name="Google Shape;1948;p13"/>
          <p:cNvSpPr/>
          <p:nvPr/>
        </p:nvSpPr>
        <p:spPr>
          <a:xfrm>
            <a:off x="4468368" y="171450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13"/>
          <p:cNvSpPr/>
          <p:nvPr/>
        </p:nvSpPr>
        <p:spPr>
          <a:xfrm>
            <a:off x="4514088" y="173278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0" name="Google Shape;1950;p13"/>
          <p:cNvSpPr/>
          <p:nvPr/>
        </p:nvSpPr>
        <p:spPr>
          <a:xfrm>
            <a:off x="2578608" y="192024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1" name="Google Shape;1951;p13"/>
          <p:cNvSpPr/>
          <p:nvPr/>
        </p:nvSpPr>
        <p:spPr>
          <a:xfrm>
            <a:off x="2578591" y="1911064"/>
            <a:ext cx="378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7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grapes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2" name="Google Shape;1952;p13"/>
          <p:cNvSpPr/>
          <p:nvPr/>
        </p:nvSpPr>
        <p:spPr>
          <a:xfrm>
            <a:off x="2956560" y="192024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3" name="Google Shape;1953;p13"/>
          <p:cNvSpPr/>
          <p:nvPr/>
        </p:nvSpPr>
        <p:spPr>
          <a:xfrm>
            <a:off x="3002280" y="193852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4" name="Google Shape;1954;p13"/>
          <p:cNvSpPr/>
          <p:nvPr/>
        </p:nvSpPr>
        <p:spPr>
          <a:xfrm>
            <a:off x="3334512" y="192024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5" name="Google Shape;1955;p13"/>
          <p:cNvSpPr/>
          <p:nvPr/>
        </p:nvSpPr>
        <p:spPr>
          <a:xfrm>
            <a:off x="3380232" y="193852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p13"/>
          <p:cNvSpPr/>
          <p:nvPr/>
        </p:nvSpPr>
        <p:spPr>
          <a:xfrm>
            <a:off x="3712464" y="192024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13"/>
          <p:cNvSpPr/>
          <p:nvPr/>
        </p:nvSpPr>
        <p:spPr>
          <a:xfrm>
            <a:off x="3758184" y="193852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8" name="Google Shape;1958;p13"/>
          <p:cNvSpPr/>
          <p:nvPr/>
        </p:nvSpPr>
        <p:spPr>
          <a:xfrm>
            <a:off x="4090416" y="192024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9" name="Google Shape;1959;p13"/>
          <p:cNvSpPr/>
          <p:nvPr/>
        </p:nvSpPr>
        <p:spPr>
          <a:xfrm>
            <a:off x="4136136" y="193852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0" name="Google Shape;1960;p13"/>
          <p:cNvSpPr/>
          <p:nvPr/>
        </p:nvSpPr>
        <p:spPr>
          <a:xfrm>
            <a:off x="4468368" y="192024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13"/>
          <p:cNvSpPr/>
          <p:nvPr/>
        </p:nvSpPr>
        <p:spPr>
          <a:xfrm>
            <a:off x="4514088" y="193852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2" name="Google Shape;1962;p13"/>
          <p:cNvSpPr/>
          <p:nvPr/>
        </p:nvSpPr>
        <p:spPr>
          <a:xfrm>
            <a:off x="2578608" y="212598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13"/>
          <p:cNvSpPr/>
          <p:nvPr/>
        </p:nvSpPr>
        <p:spPr>
          <a:xfrm>
            <a:off x="2578601" y="2144250"/>
            <a:ext cx="332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mango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4" name="Google Shape;1964;p13"/>
          <p:cNvSpPr/>
          <p:nvPr/>
        </p:nvSpPr>
        <p:spPr>
          <a:xfrm>
            <a:off x="2956560" y="212598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5" name="Google Shape;1965;p13"/>
          <p:cNvSpPr/>
          <p:nvPr/>
        </p:nvSpPr>
        <p:spPr>
          <a:xfrm>
            <a:off x="3002280" y="214426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6" name="Google Shape;1966;p13"/>
          <p:cNvSpPr/>
          <p:nvPr/>
        </p:nvSpPr>
        <p:spPr>
          <a:xfrm>
            <a:off x="3334512" y="212598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7" name="Google Shape;1967;p13"/>
          <p:cNvSpPr/>
          <p:nvPr/>
        </p:nvSpPr>
        <p:spPr>
          <a:xfrm>
            <a:off x="3380232" y="214426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8" name="Google Shape;1968;p13"/>
          <p:cNvSpPr/>
          <p:nvPr/>
        </p:nvSpPr>
        <p:spPr>
          <a:xfrm>
            <a:off x="3712464" y="212598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9" name="Google Shape;1969;p13"/>
          <p:cNvSpPr/>
          <p:nvPr/>
        </p:nvSpPr>
        <p:spPr>
          <a:xfrm>
            <a:off x="3758184" y="214426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0" name="Google Shape;1970;p13"/>
          <p:cNvSpPr/>
          <p:nvPr/>
        </p:nvSpPr>
        <p:spPr>
          <a:xfrm>
            <a:off x="4090416" y="212598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13"/>
          <p:cNvSpPr/>
          <p:nvPr/>
        </p:nvSpPr>
        <p:spPr>
          <a:xfrm>
            <a:off x="4136136" y="214426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2" name="Google Shape;1972;p13"/>
          <p:cNvSpPr/>
          <p:nvPr/>
        </p:nvSpPr>
        <p:spPr>
          <a:xfrm>
            <a:off x="4468368" y="212598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3" name="Google Shape;1973;p13"/>
          <p:cNvSpPr/>
          <p:nvPr/>
        </p:nvSpPr>
        <p:spPr>
          <a:xfrm>
            <a:off x="4514088" y="214426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4" name="Google Shape;1974;p13"/>
          <p:cNvSpPr/>
          <p:nvPr/>
        </p:nvSpPr>
        <p:spPr>
          <a:xfrm>
            <a:off x="2578608" y="233172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5" name="Google Shape;1975;p13"/>
          <p:cNvSpPr/>
          <p:nvPr/>
        </p:nvSpPr>
        <p:spPr>
          <a:xfrm>
            <a:off x="2548750" y="2363825"/>
            <a:ext cx="362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7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waterml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6" name="Google Shape;1976;p13"/>
          <p:cNvSpPr/>
          <p:nvPr/>
        </p:nvSpPr>
        <p:spPr>
          <a:xfrm>
            <a:off x="2956560" y="233172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7" name="Google Shape;1977;p13"/>
          <p:cNvSpPr/>
          <p:nvPr/>
        </p:nvSpPr>
        <p:spPr>
          <a:xfrm>
            <a:off x="3002280" y="235000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8" name="Google Shape;1978;p13"/>
          <p:cNvSpPr/>
          <p:nvPr/>
        </p:nvSpPr>
        <p:spPr>
          <a:xfrm>
            <a:off x="3334512" y="233172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9" name="Google Shape;1979;p13"/>
          <p:cNvSpPr/>
          <p:nvPr/>
        </p:nvSpPr>
        <p:spPr>
          <a:xfrm>
            <a:off x="3380232" y="235000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0" name="Google Shape;1980;p13"/>
          <p:cNvSpPr/>
          <p:nvPr/>
        </p:nvSpPr>
        <p:spPr>
          <a:xfrm>
            <a:off x="3712464" y="233172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13"/>
          <p:cNvSpPr/>
          <p:nvPr/>
        </p:nvSpPr>
        <p:spPr>
          <a:xfrm>
            <a:off x="3758184" y="235000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2" name="Google Shape;1982;p13"/>
          <p:cNvSpPr/>
          <p:nvPr/>
        </p:nvSpPr>
        <p:spPr>
          <a:xfrm>
            <a:off x="4090416" y="233172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p13"/>
          <p:cNvSpPr/>
          <p:nvPr/>
        </p:nvSpPr>
        <p:spPr>
          <a:xfrm>
            <a:off x="4136136" y="235000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4" name="Google Shape;1984;p13"/>
          <p:cNvSpPr/>
          <p:nvPr/>
        </p:nvSpPr>
        <p:spPr>
          <a:xfrm>
            <a:off x="4468368" y="2331720"/>
            <a:ext cx="37795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p13"/>
          <p:cNvSpPr/>
          <p:nvPr/>
        </p:nvSpPr>
        <p:spPr>
          <a:xfrm>
            <a:off x="4514088" y="2350008"/>
            <a:ext cx="2865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6" name="Google Shape;1986;p13"/>
          <p:cNvSpPr/>
          <p:nvPr/>
        </p:nvSpPr>
        <p:spPr>
          <a:xfrm>
            <a:off x="4956048" y="841248"/>
            <a:ext cx="54864" cy="237744"/>
          </a:xfrm>
          <a:prstGeom prst="rect">
            <a:avLst/>
          </a:prstGeom>
          <a:solidFill>
            <a:srgbClr val="D4850A"/>
          </a:solidFill>
          <a:ln cap="flat" cmpd="sng" w="12700">
            <a:solidFill>
              <a:srgbClr val="D485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7" name="Google Shape;1987;p13"/>
          <p:cNvSpPr/>
          <p:nvPr/>
        </p:nvSpPr>
        <p:spPr>
          <a:xfrm>
            <a:off x="5047488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50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4850A"/>
                </a:solidFill>
                <a:latin typeface="Calibri"/>
                <a:ea typeface="Calibri"/>
                <a:cs typeface="Calibri"/>
                <a:sym typeface="Calibri"/>
              </a:rPr>
              <a:t>dropna(axis=1,how='all')  →  s5 column removed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8" name="Google Shape;1988;p13"/>
          <p:cNvSpPr/>
          <p:nvPr/>
        </p:nvSpPr>
        <p:spPr>
          <a:xfrm>
            <a:off x="4956048" y="1097280"/>
            <a:ext cx="453542" cy="205740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9" name="Google Shape;1989;p13"/>
          <p:cNvSpPr/>
          <p:nvPr/>
        </p:nvSpPr>
        <p:spPr>
          <a:xfrm>
            <a:off x="5001768" y="111556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0" name="Google Shape;1990;p13"/>
          <p:cNvSpPr/>
          <p:nvPr/>
        </p:nvSpPr>
        <p:spPr>
          <a:xfrm>
            <a:off x="5409590" y="1097280"/>
            <a:ext cx="453542" cy="205740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13"/>
          <p:cNvSpPr/>
          <p:nvPr/>
        </p:nvSpPr>
        <p:spPr>
          <a:xfrm>
            <a:off x="5455310" y="111556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2" name="Google Shape;1992;p13"/>
          <p:cNvSpPr/>
          <p:nvPr/>
        </p:nvSpPr>
        <p:spPr>
          <a:xfrm>
            <a:off x="5863133" y="1097280"/>
            <a:ext cx="453542" cy="205740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13"/>
          <p:cNvSpPr/>
          <p:nvPr/>
        </p:nvSpPr>
        <p:spPr>
          <a:xfrm>
            <a:off x="5908853" y="111556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13"/>
          <p:cNvSpPr/>
          <p:nvPr/>
        </p:nvSpPr>
        <p:spPr>
          <a:xfrm>
            <a:off x="6316675" y="1097280"/>
            <a:ext cx="453542" cy="205740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5" name="Google Shape;1995;p13"/>
          <p:cNvSpPr/>
          <p:nvPr/>
        </p:nvSpPr>
        <p:spPr>
          <a:xfrm>
            <a:off x="6362395" y="111556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6" name="Google Shape;1996;p13"/>
          <p:cNvSpPr/>
          <p:nvPr/>
        </p:nvSpPr>
        <p:spPr>
          <a:xfrm>
            <a:off x="6770218" y="1097280"/>
            <a:ext cx="453542" cy="205740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7" name="Google Shape;1997;p13"/>
          <p:cNvSpPr/>
          <p:nvPr/>
        </p:nvSpPr>
        <p:spPr>
          <a:xfrm>
            <a:off x="6815938" y="111556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8" name="Google Shape;1998;p13"/>
          <p:cNvSpPr/>
          <p:nvPr/>
        </p:nvSpPr>
        <p:spPr>
          <a:xfrm>
            <a:off x="4956048" y="1303020"/>
            <a:ext cx="453542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9" name="Google Shape;1999;p13"/>
          <p:cNvSpPr/>
          <p:nvPr/>
        </p:nvSpPr>
        <p:spPr>
          <a:xfrm>
            <a:off x="5001768" y="132130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p13"/>
          <p:cNvSpPr/>
          <p:nvPr/>
        </p:nvSpPr>
        <p:spPr>
          <a:xfrm>
            <a:off x="5409590" y="1303020"/>
            <a:ext cx="453542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1" name="Google Shape;2001;p13"/>
          <p:cNvSpPr/>
          <p:nvPr/>
        </p:nvSpPr>
        <p:spPr>
          <a:xfrm>
            <a:off x="5455310" y="132130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13"/>
          <p:cNvSpPr/>
          <p:nvPr/>
        </p:nvSpPr>
        <p:spPr>
          <a:xfrm>
            <a:off x="5863133" y="1303020"/>
            <a:ext cx="453542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p13"/>
          <p:cNvSpPr/>
          <p:nvPr/>
        </p:nvSpPr>
        <p:spPr>
          <a:xfrm>
            <a:off x="5908853" y="132130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4" name="Google Shape;2004;p13"/>
          <p:cNvSpPr/>
          <p:nvPr/>
        </p:nvSpPr>
        <p:spPr>
          <a:xfrm>
            <a:off x="6316675" y="1303020"/>
            <a:ext cx="453542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5" name="Google Shape;2005;p13"/>
          <p:cNvSpPr/>
          <p:nvPr/>
        </p:nvSpPr>
        <p:spPr>
          <a:xfrm>
            <a:off x="6362395" y="132130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13"/>
          <p:cNvSpPr/>
          <p:nvPr/>
        </p:nvSpPr>
        <p:spPr>
          <a:xfrm>
            <a:off x="6770218" y="1303020"/>
            <a:ext cx="453542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p13"/>
          <p:cNvSpPr/>
          <p:nvPr/>
        </p:nvSpPr>
        <p:spPr>
          <a:xfrm>
            <a:off x="6815938" y="132130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8" name="Google Shape;2008;p13"/>
          <p:cNvSpPr/>
          <p:nvPr/>
        </p:nvSpPr>
        <p:spPr>
          <a:xfrm>
            <a:off x="4956048" y="1508760"/>
            <a:ext cx="453542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9" name="Google Shape;2009;p13"/>
          <p:cNvSpPr/>
          <p:nvPr/>
        </p:nvSpPr>
        <p:spPr>
          <a:xfrm>
            <a:off x="5001768" y="152704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banana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Google Shape;2010;p13"/>
          <p:cNvSpPr/>
          <p:nvPr/>
        </p:nvSpPr>
        <p:spPr>
          <a:xfrm>
            <a:off x="5409590" y="1508760"/>
            <a:ext cx="453542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13"/>
          <p:cNvSpPr/>
          <p:nvPr/>
        </p:nvSpPr>
        <p:spPr>
          <a:xfrm>
            <a:off x="5455310" y="152704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p13"/>
          <p:cNvSpPr/>
          <p:nvPr/>
        </p:nvSpPr>
        <p:spPr>
          <a:xfrm>
            <a:off x="5863133" y="1508760"/>
            <a:ext cx="453542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3" name="Google Shape;2013;p13"/>
          <p:cNvSpPr/>
          <p:nvPr/>
        </p:nvSpPr>
        <p:spPr>
          <a:xfrm>
            <a:off x="5908853" y="152704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4" name="Google Shape;2014;p13"/>
          <p:cNvSpPr/>
          <p:nvPr/>
        </p:nvSpPr>
        <p:spPr>
          <a:xfrm>
            <a:off x="6316675" y="1508760"/>
            <a:ext cx="453542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5" name="Google Shape;2015;p13"/>
          <p:cNvSpPr/>
          <p:nvPr/>
        </p:nvSpPr>
        <p:spPr>
          <a:xfrm>
            <a:off x="6362395" y="152704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6" name="Google Shape;2016;p13"/>
          <p:cNvSpPr/>
          <p:nvPr/>
        </p:nvSpPr>
        <p:spPr>
          <a:xfrm>
            <a:off x="6770218" y="1508760"/>
            <a:ext cx="45354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7" name="Google Shape;2017;p13"/>
          <p:cNvSpPr/>
          <p:nvPr/>
        </p:nvSpPr>
        <p:spPr>
          <a:xfrm>
            <a:off x="6815938" y="152704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8" name="Google Shape;2018;p13"/>
          <p:cNvSpPr/>
          <p:nvPr/>
        </p:nvSpPr>
        <p:spPr>
          <a:xfrm>
            <a:off x="4956048" y="1714500"/>
            <a:ext cx="45354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9" name="Google Shape;2019;p13"/>
          <p:cNvSpPr/>
          <p:nvPr/>
        </p:nvSpPr>
        <p:spPr>
          <a:xfrm>
            <a:off x="5001768" y="173278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kiwi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0" name="Google Shape;2020;p13"/>
          <p:cNvSpPr/>
          <p:nvPr/>
        </p:nvSpPr>
        <p:spPr>
          <a:xfrm>
            <a:off x="5409590" y="1714500"/>
            <a:ext cx="45354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1" name="Google Shape;2021;p13"/>
          <p:cNvSpPr/>
          <p:nvPr/>
        </p:nvSpPr>
        <p:spPr>
          <a:xfrm>
            <a:off x="5455310" y="173278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2" name="Google Shape;2022;p13"/>
          <p:cNvSpPr/>
          <p:nvPr/>
        </p:nvSpPr>
        <p:spPr>
          <a:xfrm>
            <a:off x="5863133" y="1714500"/>
            <a:ext cx="45354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3" name="Google Shape;2023;p13"/>
          <p:cNvSpPr/>
          <p:nvPr/>
        </p:nvSpPr>
        <p:spPr>
          <a:xfrm>
            <a:off x="5908853" y="173278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p13"/>
          <p:cNvSpPr/>
          <p:nvPr/>
        </p:nvSpPr>
        <p:spPr>
          <a:xfrm>
            <a:off x="6316675" y="1714500"/>
            <a:ext cx="45354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5" name="Google Shape;2025;p13"/>
          <p:cNvSpPr/>
          <p:nvPr/>
        </p:nvSpPr>
        <p:spPr>
          <a:xfrm>
            <a:off x="6362395" y="173278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6" name="Google Shape;2026;p13"/>
          <p:cNvSpPr/>
          <p:nvPr/>
        </p:nvSpPr>
        <p:spPr>
          <a:xfrm>
            <a:off x="6770218" y="1714500"/>
            <a:ext cx="45354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7" name="Google Shape;2027;p13"/>
          <p:cNvSpPr/>
          <p:nvPr/>
        </p:nvSpPr>
        <p:spPr>
          <a:xfrm>
            <a:off x="6815938" y="173278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8" name="Google Shape;2028;p13"/>
          <p:cNvSpPr/>
          <p:nvPr/>
        </p:nvSpPr>
        <p:spPr>
          <a:xfrm>
            <a:off x="4956048" y="1920240"/>
            <a:ext cx="45354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9" name="Google Shape;2029;p13"/>
          <p:cNvSpPr/>
          <p:nvPr/>
        </p:nvSpPr>
        <p:spPr>
          <a:xfrm>
            <a:off x="5001768" y="193852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grapes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0" name="Google Shape;2030;p13"/>
          <p:cNvSpPr/>
          <p:nvPr/>
        </p:nvSpPr>
        <p:spPr>
          <a:xfrm>
            <a:off x="5409590" y="1920240"/>
            <a:ext cx="45354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1" name="Google Shape;2031;p13"/>
          <p:cNvSpPr/>
          <p:nvPr/>
        </p:nvSpPr>
        <p:spPr>
          <a:xfrm>
            <a:off x="5455310" y="193852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2" name="Google Shape;2032;p13"/>
          <p:cNvSpPr/>
          <p:nvPr/>
        </p:nvSpPr>
        <p:spPr>
          <a:xfrm>
            <a:off x="5863133" y="1920240"/>
            <a:ext cx="45354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3" name="Google Shape;2033;p13"/>
          <p:cNvSpPr/>
          <p:nvPr/>
        </p:nvSpPr>
        <p:spPr>
          <a:xfrm>
            <a:off x="5908853" y="193852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4" name="Google Shape;2034;p13"/>
          <p:cNvSpPr/>
          <p:nvPr/>
        </p:nvSpPr>
        <p:spPr>
          <a:xfrm>
            <a:off x="6316675" y="1920240"/>
            <a:ext cx="45354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5" name="Google Shape;2035;p13"/>
          <p:cNvSpPr/>
          <p:nvPr/>
        </p:nvSpPr>
        <p:spPr>
          <a:xfrm>
            <a:off x="6362395" y="193852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6" name="Google Shape;2036;p13"/>
          <p:cNvSpPr/>
          <p:nvPr/>
        </p:nvSpPr>
        <p:spPr>
          <a:xfrm>
            <a:off x="6770218" y="1920240"/>
            <a:ext cx="45354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7" name="Google Shape;2037;p13"/>
          <p:cNvSpPr/>
          <p:nvPr/>
        </p:nvSpPr>
        <p:spPr>
          <a:xfrm>
            <a:off x="6815938" y="193852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8" name="Google Shape;2038;p13"/>
          <p:cNvSpPr/>
          <p:nvPr/>
        </p:nvSpPr>
        <p:spPr>
          <a:xfrm>
            <a:off x="4956048" y="2125980"/>
            <a:ext cx="45354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9" name="Google Shape;2039;p13"/>
          <p:cNvSpPr/>
          <p:nvPr/>
        </p:nvSpPr>
        <p:spPr>
          <a:xfrm>
            <a:off x="5001768" y="214426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mango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0" name="Google Shape;2040;p13"/>
          <p:cNvSpPr/>
          <p:nvPr/>
        </p:nvSpPr>
        <p:spPr>
          <a:xfrm>
            <a:off x="5409590" y="2125980"/>
            <a:ext cx="45354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1" name="Google Shape;2041;p13"/>
          <p:cNvSpPr/>
          <p:nvPr/>
        </p:nvSpPr>
        <p:spPr>
          <a:xfrm>
            <a:off x="5455310" y="214426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2" name="Google Shape;2042;p13"/>
          <p:cNvSpPr/>
          <p:nvPr/>
        </p:nvSpPr>
        <p:spPr>
          <a:xfrm>
            <a:off x="5863133" y="2125980"/>
            <a:ext cx="45354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3" name="Google Shape;2043;p13"/>
          <p:cNvSpPr/>
          <p:nvPr/>
        </p:nvSpPr>
        <p:spPr>
          <a:xfrm>
            <a:off x="5908853" y="214426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4" name="Google Shape;2044;p13"/>
          <p:cNvSpPr/>
          <p:nvPr/>
        </p:nvSpPr>
        <p:spPr>
          <a:xfrm>
            <a:off x="6316675" y="2125980"/>
            <a:ext cx="45354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5" name="Google Shape;2045;p13"/>
          <p:cNvSpPr/>
          <p:nvPr/>
        </p:nvSpPr>
        <p:spPr>
          <a:xfrm>
            <a:off x="6362395" y="214426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6" name="Google Shape;2046;p13"/>
          <p:cNvSpPr/>
          <p:nvPr/>
        </p:nvSpPr>
        <p:spPr>
          <a:xfrm>
            <a:off x="6770218" y="2125980"/>
            <a:ext cx="45354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7" name="Google Shape;2047;p13"/>
          <p:cNvSpPr/>
          <p:nvPr/>
        </p:nvSpPr>
        <p:spPr>
          <a:xfrm>
            <a:off x="6815938" y="214426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8" name="Google Shape;2048;p13"/>
          <p:cNvSpPr/>
          <p:nvPr/>
        </p:nvSpPr>
        <p:spPr>
          <a:xfrm>
            <a:off x="4956048" y="2331720"/>
            <a:ext cx="45354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9" name="Google Shape;2049;p13"/>
          <p:cNvSpPr/>
          <p:nvPr/>
        </p:nvSpPr>
        <p:spPr>
          <a:xfrm>
            <a:off x="5001768" y="235000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waterml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0" name="Google Shape;2050;p13"/>
          <p:cNvSpPr/>
          <p:nvPr/>
        </p:nvSpPr>
        <p:spPr>
          <a:xfrm>
            <a:off x="5409590" y="2331720"/>
            <a:ext cx="45354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1" name="Google Shape;2051;p13"/>
          <p:cNvSpPr/>
          <p:nvPr/>
        </p:nvSpPr>
        <p:spPr>
          <a:xfrm>
            <a:off x="5455310" y="235000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2" name="Google Shape;2052;p13"/>
          <p:cNvSpPr/>
          <p:nvPr/>
        </p:nvSpPr>
        <p:spPr>
          <a:xfrm>
            <a:off x="5863133" y="2331720"/>
            <a:ext cx="45354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3" name="Google Shape;2053;p13"/>
          <p:cNvSpPr/>
          <p:nvPr/>
        </p:nvSpPr>
        <p:spPr>
          <a:xfrm>
            <a:off x="5908853" y="235000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4" name="Google Shape;2054;p13"/>
          <p:cNvSpPr/>
          <p:nvPr/>
        </p:nvSpPr>
        <p:spPr>
          <a:xfrm>
            <a:off x="6316675" y="2331720"/>
            <a:ext cx="45354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5" name="Google Shape;2055;p13"/>
          <p:cNvSpPr/>
          <p:nvPr/>
        </p:nvSpPr>
        <p:spPr>
          <a:xfrm>
            <a:off x="6362395" y="235000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6" name="Google Shape;2056;p13"/>
          <p:cNvSpPr/>
          <p:nvPr/>
        </p:nvSpPr>
        <p:spPr>
          <a:xfrm>
            <a:off x="6770218" y="2331720"/>
            <a:ext cx="45354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7" name="Google Shape;2057;p13"/>
          <p:cNvSpPr/>
          <p:nvPr/>
        </p:nvSpPr>
        <p:spPr>
          <a:xfrm>
            <a:off x="6815938" y="235000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8" name="Google Shape;2058;p13"/>
          <p:cNvSpPr/>
          <p:nvPr/>
        </p:nvSpPr>
        <p:spPr>
          <a:xfrm>
            <a:off x="4956048" y="2537460"/>
            <a:ext cx="453542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9" name="Google Shape;2059;p13"/>
          <p:cNvSpPr/>
          <p:nvPr/>
        </p:nvSpPr>
        <p:spPr>
          <a:xfrm>
            <a:off x="5001768" y="255574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oranges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0" name="Google Shape;2060;p13"/>
          <p:cNvSpPr/>
          <p:nvPr/>
        </p:nvSpPr>
        <p:spPr>
          <a:xfrm>
            <a:off x="5409590" y="2537460"/>
            <a:ext cx="45354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1" name="Google Shape;2061;p13"/>
          <p:cNvSpPr/>
          <p:nvPr/>
        </p:nvSpPr>
        <p:spPr>
          <a:xfrm>
            <a:off x="5455310" y="255574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2" name="Google Shape;2062;p13"/>
          <p:cNvSpPr/>
          <p:nvPr/>
        </p:nvSpPr>
        <p:spPr>
          <a:xfrm>
            <a:off x="5863133" y="2537460"/>
            <a:ext cx="45354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3" name="Google Shape;2063;p13"/>
          <p:cNvSpPr/>
          <p:nvPr/>
        </p:nvSpPr>
        <p:spPr>
          <a:xfrm>
            <a:off x="5908853" y="255574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4" name="Google Shape;2064;p13"/>
          <p:cNvSpPr/>
          <p:nvPr/>
        </p:nvSpPr>
        <p:spPr>
          <a:xfrm>
            <a:off x="6316675" y="2537460"/>
            <a:ext cx="45354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5" name="Google Shape;2065;p13"/>
          <p:cNvSpPr/>
          <p:nvPr/>
        </p:nvSpPr>
        <p:spPr>
          <a:xfrm>
            <a:off x="6362395" y="255574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6" name="Google Shape;2066;p13"/>
          <p:cNvSpPr/>
          <p:nvPr/>
        </p:nvSpPr>
        <p:spPr>
          <a:xfrm>
            <a:off x="6770218" y="2537460"/>
            <a:ext cx="453542" cy="20574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7" name="Google Shape;2067;p13"/>
          <p:cNvSpPr/>
          <p:nvPr/>
        </p:nvSpPr>
        <p:spPr>
          <a:xfrm>
            <a:off x="6815938" y="2555748"/>
            <a:ext cx="36210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8" name="Google Shape;2068;p13"/>
          <p:cNvSpPr/>
          <p:nvPr/>
        </p:nvSpPr>
        <p:spPr>
          <a:xfrm>
            <a:off x="7333488" y="1316736"/>
            <a:ext cx="16093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50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D4850A"/>
                </a:solidFill>
                <a:latin typeface="Calibri"/>
                <a:ea typeface="Calibri"/>
                <a:cs typeface="Calibri"/>
                <a:sym typeface="Calibri"/>
              </a:rPr>
              <a:t>s5 dropped (all-NaN column)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9" name="Google Shape;2069;p13"/>
          <p:cNvSpPr/>
          <p:nvPr/>
        </p:nvSpPr>
        <p:spPr>
          <a:xfrm>
            <a:off x="137200" y="3028799"/>
            <a:ext cx="8741700" cy="1463100"/>
          </a:xfrm>
          <a:prstGeom prst="rect">
            <a:avLst/>
          </a:prstGeom>
          <a:solidFill>
            <a:srgbClr val="1A2B3C"/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0" name="Google Shape;2070;p13"/>
          <p:cNvSpPr/>
          <p:nvPr/>
        </p:nvSpPr>
        <p:spPr>
          <a:xfrm>
            <a:off x="137218" y="2848353"/>
            <a:ext cx="8741700" cy="1830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1" name="Google Shape;2071;p13"/>
          <p:cNvSpPr/>
          <p:nvPr/>
        </p:nvSpPr>
        <p:spPr>
          <a:xfrm>
            <a:off x="201170" y="2857503"/>
            <a:ext cx="1280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2" name="Google Shape;2072;p13"/>
          <p:cNvSpPr/>
          <p:nvPr/>
        </p:nvSpPr>
        <p:spPr>
          <a:xfrm>
            <a:off x="579129" y="3076925"/>
            <a:ext cx="37521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1. Drop ANY row with ≥1 NaN  →  empty (all rows have NaN)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dfx.dropna()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2. Drop rows where EVERY value is NaN  →  removes 'oranges'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dfx.dropna(how='all')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3. Drop COLUMNS where all values are NaN  →  removes 's5'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dfx.dropna(axis=1, how='all')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3" name="Google Shape;2073;p13"/>
          <p:cNvSpPr/>
          <p:nvPr/>
        </p:nvSpPr>
        <p:spPr>
          <a:xfrm>
            <a:off x="146418" y="4539989"/>
            <a:ext cx="6492300" cy="329100"/>
          </a:xfrm>
          <a:prstGeom prst="rect">
            <a:avLst/>
          </a:prstGeom>
          <a:solidFill>
            <a:srgbClr val="D4850A">
              <a:alpha val="10196"/>
            </a:srgbClr>
          </a:solidFill>
          <a:ln cap="flat" cmpd="sng" w="15225">
            <a:solidFill>
              <a:srgbClr val="D485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4" name="Google Shape;2074;p13"/>
          <p:cNvSpPr/>
          <p:nvPr/>
        </p:nvSpPr>
        <p:spPr>
          <a:xfrm>
            <a:off x="82293" y="4539952"/>
            <a:ext cx="54900" cy="329100"/>
          </a:xfrm>
          <a:prstGeom prst="rect">
            <a:avLst/>
          </a:prstGeom>
          <a:solidFill>
            <a:srgbClr val="D4850A"/>
          </a:solidFill>
          <a:ln cap="flat" cmpd="sng" w="12700">
            <a:solidFill>
              <a:srgbClr val="D485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5" name="Google Shape;2075;p13"/>
          <p:cNvSpPr/>
          <p:nvPr/>
        </p:nvSpPr>
        <p:spPr>
          <a:xfrm>
            <a:off x="146421" y="4567428"/>
            <a:ext cx="632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💡 thresh=N keeps rows/cols with at least N non-NaN values — the most practical parameter for real datasets.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6" name="Google Shape;2076;p13"/>
          <p:cNvSpPr/>
          <p:nvPr/>
        </p:nvSpPr>
        <p:spPr>
          <a:xfrm>
            <a:off x="6784911" y="4539989"/>
            <a:ext cx="2157900" cy="329100"/>
          </a:xfrm>
          <a:prstGeom prst="rect">
            <a:avLst/>
          </a:prstGeom>
          <a:solidFill>
            <a:srgbClr val="1A7A34">
              <a:alpha val="10196"/>
            </a:srgbClr>
          </a:solidFill>
          <a:ln cap="flat" cmpd="sng" w="15225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7" name="Google Shape;2077;p13"/>
          <p:cNvSpPr/>
          <p:nvPr/>
        </p:nvSpPr>
        <p:spPr>
          <a:xfrm>
            <a:off x="6725511" y="4553689"/>
            <a:ext cx="54900" cy="329100"/>
          </a:xfrm>
          <a:prstGeom prst="rect">
            <a:avLst/>
          </a:prstGeom>
          <a:solidFill>
            <a:srgbClr val="1A7A34"/>
          </a:solidFill>
          <a:ln cap="flat" cmpd="sng" w="12700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8" name="Google Shape;2078;p13"/>
          <p:cNvSpPr/>
          <p:nvPr/>
        </p:nvSpPr>
        <p:spPr>
          <a:xfrm>
            <a:off x="6867138" y="4576565"/>
            <a:ext cx="1993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🌐 Use case: drop sensors/columns with &gt;60% missing before ML feature selection.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9" name="Google Shape;2079;p13"/>
          <p:cNvSpPr/>
          <p:nvPr/>
        </p:nvSpPr>
        <p:spPr>
          <a:xfrm>
            <a:off x="4736229" y="2994638"/>
            <a:ext cx="37521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4. Drop cols with &lt; 5 valid values  →  also removes 's4'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dfx.dropna(axis=1, thresh=5)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5. Keep only rows with ≥4 valid values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dfx.dropna(thresh=4)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2084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p14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6" name="Google Shape;2086;p14"/>
          <p:cNvSpPr/>
          <p:nvPr/>
        </p:nvSpPr>
        <p:spPr>
          <a:xfrm>
            <a:off x="0" y="0"/>
            <a:ext cx="82296" cy="804672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7" name="Google Shape;2087;p14"/>
          <p:cNvSpPr/>
          <p:nvPr/>
        </p:nvSpPr>
        <p:spPr>
          <a:xfrm>
            <a:off x="182880" y="64008"/>
            <a:ext cx="8778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Missing Data — fillna() : Constant &amp; Statistical Filling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8" name="Google Shape;2088;p14"/>
          <p:cNvSpPr/>
          <p:nvPr/>
        </p:nvSpPr>
        <p:spPr>
          <a:xfrm>
            <a:off x="182880" y="493776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C8E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FC8E0"/>
                </a:solidFill>
                <a:latin typeface="Calibri"/>
                <a:ea typeface="Calibri"/>
                <a:cs typeface="Calibri"/>
                <a:sym typeface="Calibri"/>
              </a:rPr>
              <a:t>Replace NaN with a fixed value or column statistics — and see the impact on the mean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9" name="Google Shape;2089;p1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0" name="Google Shape;2090;p14"/>
          <p:cNvSpPr/>
          <p:nvPr/>
        </p:nvSpPr>
        <p:spPr>
          <a:xfrm>
            <a:off x="201168" y="4910328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F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FC8"/>
                </a:solidFill>
                <a:latin typeface="Calibri"/>
                <a:ea typeface="Calibri"/>
                <a:cs typeface="Calibri"/>
                <a:sym typeface="Calibri"/>
              </a:rPr>
              <a:t>EDA | Module 2 | 23CSE422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1" name="Google Shape;2091;p14"/>
          <p:cNvSpPr/>
          <p:nvPr/>
        </p:nvSpPr>
        <p:spPr>
          <a:xfrm>
            <a:off x="201168" y="841248"/>
            <a:ext cx="54864" cy="237744"/>
          </a:xfrm>
          <a:prstGeom prst="rect">
            <a:avLst/>
          </a:prstGeom>
          <a:solidFill>
            <a:srgbClr val="4A5568"/>
          </a:solidFill>
          <a:ln cap="flat" cmpd="sng" w="12700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2" name="Google Shape;2092;p14"/>
          <p:cNvSpPr/>
          <p:nvPr/>
        </p:nvSpPr>
        <p:spPr>
          <a:xfrm>
            <a:off x="292608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store4  (original)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3" name="Google Shape;2093;p14"/>
          <p:cNvSpPr/>
          <p:nvPr/>
        </p:nvSpPr>
        <p:spPr>
          <a:xfrm>
            <a:off x="201168" y="1097280"/>
            <a:ext cx="786384" cy="214884"/>
          </a:xfrm>
          <a:prstGeom prst="rect">
            <a:avLst/>
          </a:prstGeom>
          <a:solidFill>
            <a:srgbClr val="4A556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4" name="Google Shape;2094;p14"/>
          <p:cNvSpPr/>
          <p:nvPr/>
        </p:nvSpPr>
        <p:spPr>
          <a:xfrm>
            <a:off x="246888" y="1115568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5" name="Google Shape;2095;p14"/>
          <p:cNvSpPr/>
          <p:nvPr/>
        </p:nvSpPr>
        <p:spPr>
          <a:xfrm>
            <a:off x="987552" y="1097280"/>
            <a:ext cx="786384" cy="214884"/>
          </a:xfrm>
          <a:prstGeom prst="rect">
            <a:avLst/>
          </a:prstGeom>
          <a:solidFill>
            <a:srgbClr val="4A556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6" name="Google Shape;2096;p14"/>
          <p:cNvSpPr/>
          <p:nvPr/>
        </p:nvSpPr>
        <p:spPr>
          <a:xfrm>
            <a:off x="1033272" y="1115568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store4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7" name="Google Shape;2097;p14"/>
          <p:cNvSpPr/>
          <p:nvPr/>
        </p:nvSpPr>
        <p:spPr>
          <a:xfrm>
            <a:off x="201168" y="1312164"/>
            <a:ext cx="786384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8" name="Google Shape;2098;p14"/>
          <p:cNvSpPr/>
          <p:nvPr/>
        </p:nvSpPr>
        <p:spPr>
          <a:xfrm>
            <a:off x="246888" y="1330452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9" name="Google Shape;2099;p14"/>
          <p:cNvSpPr/>
          <p:nvPr/>
        </p:nvSpPr>
        <p:spPr>
          <a:xfrm>
            <a:off x="987552" y="1312164"/>
            <a:ext cx="786384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0" name="Google Shape;2100;p14"/>
          <p:cNvSpPr/>
          <p:nvPr/>
        </p:nvSpPr>
        <p:spPr>
          <a:xfrm>
            <a:off x="1033272" y="1330452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20.0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1" name="Google Shape;2101;p14"/>
          <p:cNvSpPr/>
          <p:nvPr/>
        </p:nvSpPr>
        <p:spPr>
          <a:xfrm>
            <a:off x="201168" y="1527048"/>
            <a:ext cx="786384" cy="2148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2" name="Google Shape;2102;p14"/>
          <p:cNvSpPr/>
          <p:nvPr/>
        </p:nvSpPr>
        <p:spPr>
          <a:xfrm>
            <a:off x="246888" y="1545336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banana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3" name="Google Shape;2103;p14"/>
          <p:cNvSpPr/>
          <p:nvPr/>
        </p:nvSpPr>
        <p:spPr>
          <a:xfrm>
            <a:off x="987552" y="1527048"/>
            <a:ext cx="786384" cy="214884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4" name="Google Shape;2104;p14"/>
          <p:cNvSpPr/>
          <p:nvPr/>
        </p:nvSpPr>
        <p:spPr>
          <a:xfrm>
            <a:off x="1033272" y="1545336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5" name="Google Shape;2105;p14"/>
          <p:cNvSpPr/>
          <p:nvPr/>
        </p:nvSpPr>
        <p:spPr>
          <a:xfrm>
            <a:off x="201168" y="1741932"/>
            <a:ext cx="786384" cy="214884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6" name="Google Shape;2106;p14"/>
          <p:cNvSpPr/>
          <p:nvPr/>
        </p:nvSpPr>
        <p:spPr>
          <a:xfrm>
            <a:off x="246888" y="1760220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kiwi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7" name="Google Shape;2107;p14"/>
          <p:cNvSpPr/>
          <p:nvPr/>
        </p:nvSpPr>
        <p:spPr>
          <a:xfrm>
            <a:off x="987552" y="1741932"/>
            <a:ext cx="786384" cy="214884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8" name="Google Shape;2108;p14"/>
          <p:cNvSpPr/>
          <p:nvPr/>
        </p:nvSpPr>
        <p:spPr>
          <a:xfrm>
            <a:off x="1033272" y="1760220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9" name="Google Shape;2109;p14"/>
          <p:cNvSpPr/>
          <p:nvPr/>
        </p:nvSpPr>
        <p:spPr>
          <a:xfrm>
            <a:off x="201168" y="1956816"/>
            <a:ext cx="786384" cy="214884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0" name="Google Shape;2110;p14"/>
          <p:cNvSpPr/>
          <p:nvPr/>
        </p:nvSpPr>
        <p:spPr>
          <a:xfrm>
            <a:off x="246888" y="1975104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grapes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1" name="Google Shape;2111;p14"/>
          <p:cNvSpPr/>
          <p:nvPr/>
        </p:nvSpPr>
        <p:spPr>
          <a:xfrm>
            <a:off x="987552" y="1956816"/>
            <a:ext cx="786384" cy="214884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2" name="Google Shape;2112;p14"/>
          <p:cNvSpPr/>
          <p:nvPr/>
        </p:nvSpPr>
        <p:spPr>
          <a:xfrm>
            <a:off x="1033272" y="1975104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3" name="Google Shape;2113;p14"/>
          <p:cNvSpPr/>
          <p:nvPr/>
        </p:nvSpPr>
        <p:spPr>
          <a:xfrm>
            <a:off x="201168" y="2171700"/>
            <a:ext cx="786384" cy="214884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4" name="Google Shape;2114;p14"/>
          <p:cNvSpPr/>
          <p:nvPr/>
        </p:nvSpPr>
        <p:spPr>
          <a:xfrm>
            <a:off x="246888" y="2189988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mango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5" name="Google Shape;2115;p14"/>
          <p:cNvSpPr/>
          <p:nvPr/>
        </p:nvSpPr>
        <p:spPr>
          <a:xfrm>
            <a:off x="987552" y="2171700"/>
            <a:ext cx="786384" cy="214884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6" name="Google Shape;2116;p14"/>
          <p:cNvSpPr/>
          <p:nvPr/>
        </p:nvSpPr>
        <p:spPr>
          <a:xfrm>
            <a:off x="1033272" y="2189988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7" name="Google Shape;2117;p14"/>
          <p:cNvSpPr/>
          <p:nvPr/>
        </p:nvSpPr>
        <p:spPr>
          <a:xfrm>
            <a:off x="201168" y="2386584"/>
            <a:ext cx="786384" cy="214884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8" name="Google Shape;2118;p14"/>
          <p:cNvSpPr/>
          <p:nvPr/>
        </p:nvSpPr>
        <p:spPr>
          <a:xfrm>
            <a:off x="246888" y="2404872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waterml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9" name="Google Shape;2119;p14"/>
          <p:cNvSpPr/>
          <p:nvPr/>
        </p:nvSpPr>
        <p:spPr>
          <a:xfrm>
            <a:off x="987552" y="2386584"/>
            <a:ext cx="786384" cy="214884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0" name="Google Shape;2120;p14"/>
          <p:cNvSpPr/>
          <p:nvPr/>
        </p:nvSpPr>
        <p:spPr>
          <a:xfrm>
            <a:off x="1033272" y="2404872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18.0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1" name="Google Shape;2121;p14"/>
          <p:cNvSpPr/>
          <p:nvPr/>
        </p:nvSpPr>
        <p:spPr>
          <a:xfrm>
            <a:off x="201168" y="2601468"/>
            <a:ext cx="786384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2" name="Google Shape;2122;p14"/>
          <p:cNvSpPr/>
          <p:nvPr/>
        </p:nvSpPr>
        <p:spPr>
          <a:xfrm>
            <a:off x="246888" y="2619756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oranges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3" name="Google Shape;2123;p14"/>
          <p:cNvSpPr/>
          <p:nvPr/>
        </p:nvSpPr>
        <p:spPr>
          <a:xfrm>
            <a:off x="987552" y="2601468"/>
            <a:ext cx="786384" cy="214884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4" name="Google Shape;2124;p14"/>
          <p:cNvSpPr/>
          <p:nvPr/>
        </p:nvSpPr>
        <p:spPr>
          <a:xfrm>
            <a:off x="1033272" y="2619756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5" name="Google Shape;2125;p14"/>
          <p:cNvSpPr/>
          <p:nvPr/>
        </p:nvSpPr>
        <p:spPr>
          <a:xfrm>
            <a:off x="1901952" y="1773936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6" name="Google Shape;2126;p14"/>
          <p:cNvSpPr/>
          <p:nvPr/>
        </p:nvSpPr>
        <p:spPr>
          <a:xfrm>
            <a:off x="1883664" y="2029968"/>
            <a:ext cx="4389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7" name="Google Shape;2127;p14"/>
          <p:cNvSpPr/>
          <p:nvPr/>
        </p:nvSpPr>
        <p:spPr>
          <a:xfrm>
            <a:off x="2377440" y="841248"/>
            <a:ext cx="54864" cy="237744"/>
          </a:xfrm>
          <a:prstGeom prst="rect">
            <a:avLst/>
          </a:prstGeom>
          <a:solidFill>
            <a:srgbClr val="D4850A"/>
          </a:solidFill>
          <a:ln cap="flat" cmpd="sng" w="12700">
            <a:solidFill>
              <a:srgbClr val="D485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8" name="Google Shape;2128;p14"/>
          <p:cNvSpPr/>
          <p:nvPr/>
        </p:nvSpPr>
        <p:spPr>
          <a:xfrm>
            <a:off x="2468880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50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4850A"/>
                </a:solidFill>
                <a:latin typeface="Calibri"/>
                <a:ea typeface="Calibri"/>
                <a:cs typeface="Calibri"/>
                <a:sym typeface="Calibri"/>
              </a:rPr>
              <a:t>fillna(0)  →  NaN → 0.0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9" name="Google Shape;2129;p14"/>
          <p:cNvSpPr/>
          <p:nvPr/>
        </p:nvSpPr>
        <p:spPr>
          <a:xfrm>
            <a:off x="2377440" y="1097280"/>
            <a:ext cx="786384" cy="214884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0" name="Google Shape;2130;p14"/>
          <p:cNvSpPr/>
          <p:nvPr/>
        </p:nvSpPr>
        <p:spPr>
          <a:xfrm>
            <a:off x="2423160" y="1115568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1" name="Google Shape;2131;p14"/>
          <p:cNvSpPr/>
          <p:nvPr/>
        </p:nvSpPr>
        <p:spPr>
          <a:xfrm>
            <a:off x="3163824" y="1097280"/>
            <a:ext cx="786384" cy="214884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2" name="Google Shape;2132;p14"/>
          <p:cNvSpPr/>
          <p:nvPr/>
        </p:nvSpPr>
        <p:spPr>
          <a:xfrm>
            <a:off x="3209544" y="1115568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store4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3" name="Google Shape;2133;p14"/>
          <p:cNvSpPr/>
          <p:nvPr/>
        </p:nvSpPr>
        <p:spPr>
          <a:xfrm>
            <a:off x="2377440" y="1312164"/>
            <a:ext cx="786384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4" name="Google Shape;2134;p14"/>
          <p:cNvSpPr/>
          <p:nvPr/>
        </p:nvSpPr>
        <p:spPr>
          <a:xfrm>
            <a:off x="2423160" y="1330452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5" name="Google Shape;2135;p14"/>
          <p:cNvSpPr/>
          <p:nvPr/>
        </p:nvSpPr>
        <p:spPr>
          <a:xfrm>
            <a:off x="3163824" y="1312164"/>
            <a:ext cx="786384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6" name="Google Shape;2136;p14"/>
          <p:cNvSpPr/>
          <p:nvPr/>
        </p:nvSpPr>
        <p:spPr>
          <a:xfrm>
            <a:off x="3209544" y="1330452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20.0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7" name="Google Shape;2137;p14"/>
          <p:cNvSpPr/>
          <p:nvPr/>
        </p:nvSpPr>
        <p:spPr>
          <a:xfrm>
            <a:off x="2377440" y="1527048"/>
            <a:ext cx="786384" cy="2148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8" name="Google Shape;2138;p14"/>
          <p:cNvSpPr/>
          <p:nvPr/>
        </p:nvSpPr>
        <p:spPr>
          <a:xfrm>
            <a:off x="2423160" y="1545336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banana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9" name="Google Shape;2139;p14"/>
          <p:cNvSpPr/>
          <p:nvPr/>
        </p:nvSpPr>
        <p:spPr>
          <a:xfrm>
            <a:off x="3163824" y="1527048"/>
            <a:ext cx="786384" cy="2148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0" name="Google Shape;2140;p14"/>
          <p:cNvSpPr/>
          <p:nvPr/>
        </p:nvSpPr>
        <p:spPr>
          <a:xfrm>
            <a:off x="3209544" y="1545336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1" name="Google Shape;2141;p14"/>
          <p:cNvSpPr/>
          <p:nvPr/>
        </p:nvSpPr>
        <p:spPr>
          <a:xfrm>
            <a:off x="2377440" y="1741932"/>
            <a:ext cx="786384" cy="214884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2" name="Google Shape;2142;p14"/>
          <p:cNvSpPr/>
          <p:nvPr/>
        </p:nvSpPr>
        <p:spPr>
          <a:xfrm>
            <a:off x="2423160" y="1760220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kiwi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3" name="Google Shape;2143;p14"/>
          <p:cNvSpPr/>
          <p:nvPr/>
        </p:nvSpPr>
        <p:spPr>
          <a:xfrm>
            <a:off x="3163824" y="1741932"/>
            <a:ext cx="786384" cy="214884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4" name="Google Shape;2144;p14"/>
          <p:cNvSpPr/>
          <p:nvPr/>
        </p:nvSpPr>
        <p:spPr>
          <a:xfrm>
            <a:off x="3209544" y="1760220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5" name="Google Shape;2145;p14"/>
          <p:cNvSpPr/>
          <p:nvPr/>
        </p:nvSpPr>
        <p:spPr>
          <a:xfrm>
            <a:off x="2377440" y="1956816"/>
            <a:ext cx="786384" cy="214884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6" name="Google Shape;2146;p14"/>
          <p:cNvSpPr/>
          <p:nvPr/>
        </p:nvSpPr>
        <p:spPr>
          <a:xfrm>
            <a:off x="2423160" y="1975104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grapes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7" name="Google Shape;2147;p14"/>
          <p:cNvSpPr/>
          <p:nvPr/>
        </p:nvSpPr>
        <p:spPr>
          <a:xfrm>
            <a:off x="3163824" y="1956816"/>
            <a:ext cx="786384" cy="214884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8" name="Google Shape;2148;p14"/>
          <p:cNvSpPr/>
          <p:nvPr/>
        </p:nvSpPr>
        <p:spPr>
          <a:xfrm>
            <a:off x="3209544" y="1975104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9" name="Google Shape;2149;p14"/>
          <p:cNvSpPr/>
          <p:nvPr/>
        </p:nvSpPr>
        <p:spPr>
          <a:xfrm>
            <a:off x="2377440" y="2171700"/>
            <a:ext cx="786384" cy="214884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0" name="Google Shape;2150;p14"/>
          <p:cNvSpPr/>
          <p:nvPr/>
        </p:nvSpPr>
        <p:spPr>
          <a:xfrm>
            <a:off x="2423160" y="2189988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mango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1" name="Google Shape;2151;p14"/>
          <p:cNvSpPr/>
          <p:nvPr/>
        </p:nvSpPr>
        <p:spPr>
          <a:xfrm>
            <a:off x="3163824" y="2171700"/>
            <a:ext cx="786384" cy="214884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2" name="Google Shape;2152;p14"/>
          <p:cNvSpPr/>
          <p:nvPr/>
        </p:nvSpPr>
        <p:spPr>
          <a:xfrm>
            <a:off x="3209544" y="2189988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3" name="Google Shape;2153;p14"/>
          <p:cNvSpPr/>
          <p:nvPr/>
        </p:nvSpPr>
        <p:spPr>
          <a:xfrm>
            <a:off x="2377440" y="2386584"/>
            <a:ext cx="786384" cy="214884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4" name="Google Shape;2154;p14"/>
          <p:cNvSpPr/>
          <p:nvPr/>
        </p:nvSpPr>
        <p:spPr>
          <a:xfrm>
            <a:off x="2423160" y="2404872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waterml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5" name="Google Shape;2155;p14"/>
          <p:cNvSpPr/>
          <p:nvPr/>
        </p:nvSpPr>
        <p:spPr>
          <a:xfrm>
            <a:off x="3163824" y="2386584"/>
            <a:ext cx="786384" cy="214884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6" name="Google Shape;2156;p14"/>
          <p:cNvSpPr/>
          <p:nvPr/>
        </p:nvSpPr>
        <p:spPr>
          <a:xfrm>
            <a:off x="3209544" y="2404872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18.0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7" name="Google Shape;2157;p14"/>
          <p:cNvSpPr/>
          <p:nvPr/>
        </p:nvSpPr>
        <p:spPr>
          <a:xfrm>
            <a:off x="2377440" y="2601468"/>
            <a:ext cx="786384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8" name="Google Shape;2158;p14"/>
          <p:cNvSpPr/>
          <p:nvPr/>
        </p:nvSpPr>
        <p:spPr>
          <a:xfrm>
            <a:off x="2423160" y="2619756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oranges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9" name="Google Shape;2159;p14"/>
          <p:cNvSpPr/>
          <p:nvPr/>
        </p:nvSpPr>
        <p:spPr>
          <a:xfrm>
            <a:off x="3163824" y="2601468"/>
            <a:ext cx="786384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0" name="Google Shape;2160;p14"/>
          <p:cNvSpPr/>
          <p:nvPr/>
        </p:nvSpPr>
        <p:spPr>
          <a:xfrm>
            <a:off x="3209544" y="2619756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1" name="Google Shape;2161;p14"/>
          <p:cNvSpPr/>
          <p:nvPr/>
        </p:nvSpPr>
        <p:spPr>
          <a:xfrm>
            <a:off x="4078224" y="1773936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2" name="Google Shape;2162;p14"/>
          <p:cNvSpPr/>
          <p:nvPr/>
        </p:nvSpPr>
        <p:spPr>
          <a:xfrm>
            <a:off x="4059936" y="2029968"/>
            <a:ext cx="4389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3" name="Google Shape;2163;p14"/>
          <p:cNvSpPr/>
          <p:nvPr/>
        </p:nvSpPr>
        <p:spPr>
          <a:xfrm>
            <a:off x="4553712" y="841248"/>
            <a:ext cx="54864" cy="237744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4" name="Google Shape;2164;p14"/>
          <p:cNvSpPr/>
          <p:nvPr/>
        </p:nvSpPr>
        <p:spPr>
          <a:xfrm>
            <a:off x="4645152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9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9E8A"/>
                </a:solidFill>
                <a:latin typeface="Calibri"/>
                <a:ea typeface="Calibri"/>
                <a:cs typeface="Calibri"/>
                <a:sym typeface="Calibri"/>
              </a:rPr>
              <a:t>fillna(mean)  →  NaN → 19.0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5" name="Google Shape;2165;p14"/>
          <p:cNvSpPr/>
          <p:nvPr/>
        </p:nvSpPr>
        <p:spPr>
          <a:xfrm>
            <a:off x="4553712" y="1097280"/>
            <a:ext cx="786384" cy="214884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6" name="Google Shape;2166;p14"/>
          <p:cNvSpPr/>
          <p:nvPr/>
        </p:nvSpPr>
        <p:spPr>
          <a:xfrm>
            <a:off x="4599432" y="1115568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7" name="Google Shape;2167;p14"/>
          <p:cNvSpPr/>
          <p:nvPr/>
        </p:nvSpPr>
        <p:spPr>
          <a:xfrm>
            <a:off x="5340096" y="1097280"/>
            <a:ext cx="786384" cy="214884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8" name="Google Shape;2168;p14"/>
          <p:cNvSpPr/>
          <p:nvPr/>
        </p:nvSpPr>
        <p:spPr>
          <a:xfrm>
            <a:off x="5385816" y="1115568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store4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9" name="Google Shape;2169;p14"/>
          <p:cNvSpPr/>
          <p:nvPr/>
        </p:nvSpPr>
        <p:spPr>
          <a:xfrm>
            <a:off x="4553712" y="1312164"/>
            <a:ext cx="786384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0" name="Google Shape;2170;p14"/>
          <p:cNvSpPr/>
          <p:nvPr/>
        </p:nvSpPr>
        <p:spPr>
          <a:xfrm>
            <a:off x="4599432" y="1330452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1" name="Google Shape;2171;p14"/>
          <p:cNvSpPr/>
          <p:nvPr/>
        </p:nvSpPr>
        <p:spPr>
          <a:xfrm>
            <a:off x="5340096" y="1312164"/>
            <a:ext cx="786384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2" name="Google Shape;2172;p14"/>
          <p:cNvSpPr/>
          <p:nvPr/>
        </p:nvSpPr>
        <p:spPr>
          <a:xfrm>
            <a:off x="5385816" y="1330452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20.0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3" name="Google Shape;2173;p14"/>
          <p:cNvSpPr/>
          <p:nvPr/>
        </p:nvSpPr>
        <p:spPr>
          <a:xfrm>
            <a:off x="4553712" y="1527048"/>
            <a:ext cx="786384" cy="2148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4" name="Google Shape;2174;p14"/>
          <p:cNvSpPr/>
          <p:nvPr/>
        </p:nvSpPr>
        <p:spPr>
          <a:xfrm>
            <a:off x="4599432" y="1545336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banana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5" name="Google Shape;2175;p14"/>
          <p:cNvSpPr/>
          <p:nvPr/>
        </p:nvSpPr>
        <p:spPr>
          <a:xfrm>
            <a:off x="5340096" y="1527048"/>
            <a:ext cx="786384" cy="2148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6" name="Google Shape;2176;p14"/>
          <p:cNvSpPr/>
          <p:nvPr/>
        </p:nvSpPr>
        <p:spPr>
          <a:xfrm>
            <a:off x="5385816" y="1545336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19.0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7" name="Google Shape;2177;p14"/>
          <p:cNvSpPr/>
          <p:nvPr/>
        </p:nvSpPr>
        <p:spPr>
          <a:xfrm>
            <a:off x="4553712" y="1741932"/>
            <a:ext cx="786384" cy="214884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8" name="Google Shape;2178;p14"/>
          <p:cNvSpPr/>
          <p:nvPr/>
        </p:nvSpPr>
        <p:spPr>
          <a:xfrm>
            <a:off x="4599432" y="1760220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kiwi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9" name="Google Shape;2179;p14"/>
          <p:cNvSpPr/>
          <p:nvPr/>
        </p:nvSpPr>
        <p:spPr>
          <a:xfrm>
            <a:off x="5340096" y="1741932"/>
            <a:ext cx="786384" cy="214884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0" name="Google Shape;2180;p14"/>
          <p:cNvSpPr/>
          <p:nvPr/>
        </p:nvSpPr>
        <p:spPr>
          <a:xfrm>
            <a:off x="5385816" y="1760220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19.0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1" name="Google Shape;2181;p14"/>
          <p:cNvSpPr/>
          <p:nvPr/>
        </p:nvSpPr>
        <p:spPr>
          <a:xfrm>
            <a:off x="4553712" y="1956816"/>
            <a:ext cx="786384" cy="214884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2" name="Google Shape;2182;p14"/>
          <p:cNvSpPr/>
          <p:nvPr/>
        </p:nvSpPr>
        <p:spPr>
          <a:xfrm>
            <a:off x="4599432" y="1975104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grapes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3" name="Google Shape;2183;p14"/>
          <p:cNvSpPr/>
          <p:nvPr/>
        </p:nvSpPr>
        <p:spPr>
          <a:xfrm>
            <a:off x="5340096" y="1956816"/>
            <a:ext cx="786384" cy="214884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4" name="Google Shape;2184;p14"/>
          <p:cNvSpPr/>
          <p:nvPr/>
        </p:nvSpPr>
        <p:spPr>
          <a:xfrm>
            <a:off x="5385816" y="1975104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19.0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5" name="Google Shape;2185;p14"/>
          <p:cNvSpPr/>
          <p:nvPr/>
        </p:nvSpPr>
        <p:spPr>
          <a:xfrm>
            <a:off x="4553712" y="2171700"/>
            <a:ext cx="786384" cy="214884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6" name="Google Shape;2186;p14"/>
          <p:cNvSpPr/>
          <p:nvPr/>
        </p:nvSpPr>
        <p:spPr>
          <a:xfrm>
            <a:off x="4599432" y="2189988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mango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7" name="Google Shape;2187;p14"/>
          <p:cNvSpPr/>
          <p:nvPr/>
        </p:nvSpPr>
        <p:spPr>
          <a:xfrm>
            <a:off x="5340096" y="2171700"/>
            <a:ext cx="786384" cy="214884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8" name="Google Shape;2188;p14"/>
          <p:cNvSpPr/>
          <p:nvPr/>
        </p:nvSpPr>
        <p:spPr>
          <a:xfrm>
            <a:off x="5385816" y="2189988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19.0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9" name="Google Shape;2189;p14"/>
          <p:cNvSpPr/>
          <p:nvPr/>
        </p:nvSpPr>
        <p:spPr>
          <a:xfrm>
            <a:off x="4553712" y="2386584"/>
            <a:ext cx="786384" cy="214884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0" name="Google Shape;2190;p14"/>
          <p:cNvSpPr/>
          <p:nvPr/>
        </p:nvSpPr>
        <p:spPr>
          <a:xfrm>
            <a:off x="4599432" y="2404872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waterml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1" name="Google Shape;2191;p14"/>
          <p:cNvSpPr/>
          <p:nvPr/>
        </p:nvSpPr>
        <p:spPr>
          <a:xfrm>
            <a:off x="5340096" y="2386584"/>
            <a:ext cx="786384" cy="214884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2" name="Google Shape;2192;p14"/>
          <p:cNvSpPr/>
          <p:nvPr/>
        </p:nvSpPr>
        <p:spPr>
          <a:xfrm>
            <a:off x="5385816" y="2404872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18.0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3" name="Google Shape;2193;p14"/>
          <p:cNvSpPr/>
          <p:nvPr/>
        </p:nvSpPr>
        <p:spPr>
          <a:xfrm>
            <a:off x="4553712" y="2601468"/>
            <a:ext cx="786384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4" name="Google Shape;2194;p14"/>
          <p:cNvSpPr/>
          <p:nvPr/>
        </p:nvSpPr>
        <p:spPr>
          <a:xfrm>
            <a:off x="4599432" y="2619756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oranges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5" name="Google Shape;2195;p14"/>
          <p:cNvSpPr/>
          <p:nvPr/>
        </p:nvSpPr>
        <p:spPr>
          <a:xfrm>
            <a:off x="5340096" y="2601468"/>
            <a:ext cx="786384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6" name="Google Shape;2196;p14"/>
          <p:cNvSpPr/>
          <p:nvPr/>
        </p:nvSpPr>
        <p:spPr>
          <a:xfrm>
            <a:off x="5385816" y="2619756"/>
            <a:ext cx="694944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19.0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7" name="Google Shape;2197;p14"/>
          <p:cNvSpPr/>
          <p:nvPr/>
        </p:nvSpPr>
        <p:spPr>
          <a:xfrm>
            <a:off x="6272784" y="841248"/>
            <a:ext cx="54864" cy="23774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8" name="Google Shape;2198;p14"/>
          <p:cNvSpPr/>
          <p:nvPr/>
        </p:nvSpPr>
        <p:spPr>
          <a:xfrm>
            <a:off x="6364224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Mean impact — compare strategies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9" name="Google Shape;2199;p14"/>
          <p:cNvSpPr/>
          <p:nvPr/>
        </p:nvSpPr>
        <p:spPr>
          <a:xfrm>
            <a:off x="6272784" y="1097280"/>
            <a:ext cx="662940" cy="246888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0" name="Google Shape;2200;p14"/>
          <p:cNvSpPr/>
          <p:nvPr/>
        </p:nvSpPr>
        <p:spPr>
          <a:xfrm>
            <a:off x="6318504" y="1115568"/>
            <a:ext cx="5715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Column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1" name="Google Shape;2201;p14"/>
          <p:cNvSpPr/>
          <p:nvPr/>
        </p:nvSpPr>
        <p:spPr>
          <a:xfrm>
            <a:off x="6935724" y="1097280"/>
            <a:ext cx="662940" cy="246888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2" name="Google Shape;2202;p14"/>
          <p:cNvSpPr/>
          <p:nvPr/>
        </p:nvSpPr>
        <p:spPr>
          <a:xfrm>
            <a:off x="6981444" y="1115568"/>
            <a:ext cx="5715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 mean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3" name="Google Shape;2203;p14"/>
          <p:cNvSpPr/>
          <p:nvPr/>
        </p:nvSpPr>
        <p:spPr>
          <a:xfrm>
            <a:off x="7598664" y="1097280"/>
            <a:ext cx="662940" cy="246888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4" name="Google Shape;2204;p14"/>
          <p:cNvSpPr/>
          <p:nvPr/>
        </p:nvSpPr>
        <p:spPr>
          <a:xfrm>
            <a:off x="7644384" y="1115568"/>
            <a:ext cx="5715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fill=0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5" name="Google Shape;2205;p14"/>
          <p:cNvSpPr/>
          <p:nvPr/>
        </p:nvSpPr>
        <p:spPr>
          <a:xfrm>
            <a:off x="8261604" y="1097280"/>
            <a:ext cx="662940" cy="246888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6" name="Google Shape;2206;p14"/>
          <p:cNvSpPr/>
          <p:nvPr/>
        </p:nvSpPr>
        <p:spPr>
          <a:xfrm>
            <a:off x="8307324" y="1115568"/>
            <a:ext cx="5715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fill=mean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7" name="Google Shape;2207;p14"/>
          <p:cNvSpPr/>
          <p:nvPr/>
        </p:nvSpPr>
        <p:spPr>
          <a:xfrm>
            <a:off x="6272784" y="1344168"/>
            <a:ext cx="66294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8" name="Google Shape;2208;p14"/>
          <p:cNvSpPr/>
          <p:nvPr/>
        </p:nvSpPr>
        <p:spPr>
          <a:xfrm>
            <a:off x="6318504" y="1362456"/>
            <a:ext cx="5715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store4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9" name="Google Shape;2209;p14"/>
          <p:cNvSpPr/>
          <p:nvPr/>
        </p:nvSpPr>
        <p:spPr>
          <a:xfrm>
            <a:off x="6935724" y="1344168"/>
            <a:ext cx="66294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p14"/>
          <p:cNvSpPr/>
          <p:nvPr/>
        </p:nvSpPr>
        <p:spPr>
          <a:xfrm>
            <a:off x="6981444" y="1362456"/>
            <a:ext cx="5715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19.0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1" name="Google Shape;2211;p14"/>
          <p:cNvSpPr/>
          <p:nvPr/>
        </p:nvSpPr>
        <p:spPr>
          <a:xfrm>
            <a:off x="7598664" y="1344168"/>
            <a:ext cx="66294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2" name="Google Shape;2212;p14"/>
          <p:cNvSpPr/>
          <p:nvPr/>
        </p:nvSpPr>
        <p:spPr>
          <a:xfrm>
            <a:off x="7644384" y="1362456"/>
            <a:ext cx="5715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5.43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3" name="Google Shape;2213;p14"/>
          <p:cNvSpPr/>
          <p:nvPr/>
        </p:nvSpPr>
        <p:spPr>
          <a:xfrm>
            <a:off x="8261604" y="1344168"/>
            <a:ext cx="662940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4" name="Google Shape;2214;p14"/>
          <p:cNvSpPr/>
          <p:nvPr/>
        </p:nvSpPr>
        <p:spPr>
          <a:xfrm>
            <a:off x="8307324" y="1362456"/>
            <a:ext cx="5715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19.0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5" name="Google Shape;2215;p14"/>
          <p:cNvSpPr/>
          <p:nvPr/>
        </p:nvSpPr>
        <p:spPr>
          <a:xfrm>
            <a:off x="6272784" y="1591056"/>
            <a:ext cx="662940" cy="246888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6" name="Google Shape;2216;p14"/>
          <p:cNvSpPr/>
          <p:nvPr/>
        </p:nvSpPr>
        <p:spPr>
          <a:xfrm>
            <a:off x="6318504" y="1609344"/>
            <a:ext cx="5715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store5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7" name="Google Shape;2217;p14"/>
          <p:cNvSpPr/>
          <p:nvPr/>
        </p:nvSpPr>
        <p:spPr>
          <a:xfrm>
            <a:off x="6935724" y="1591056"/>
            <a:ext cx="662940" cy="24688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8" name="Google Shape;2218;p14"/>
          <p:cNvSpPr/>
          <p:nvPr/>
        </p:nvSpPr>
        <p:spPr>
          <a:xfrm>
            <a:off x="6981444" y="1609344"/>
            <a:ext cx="5715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9" name="Google Shape;2219;p14"/>
          <p:cNvSpPr/>
          <p:nvPr/>
        </p:nvSpPr>
        <p:spPr>
          <a:xfrm>
            <a:off x="7598664" y="1591056"/>
            <a:ext cx="662940" cy="246888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0" name="Google Shape;2220;p14"/>
          <p:cNvSpPr/>
          <p:nvPr/>
        </p:nvSpPr>
        <p:spPr>
          <a:xfrm>
            <a:off x="7644384" y="1609344"/>
            <a:ext cx="5715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1" name="Google Shape;2221;p14"/>
          <p:cNvSpPr/>
          <p:nvPr/>
        </p:nvSpPr>
        <p:spPr>
          <a:xfrm>
            <a:off x="8261604" y="1591056"/>
            <a:ext cx="662940" cy="246888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2" name="Google Shape;2222;p14"/>
          <p:cNvSpPr/>
          <p:nvPr/>
        </p:nvSpPr>
        <p:spPr>
          <a:xfrm>
            <a:off x="8307324" y="1609344"/>
            <a:ext cx="5715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3" name="Google Shape;2223;p14"/>
          <p:cNvSpPr/>
          <p:nvPr/>
        </p:nvSpPr>
        <p:spPr>
          <a:xfrm>
            <a:off x="6272784" y="1865376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fill=0 drags mean from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19.0 down to 5.43 !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fill=mean preserves it.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4" name="Google Shape;2224;p14"/>
          <p:cNvSpPr/>
          <p:nvPr/>
        </p:nvSpPr>
        <p:spPr>
          <a:xfrm>
            <a:off x="201175" y="3028200"/>
            <a:ext cx="8741700" cy="1232700"/>
          </a:xfrm>
          <a:prstGeom prst="rect">
            <a:avLst/>
          </a:prstGeom>
          <a:solidFill>
            <a:srgbClr val="1A2B3C"/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5" name="Google Shape;2225;p14"/>
          <p:cNvSpPr/>
          <p:nvPr/>
        </p:nvSpPr>
        <p:spPr>
          <a:xfrm>
            <a:off x="201168" y="2871140"/>
            <a:ext cx="8741700" cy="1830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6" name="Google Shape;2226;p14"/>
          <p:cNvSpPr/>
          <p:nvPr/>
        </p:nvSpPr>
        <p:spPr>
          <a:xfrm>
            <a:off x="310895" y="2872791"/>
            <a:ext cx="1280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7" name="Google Shape;2227;p14"/>
          <p:cNvSpPr/>
          <p:nvPr/>
        </p:nvSpPr>
        <p:spPr>
          <a:xfrm>
            <a:off x="292600" y="3084625"/>
            <a:ext cx="3841800" cy="11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ser2 = dfx.store4   # apple=20.0, rest NaN, watermelon=18.0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Fill with constant — fast but distorts statistics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dfx.fillna(0)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Fill with column mean (only 2 valid: 20+18=38, mean=19)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dfx.fillna(dfx.mean())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8" name="Google Shape;2228;p14"/>
          <p:cNvSpPr/>
          <p:nvPr/>
        </p:nvSpPr>
        <p:spPr>
          <a:xfrm>
            <a:off x="201168" y="4334256"/>
            <a:ext cx="6492240" cy="329184"/>
          </a:xfrm>
          <a:prstGeom prst="rect">
            <a:avLst/>
          </a:prstGeom>
          <a:solidFill>
            <a:srgbClr val="C0392B">
              <a:alpha val="10196"/>
            </a:srgbClr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9" name="Google Shape;2229;p14"/>
          <p:cNvSpPr/>
          <p:nvPr/>
        </p:nvSpPr>
        <p:spPr>
          <a:xfrm>
            <a:off x="201168" y="4334256"/>
            <a:ext cx="54864" cy="32918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0" name="Google Shape;2230;p14"/>
          <p:cNvSpPr/>
          <p:nvPr/>
        </p:nvSpPr>
        <p:spPr>
          <a:xfrm>
            <a:off x="310896" y="4370832"/>
            <a:ext cx="63276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⚠️ fillna(0) artificially pulls the mean toward zero. fillna(df.mean()) preserves the column's statistical distribution — prefer this for numeric columns.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1" name="Google Shape;2231;p14"/>
          <p:cNvSpPr/>
          <p:nvPr/>
        </p:nvSpPr>
        <p:spPr>
          <a:xfrm>
            <a:off x="6784850" y="4334247"/>
            <a:ext cx="2157900" cy="502800"/>
          </a:xfrm>
          <a:prstGeom prst="rect">
            <a:avLst/>
          </a:prstGeom>
          <a:solidFill>
            <a:srgbClr val="1A7A34">
              <a:alpha val="10196"/>
            </a:srgbClr>
          </a:solidFill>
          <a:ln cap="flat" cmpd="sng" w="15225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2" name="Google Shape;2232;p14"/>
          <p:cNvSpPr/>
          <p:nvPr/>
        </p:nvSpPr>
        <p:spPr>
          <a:xfrm>
            <a:off x="6784851" y="4334248"/>
            <a:ext cx="82200" cy="438900"/>
          </a:xfrm>
          <a:prstGeom prst="rect">
            <a:avLst/>
          </a:prstGeom>
          <a:solidFill>
            <a:srgbClr val="1A7A34"/>
          </a:solidFill>
          <a:ln cap="flat" cmpd="sng" w="12700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3" name="Google Shape;2233;p14"/>
          <p:cNvSpPr/>
          <p:nvPr/>
        </p:nvSpPr>
        <p:spPr>
          <a:xfrm>
            <a:off x="6894575" y="4370821"/>
            <a:ext cx="199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🌐 Use case: imputing missing temperature readings, filling product ratings before a recommendation model.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4" name="Google Shape;2234;p14"/>
          <p:cNvSpPr/>
          <p:nvPr/>
        </p:nvSpPr>
        <p:spPr>
          <a:xfrm>
            <a:off x="4599425" y="2920800"/>
            <a:ext cx="3841800" cy="11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Fill per-column with different values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fill_vals = {'store4': dfx.store4.mean(), 'store5': 0}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dfx.fillna(value=fill_vals)</a:t>
            </a:r>
            <a:endParaRPr b="0" i="0" sz="880" u="none" cap="none" strike="noStrike">
              <a:solidFill>
                <a:srgbClr val="A8D8E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t/>
            </a:r>
            <a:endParaRPr b="0" i="0" sz="880" u="none" cap="none" strike="noStrike">
              <a:solidFill>
                <a:srgbClr val="A8D8E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Compare means before and after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print("Before:", dfx.mean())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print("After 0:", dfx.fillna(0).mean())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print("After mean:", dfx.fillna(dfx.mean()).mean())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2239" name="Shape 2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Google Shape;2240;g3d3dc0cb4f8_0_0"/>
          <p:cNvSpPr/>
          <p:nvPr/>
        </p:nvSpPr>
        <p:spPr>
          <a:xfrm>
            <a:off x="0" y="0"/>
            <a:ext cx="9144000" cy="8046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1" name="Google Shape;2241;g3d3dc0cb4f8_0_0"/>
          <p:cNvSpPr/>
          <p:nvPr/>
        </p:nvSpPr>
        <p:spPr>
          <a:xfrm>
            <a:off x="0" y="0"/>
            <a:ext cx="82200" cy="8046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2" name="Google Shape;2242;g3d3dc0cb4f8_0_0"/>
          <p:cNvSpPr/>
          <p:nvPr/>
        </p:nvSpPr>
        <p:spPr>
          <a:xfrm>
            <a:off x="182880" y="64008"/>
            <a:ext cx="8778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Missing Data — ffill  ·  bfill  ·  interpolate()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3" name="Google Shape;2243;g3d3dc0cb4f8_0_0"/>
          <p:cNvSpPr/>
          <p:nvPr/>
        </p:nvSpPr>
        <p:spPr>
          <a:xfrm>
            <a:off x="182880" y="493776"/>
            <a:ext cx="8778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C8E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FC8E0"/>
                </a:solidFill>
                <a:latin typeface="Calibri"/>
                <a:ea typeface="Calibri"/>
                <a:cs typeface="Calibri"/>
                <a:sym typeface="Calibri"/>
              </a:rPr>
              <a:t>Smart filling strategies for sequential and time-series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4" name="Google Shape;2244;g3d3dc0cb4f8_0_0"/>
          <p:cNvSpPr/>
          <p:nvPr/>
        </p:nvSpPr>
        <p:spPr>
          <a:xfrm>
            <a:off x="0" y="4892040"/>
            <a:ext cx="9144000" cy="2469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5" name="Google Shape;2245;g3d3dc0cb4f8_0_0"/>
          <p:cNvSpPr/>
          <p:nvPr/>
        </p:nvSpPr>
        <p:spPr>
          <a:xfrm>
            <a:off x="201168" y="4910328"/>
            <a:ext cx="8686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F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FC8"/>
                </a:solidFill>
                <a:latin typeface="Calibri"/>
                <a:ea typeface="Calibri"/>
                <a:cs typeface="Calibri"/>
                <a:sym typeface="Calibri"/>
              </a:rPr>
              <a:t>EDA | Module 2 | 23CSE422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6" name="Google Shape;2246;g3d3dc0cb4f8_0_0"/>
          <p:cNvSpPr/>
          <p:nvPr/>
        </p:nvSpPr>
        <p:spPr>
          <a:xfrm>
            <a:off x="201168" y="841248"/>
            <a:ext cx="54900" cy="237600"/>
          </a:xfrm>
          <a:prstGeom prst="rect">
            <a:avLst/>
          </a:prstGeom>
          <a:solidFill>
            <a:srgbClr val="4A5568"/>
          </a:solidFill>
          <a:ln cap="flat" cmpd="sng" w="12700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7" name="Google Shape;2247;g3d3dc0cb4f8_0_0"/>
          <p:cNvSpPr/>
          <p:nvPr/>
        </p:nvSpPr>
        <p:spPr>
          <a:xfrm>
            <a:off x="292608" y="841248"/>
            <a:ext cx="4572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Original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8" name="Google Shape;2248;g3d3dc0cb4f8_0_0"/>
          <p:cNvSpPr/>
          <p:nvPr/>
        </p:nvSpPr>
        <p:spPr>
          <a:xfrm>
            <a:off x="201168" y="1078992"/>
            <a:ext cx="877800" cy="210300"/>
          </a:xfrm>
          <a:prstGeom prst="rect">
            <a:avLst/>
          </a:prstGeom>
          <a:solidFill>
            <a:srgbClr val="4A556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9" name="Google Shape;2249;g3d3dc0cb4f8_0_0"/>
          <p:cNvSpPr/>
          <p:nvPr/>
        </p:nvSpPr>
        <p:spPr>
          <a:xfrm>
            <a:off x="246888" y="1097280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0" name="Google Shape;2250;g3d3dc0cb4f8_0_0"/>
          <p:cNvSpPr/>
          <p:nvPr/>
        </p:nvSpPr>
        <p:spPr>
          <a:xfrm>
            <a:off x="1078992" y="1078992"/>
            <a:ext cx="877800" cy="210300"/>
          </a:xfrm>
          <a:prstGeom prst="rect">
            <a:avLst/>
          </a:prstGeom>
          <a:solidFill>
            <a:srgbClr val="4A556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1" name="Google Shape;2251;g3d3dc0cb4f8_0_0"/>
          <p:cNvSpPr/>
          <p:nvPr/>
        </p:nvSpPr>
        <p:spPr>
          <a:xfrm>
            <a:off x="1124712" y="1097280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2" name="Google Shape;2252;g3d3dc0cb4f8_0_0"/>
          <p:cNvSpPr/>
          <p:nvPr/>
        </p:nvSpPr>
        <p:spPr>
          <a:xfrm>
            <a:off x="201168" y="1289304"/>
            <a:ext cx="877800" cy="2103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3" name="Google Shape;2253;g3d3dc0cb4f8_0_0"/>
          <p:cNvSpPr/>
          <p:nvPr/>
        </p:nvSpPr>
        <p:spPr>
          <a:xfrm>
            <a:off x="246888" y="1307592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4" name="Google Shape;2254;g3d3dc0cb4f8_0_0"/>
          <p:cNvSpPr/>
          <p:nvPr/>
        </p:nvSpPr>
        <p:spPr>
          <a:xfrm>
            <a:off x="1078992" y="1289304"/>
            <a:ext cx="877800" cy="2103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5" name="Google Shape;2255;g3d3dc0cb4f8_0_0"/>
          <p:cNvSpPr/>
          <p:nvPr/>
        </p:nvSpPr>
        <p:spPr>
          <a:xfrm>
            <a:off x="1124712" y="1307592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20.0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6" name="Google Shape;2256;g3d3dc0cb4f8_0_0"/>
          <p:cNvSpPr/>
          <p:nvPr/>
        </p:nvSpPr>
        <p:spPr>
          <a:xfrm>
            <a:off x="201168" y="1499616"/>
            <a:ext cx="877800" cy="210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7" name="Google Shape;2257;g3d3dc0cb4f8_0_0"/>
          <p:cNvSpPr/>
          <p:nvPr/>
        </p:nvSpPr>
        <p:spPr>
          <a:xfrm>
            <a:off x="246888" y="1517904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banana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g3d3dc0cb4f8_0_0"/>
          <p:cNvSpPr/>
          <p:nvPr/>
        </p:nvSpPr>
        <p:spPr>
          <a:xfrm>
            <a:off x="1078992" y="1499616"/>
            <a:ext cx="877800" cy="21030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9" name="Google Shape;2259;g3d3dc0cb4f8_0_0"/>
          <p:cNvSpPr/>
          <p:nvPr/>
        </p:nvSpPr>
        <p:spPr>
          <a:xfrm>
            <a:off x="1124712" y="1517904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0" name="Google Shape;2260;g3d3dc0cb4f8_0_0"/>
          <p:cNvSpPr/>
          <p:nvPr/>
        </p:nvSpPr>
        <p:spPr>
          <a:xfrm>
            <a:off x="201168" y="1709928"/>
            <a:ext cx="877800" cy="21030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1" name="Google Shape;2261;g3d3dc0cb4f8_0_0"/>
          <p:cNvSpPr/>
          <p:nvPr/>
        </p:nvSpPr>
        <p:spPr>
          <a:xfrm>
            <a:off x="246888" y="1728216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kiwi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2" name="Google Shape;2262;g3d3dc0cb4f8_0_0"/>
          <p:cNvSpPr/>
          <p:nvPr/>
        </p:nvSpPr>
        <p:spPr>
          <a:xfrm>
            <a:off x="1078992" y="1709928"/>
            <a:ext cx="877800" cy="21030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3" name="Google Shape;2263;g3d3dc0cb4f8_0_0"/>
          <p:cNvSpPr/>
          <p:nvPr/>
        </p:nvSpPr>
        <p:spPr>
          <a:xfrm>
            <a:off x="1124712" y="1728216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4" name="Google Shape;2264;g3d3dc0cb4f8_0_0"/>
          <p:cNvSpPr/>
          <p:nvPr/>
        </p:nvSpPr>
        <p:spPr>
          <a:xfrm>
            <a:off x="201168" y="1920240"/>
            <a:ext cx="877800" cy="21030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5" name="Google Shape;2265;g3d3dc0cb4f8_0_0"/>
          <p:cNvSpPr/>
          <p:nvPr/>
        </p:nvSpPr>
        <p:spPr>
          <a:xfrm>
            <a:off x="246888" y="1938528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grapes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6" name="Google Shape;2266;g3d3dc0cb4f8_0_0"/>
          <p:cNvSpPr/>
          <p:nvPr/>
        </p:nvSpPr>
        <p:spPr>
          <a:xfrm>
            <a:off x="1078992" y="1920240"/>
            <a:ext cx="877800" cy="21030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7" name="Google Shape;2267;g3d3dc0cb4f8_0_0"/>
          <p:cNvSpPr/>
          <p:nvPr/>
        </p:nvSpPr>
        <p:spPr>
          <a:xfrm>
            <a:off x="1124712" y="1938528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8" name="Google Shape;2268;g3d3dc0cb4f8_0_0"/>
          <p:cNvSpPr/>
          <p:nvPr/>
        </p:nvSpPr>
        <p:spPr>
          <a:xfrm>
            <a:off x="201168" y="2130552"/>
            <a:ext cx="877800" cy="21030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9" name="Google Shape;2269;g3d3dc0cb4f8_0_0"/>
          <p:cNvSpPr/>
          <p:nvPr/>
        </p:nvSpPr>
        <p:spPr>
          <a:xfrm>
            <a:off x="246888" y="2148840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mango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0" name="Google Shape;2270;g3d3dc0cb4f8_0_0"/>
          <p:cNvSpPr/>
          <p:nvPr/>
        </p:nvSpPr>
        <p:spPr>
          <a:xfrm>
            <a:off x="1078992" y="2130552"/>
            <a:ext cx="877800" cy="21030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1" name="Google Shape;2271;g3d3dc0cb4f8_0_0"/>
          <p:cNvSpPr/>
          <p:nvPr/>
        </p:nvSpPr>
        <p:spPr>
          <a:xfrm>
            <a:off x="1124712" y="2148840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2" name="Google Shape;2272;g3d3dc0cb4f8_0_0"/>
          <p:cNvSpPr/>
          <p:nvPr/>
        </p:nvSpPr>
        <p:spPr>
          <a:xfrm>
            <a:off x="201168" y="2340864"/>
            <a:ext cx="877800" cy="21030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3" name="Google Shape;2273;g3d3dc0cb4f8_0_0"/>
          <p:cNvSpPr/>
          <p:nvPr/>
        </p:nvSpPr>
        <p:spPr>
          <a:xfrm>
            <a:off x="246888" y="2359152"/>
            <a:ext cx="786300" cy="173700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waterml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4" name="Google Shape;2274;g3d3dc0cb4f8_0_0"/>
          <p:cNvSpPr/>
          <p:nvPr/>
        </p:nvSpPr>
        <p:spPr>
          <a:xfrm>
            <a:off x="1078992" y="2340864"/>
            <a:ext cx="877800" cy="21030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5" name="Google Shape;2275;g3d3dc0cb4f8_0_0"/>
          <p:cNvSpPr/>
          <p:nvPr/>
        </p:nvSpPr>
        <p:spPr>
          <a:xfrm>
            <a:off x="1124712" y="2359152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18.0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6" name="Google Shape;2276;g3d3dc0cb4f8_0_0"/>
          <p:cNvSpPr/>
          <p:nvPr/>
        </p:nvSpPr>
        <p:spPr>
          <a:xfrm>
            <a:off x="201168" y="2551176"/>
            <a:ext cx="877800" cy="2103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7" name="Google Shape;2277;g3d3dc0cb4f8_0_0"/>
          <p:cNvSpPr/>
          <p:nvPr/>
        </p:nvSpPr>
        <p:spPr>
          <a:xfrm>
            <a:off x="185218" y="2554566"/>
            <a:ext cx="877800" cy="1737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oranges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8" name="Google Shape;2278;g3d3dc0cb4f8_0_0"/>
          <p:cNvSpPr/>
          <p:nvPr/>
        </p:nvSpPr>
        <p:spPr>
          <a:xfrm>
            <a:off x="1078992" y="2551176"/>
            <a:ext cx="877800" cy="21030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9" name="Google Shape;2279;g3d3dc0cb4f8_0_0"/>
          <p:cNvSpPr/>
          <p:nvPr/>
        </p:nvSpPr>
        <p:spPr>
          <a:xfrm>
            <a:off x="1124712" y="2569464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0" name="Google Shape;2280;g3d3dc0cb4f8_0_0"/>
          <p:cNvSpPr/>
          <p:nvPr/>
        </p:nvSpPr>
        <p:spPr>
          <a:xfrm>
            <a:off x="2048256" y="1645920"/>
            <a:ext cx="41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1" name="Google Shape;2281;g3d3dc0cb4f8_0_0"/>
          <p:cNvSpPr/>
          <p:nvPr/>
        </p:nvSpPr>
        <p:spPr>
          <a:xfrm>
            <a:off x="2029968" y="1901952"/>
            <a:ext cx="438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2" name="Google Shape;2282;g3d3dc0cb4f8_0_0"/>
          <p:cNvSpPr/>
          <p:nvPr/>
        </p:nvSpPr>
        <p:spPr>
          <a:xfrm>
            <a:off x="2551176" y="841248"/>
            <a:ext cx="54900" cy="2376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3" name="Google Shape;2283;g3d3dc0cb4f8_0_0"/>
          <p:cNvSpPr/>
          <p:nvPr/>
        </p:nvSpPr>
        <p:spPr>
          <a:xfrm>
            <a:off x="2642616" y="841248"/>
            <a:ext cx="4572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ffill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4" name="Google Shape;2284;g3d3dc0cb4f8_0_0"/>
          <p:cNvSpPr/>
          <p:nvPr/>
        </p:nvSpPr>
        <p:spPr>
          <a:xfrm>
            <a:off x="2551176" y="1078992"/>
            <a:ext cx="877800" cy="210300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5" name="Google Shape;2285;g3d3dc0cb4f8_0_0"/>
          <p:cNvSpPr/>
          <p:nvPr/>
        </p:nvSpPr>
        <p:spPr>
          <a:xfrm>
            <a:off x="2596896" y="1097280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6" name="Google Shape;2286;g3d3dc0cb4f8_0_0"/>
          <p:cNvSpPr/>
          <p:nvPr/>
        </p:nvSpPr>
        <p:spPr>
          <a:xfrm>
            <a:off x="3429000" y="1078992"/>
            <a:ext cx="877800" cy="210300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7" name="Google Shape;2287;g3d3dc0cb4f8_0_0"/>
          <p:cNvSpPr/>
          <p:nvPr/>
        </p:nvSpPr>
        <p:spPr>
          <a:xfrm>
            <a:off x="3474720" y="1097280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8" name="Google Shape;2288;g3d3dc0cb4f8_0_0"/>
          <p:cNvSpPr/>
          <p:nvPr/>
        </p:nvSpPr>
        <p:spPr>
          <a:xfrm>
            <a:off x="2551176" y="1289304"/>
            <a:ext cx="877800" cy="2103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9" name="Google Shape;2289;g3d3dc0cb4f8_0_0"/>
          <p:cNvSpPr/>
          <p:nvPr/>
        </p:nvSpPr>
        <p:spPr>
          <a:xfrm>
            <a:off x="2596896" y="1307592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0" name="Google Shape;2290;g3d3dc0cb4f8_0_0"/>
          <p:cNvSpPr/>
          <p:nvPr/>
        </p:nvSpPr>
        <p:spPr>
          <a:xfrm>
            <a:off x="3429000" y="1289304"/>
            <a:ext cx="877800" cy="2103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1" name="Google Shape;2291;g3d3dc0cb4f8_0_0"/>
          <p:cNvSpPr/>
          <p:nvPr/>
        </p:nvSpPr>
        <p:spPr>
          <a:xfrm>
            <a:off x="3474720" y="1307592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20.0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2" name="Google Shape;2292;g3d3dc0cb4f8_0_0"/>
          <p:cNvSpPr/>
          <p:nvPr/>
        </p:nvSpPr>
        <p:spPr>
          <a:xfrm>
            <a:off x="2551176" y="1499616"/>
            <a:ext cx="877800" cy="210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3" name="Google Shape;2293;g3d3dc0cb4f8_0_0"/>
          <p:cNvSpPr/>
          <p:nvPr/>
        </p:nvSpPr>
        <p:spPr>
          <a:xfrm>
            <a:off x="2596896" y="1517904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banana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4" name="Google Shape;2294;g3d3dc0cb4f8_0_0"/>
          <p:cNvSpPr/>
          <p:nvPr/>
        </p:nvSpPr>
        <p:spPr>
          <a:xfrm>
            <a:off x="3429000" y="1499616"/>
            <a:ext cx="877800" cy="210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5" name="Google Shape;2295;g3d3dc0cb4f8_0_0"/>
          <p:cNvSpPr/>
          <p:nvPr/>
        </p:nvSpPr>
        <p:spPr>
          <a:xfrm>
            <a:off x="3474720" y="1517904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20.0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6" name="Google Shape;2296;g3d3dc0cb4f8_0_0"/>
          <p:cNvSpPr/>
          <p:nvPr/>
        </p:nvSpPr>
        <p:spPr>
          <a:xfrm>
            <a:off x="2551176" y="1709928"/>
            <a:ext cx="877800" cy="21030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7" name="Google Shape;2297;g3d3dc0cb4f8_0_0"/>
          <p:cNvSpPr/>
          <p:nvPr/>
        </p:nvSpPr>
        <p:spPr>
          <a:xfrm>
            <a:off x="2596896" y="1728216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kiwi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8" name="Google Shape;2298;g3d3dc0cb4f8_0_0"/>
          <p:cNvSpPr/>
          <p:nvPr/>
        </p:nvSpPr>
        <p:spPr>
          <a:xfrm>
            <a:off x="3429000" y="1709928"/>
            <a:ext cx="877800" cy="21030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9" name="Google Shape;2299;g3d3dc0cb4f8_0_0"/>
          <p:cNvSpPr/>
          <p:nvPr/>
        </p:nvSpPr>
        <p:spPr>
          <a:xfrm>
            <a:off x="3474720" y="1728216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20.0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0" name="Google Shape;2300;g3d3dc0cb4f8_0_0"/>
          <p:cNvSpPr/>
          <p:nvPr/>
        </p:nvSpPr>
        <p:spPr>
          <a:xfrm>
            <a:off x="2551176" y="1920240"/>
            <a:ext cx="877800" cy="21030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1" name="Google Shape;2301;g3d3dc0cb4f8_0_0"/>
          <p:cNvSpPr/>
          <p:nvPr/>
        </p:nvSpPr>
        <p:spPr>
          <a:xfrm>
            <a:off x="2596896" y="1938528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grapes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2" name="Google Shape;2302;g3d3dc0cb4f8_0_0"/>
          <p:cNvSpPr/>
          <p:nvPr/>
        </p:nvSpPr>
        <p:spPr>
          <a:xfrm>
            <a:off x="3429000" y="1920240"/>
            <a:ext cx="877800" cy="21030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3" name="Google Shape;2303;g3d3dc0cb4f8_0_0"/>
          <p:cNvSpPr/>
          <p:nvPr/>
        </p:nvSpPr>
        <p:spPr>
          <a:xfrm>
            <a:off x="3474720" y="1938528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20.0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4" name="Google Shape;2304;g3d3dc0cb4f8_0_0"/>
          <p:cNvSpPr/>
          <p:nvPr/>
        </p:nvSpPr>
        <p:spPr>
          <a:xfrm>
            <a:off x="2551176" y="2130552"/>
            <a:ext cx="877800" cy="21030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5" name="Google Shape;2305;g3d3dc0cb4f8_0_0"/>
          <p:cNvSpPr/>
          <p:nvPr/>
        </p:nvSpPr>
        <p:spPr>
          <a:xfrm>
            <a:off x="2596896" y="2148840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mango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6" name="Google Shape;2306;g3d3dc0cb4f8_0_0"/>
          <p:cNvSpPr/>
          <p:nvPr/>
        </p:nvSpPr>
        <p:spPr>
          <a:xfrm>
            <a:off x="3429000" y="2130552"/>
            <a:ext cx="877800" cy="21030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7" name="Google Shape;2307;g3d3dc0cb4f8_0_0"/>
          <p:cNvSpPr/>
          <p:nvPr/>
        </p:nvSpPr>
        <p:spPr>
          <a:xfrm>
            <a:off x="3474720" y="2148840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20.0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8" name="Google Shape;2308;g3d3dc0cb4f8_0_0"/>
          <p:cNvSpPr/>
          <p:nvPr/>
        </p:nvSpPr>
        <p:spPr>
          <a:xfrm>
            <a:off x="2551176" y="2340864"/>
            <a:ext cx="877800" cy="21030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9" name="Google Shape;2309;g3d3dc0cb4f8_0_0"/>
          <p:cNvSpPr/>
          <p:nvPr/>
        </p:nvSpPr>
        <p:spPr>
          <a:xfrm>
            <a:off x="2596896" y="2359152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waterml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0" name="Google Shape;2310;g3d3dc0cb4f8_0_0"/>
          <p:cNvSpPr/>
          <p:nvPr/>
        </p:nvSpPr>
        <p:spPr>
          <a:xfrm>
            <a:off x="3429000" y="2340864"/>
            <a:ext cx="877800" cy="21030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1" name="Google Shape;2311;g3d3dc0cb4f8_0_0"/>
          <p:cNvSpPr/>
          <p:nvPr/>
        </p:nvSpPr>
        <p:spPr>
          <a:xfrm>
            <a:off x="3474720" y="2359152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18.0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2" name="Google Shape;2312;g3d3dc0cb4f8_0_0"/>
          <p:cNvSpPr/>
          <p:nvPr/>
        </p:nvSpPr>
        <p:spPr>
          <a:xfrm>
            <a:off x="2551176" y="2551176"/>
            <a:ext cx="877800" cy="2103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3" name="Google Shape;2313;g3d3dc0cb4f8_0_0"/>
          <p:cNvSpPr/>
          <p:nvPr/>
        </p:nvSpPr>
        <p:spPr>
          <a:xfrm>
            <a:off x="2596896" y="2569464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oranges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4" name="Google Shape;2314;g3d3dc0cb4f8_0_0"/>
          <p:cNvSpPr/>
          <p:nvPr/>
        </p:nvSpPr>
        <p:spPr>
          <a:xfrm>
            <a:off x="3429000" y="2551176"/>
            <a:ext cx="877800" cy="2103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5" name="Google Shape;2315;g3d3dc0cb4f8_0_0"/>
          <p:cNvSpPr/>
          <p:nvPr/>
        </p:nvSpPr>
        <p:spPr>
          <a:xfrm>
            <a:off x="3474720" y="2569464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18.0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6" name="Google Shape;2316;g3d3dc0cb4f8_0_0"/>
          <p:cNvSpPr/>
          <p:nvPr/>
        </p:nvSpPr>
        <p:spPr>
          <a:xfrm>
            <a:off x="4398264" y="1645920"/>
            <a:ext cx="41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7" name="Google Shape;2317;g3d3dc0cb4f8_0_0"/>
          <p:cNvSpPr/>
          <p:nvPr/>
        </p:nvSpPr>
        <p:spPr>
          <a:xfrm>
            <a:off x="4379976" y="1901952"/>
            <a:ext cx="438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8" name="Google Shape;2318;g3d3dc0cb4f8_0_0"/>
          <p:cNvSpPr/>
          <p:nvPr/>
        </p:nvSpPr>
        <p:spPr>
          <a:xfrm>
            <a:off x="4855464" y="841248"/>
            <a:ext cx="54900" cy="237600"/>
          </a:xfrm>
          <a:prstGeom prst="rect">
            <a:avLst/>
          </a:prstGeom>
          <a:solidFill>
            <a:srgbClr val="D4850A"/>
          </a:solidFill>
          <a:ln cap="flat" cmpd="sng" w="12700">
            <a:solidFill>
              <a:srgbClr val="D485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9" name="Google Shape;2319;g3d3dc0cb4f8_0_0"/>
          <p:cNvSpPr/>
          <p:nvPr/>
        </p:nvSpPr>
        <p:spPr>
          <a:xfrm>
            <a:off x="4946904" y="841248"/>
            <a:ext cx="4572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50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4850A"/>
                </a:solidFill>
                <a:latin typeface="Calibri"/>
                <a:ea typeface="Calibri"/>
                <a:cs typeface="Calibri"/>
                <a:sym typeface="Calibri"/>
              </a:rPr>
              <a:t>bfill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0" name="Google Shape;2320;g3d3dc0cb4f8_0_0"/>
          <p:cNvSpPr/>
          <p:nvPr/>
        </p:nvSpPr>
        <p:spPr>
          <a:xfrm>
            <a:off x="4855464" y="1078992"/>
            <a:ext cx="877800" cy="210300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1" name="Google Shape;2321;g3d3dc0cb4f8_0_0"/>
          <p:cNvSpPr/>
          <p:nvPr/>
        </p:nvSpPr>
        <p:spPr>
          <a:xfrm>
            <a:off x="4901184" y="1097280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2" name="Google Shape;2322;g3d3dc0cb4f8_0_0"/>
          <p:cNvSpPr/>
          <p:nvPr/>
        </p:nvSpPr>
        <p:spPr>
          <a:xfrm>
            <a:off x="5733288" y="1078992"/>
            <a:ext cx="877800" cy="210300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3" name="Google Shape;2323;g3d3dc0cb4f8_0_0"/>
          <p:cNvSpPr/>
          <p:nvPr/>
        </p:nvSpPr>
        <p:spPr>
          <a:xfrm>
            <a:off x="5779008" y="1097280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4" name="Google Shape;2324;g3d3dc0cb4f8_0_0"/>
          <p:cNvSpPr/>
          <p:nvPr/>
        </p:nvSpPr>
        <p:spPr>
          <a:xfrm>
            <a:off x="4855464" y="1289304"/>
            <a:ext cx="877800" cy="2103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5" name="Google Shape;2325;g3d3dc0cb4f8_0_0"/>
          <p:cNvSpPr/>
          <p:nvPr/>
        </p:nvSpPr>
        <p:spPr>
          <a:xfrm>
            <a:off x="4901184" y="1307592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6" name="Google Shape;2326;g3d3dc0cb4f8_0_0"/>
          <p:cNvSpPr/>
          <p:nvPr/>
        </p:nvSpPr>
        <p:spPr>
          <a:xfrm>
            <a:off x="5733288" y="1289304"/>
            <a:ext cx="877800" cy="2103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7" name="Google Shape;2327;g3d3dc0cb4f8_0_0"/>
          <p:cNvSpPr/>
          <p:nvPr/>
        </p:nvSpPr>
        <p:spPr>
          <a:xfrm>
            <a:off x="5779008" y="1307592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20.0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8" name="Google Shape;2328;g3d3dc0cb4f8_0_0"/>
          <p:cNvSpPr/>
          <p:nvPr/>
        </p:nvSpPr>
        <p:spPr>
          <a:xfrm>
            <a:off x="4855464" y="1499616"/>
            <a:ext cx="877800" cy="210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9" name="Google Shape;2329;g3d3dc0cb4f8_0_0"/>
          <p:cNvSpPr/>
          <p:nvPr/>
        </p:nvSpPr>
        <p:spPr>
          <a:xfrm>
            <a:off x="4901184" y="1517904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banana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0" name="Google Shape;2330;g3d3dc0cb4f8_0_0"/>
          <p:cNvSpPr/>
          <p:nvPr/>
        </p:nvSpPr>
        <p:spPr>
          <a:xfrm>
            <a:off x="5733288" y="1499616"/>
            <a:ext cx="877800" cy="210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1" name="Google Shape;2331;g3d3dc0cb4f8_0_0"/>
          <p:cNvSpPr/>
          <p:nvPr/>
        </p:nvSpPr>
        <p:spPr>
          <a:xfrm>
            <a:off x="5779008" y="1517904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18.0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2" name="Google Shape;2332;g3d3dc0cb4f8_0_0"/>
          <p:cNvSpPr/>
          <p:nvPr/>
        </p:nvSpPr>
        <p:spPr>
          <a:xfrm>
            <a:off x="4855464" y="1709928"/>
            <a:ext cx="877800" cy="21030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3" name="Google Shape;2333;g3d3dc0cb4f8_0_0"/>
          <p:cNvSpPr/>
          <p:nvPr/>
        </p:nvSpPr>
        <p:spPr>
          <a:xfrm>
            <a:off x="4901184" y="1728216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kiwi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4" name="Google Shape;2334;g3d3dc0cb4f8_0_0"/>
          <p:cNvSpPr/>
          <p:nvPr/>
        </p:nvSpPr>
        <p:spPr>
          <a:xfrm>
            <a:off x="5733288" y="1709928"/>
            <a:ext cx="877800" cy="21030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5" name="Google Shape;2335;g3d3dc0cb4f8_0_0"/>
          <p:cNvSpPr/>
          <p:nvPr/>
        </p:nvSpPr>
        <p:spPr>
          <a:xfrm>
            <a:off x="5779008" y="1728216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18.0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6" name="Google Shape;2336;g3d3dc0cb4f8_0_0"/>
          <p:cNvSpPr/>
          <p:nvPr/>
        </p:nvSpPr>
        <p:spPr>
          <a:xfrm>
            <a:off x="4855464" y="1920240"/>
            <a:ext cx="877800" cy="21030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7" name="Google Shape;2337;g3d3dc0cb4f8_0_0"/>
          <p:cNvSpPr/>
          <p:nvPr/>
        </p:nvSpPr>
        <p:spPr>
          <a:xfrm>
            <a:off x="4901184" y="1938528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grapes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8" name="Google Shape;2338;g3d3dc0cb4f8_0_0"/>
          <p:cNvSpPr/>
          <p:nvPr/>
        </p:nvSpPr>
        <p:spPr>
          <a:xfrm>
            <a:off x="5733288" y="1920240"/>
            <a:ext cx="877800" cy="21030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9" name="Google Shape;2339;g3d3dc0cb4f8_0_0"/>
          <p:cNvSpPr/>
          <p:nvPr/>
        </p:nvSpPr>
        <p:spPr>
          <a:xfrm>
            <a:off x="5779008" y="1938528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18.0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0" name="Google Shape;2340;g3d3dc0cb4f8_0_0"/>
          <p:cNvSpPr/>
          <p:nvPr/>
        </p:nvSpPr>
        <p:spPr>
          <a:xfrm>
            <a:off x="4855464" y="2130552"/>
            <a:ext cx="877800" cy="21030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1" name="Google Shape;2341;g3d3dc0cb4f8_0_0"/>
          <p:cNvSpPr/>
          <p:nvPr/>
        </p:nvSpPr>
        <p:spPr>
          <a:xfrm>
            <a:off x="4901184" y="2148840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mango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2" name="Google Shape;2342;g3d3dc0cb4f8_0_0"/>
          <p:cNvSpPr/>
          <p:nvPr/>
        </p:nvSpPr>
        <p:spPr>
          <a:xfrm>
            <a:off x="5733288" y="2130552"/>
            <a:ext cx="877800" cy="21030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3" name="Google Shape;2343;g3d3dc0cb4f8_0_0"/>
          <p:cNvSpPr/>
          <p:nvPr/>
        </p:nvSpPr>
        <p:spPr>
          <a:xfrm>
            <a:off x="5779008" y="2148840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18.0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4" name="Google Shape;2344;g3d3dc0cb4f8_0_0"/>
          <p:cNvSpPr/>
          <p:nvPr/>
        </p:nvSpPr>
        <p:spPr>
          <a:xfrm>
            <a:off x="4855464" y="2340864"/>
            <a:ext cx="877800" cy="21030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5" name="Google Shape;2345;g3d3dc0cb4f8_0_0"/>
          <p:cNvSpPr/>
          <p:nvPr/>
        </p:nvSpPr>
        <p:spPr>
          <a:xfrm>
            <a:off x="4901184" y="2359152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waterml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6" name="Google Shape;2346;g3d3dc0cb4f8_0_0"/>
          <p:cNvSpPr/>
          <p:nvPr/>
        </p:nvSpPr>
        <p:spPr>
          <a:xfrm>
            <a:off x="5733288" y="2340864"/>
            <a:ext cx="877800" cy="21030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7" name="Google Shape;2347;g3d3dc0cb4f8_0_0"/>
          <p:cNvSpPr/>
          <p:nvPr/>
        </p:nvSpPr>
        <p:spPr>
          <a:xfrm>
            <a:off x="5779008" y="2359152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18.0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8" name="Google Shape;2348;g3d3dc0cb4f8_0_0"/>
          <p:cNvSpPr/>
          <p:nvPr/>
        </p:nvSpPr>
        <p:spPr>
          <a:xfrm>
            <a:off x="4855464" y="2551176"/>
            <a:ext cx="877800" cy="2103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9" name="Google Shape;2349;g3d3dc0cb4f8_0_0"/>
          <p:cNvSpPr/>
          <p:nvPr/>
        </p:nvSpPr>
        <p:spPr>
          <a:xfrm>
            <a:off x="4901184" y="2569464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oranges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0" name="Google Shape;2350;g3d3dc0cb4f8_0_0"/>
          <p:cNvSpPr/>
          <p:nvPr/>
        </p:nvSpPr>
        <p:spPr>
          <a:xfrm>
            <a:off x="5733288" y="2551176"/>
            <a:ext cx="877800" cy="21030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1" name="Google Shape;2351;g3d3dc0cb4f8_0_0"/>
          <p:cNvSpPr/>
          <p:nvPr/>
        </p:nvSpPr>
        <p:spPr>
          <a:xfrm>
            <a:off x="5779008" y="2569464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2" name="Google Shape;2352;g3d3dc0cb4f8_0_0"/>
          <p:cNvSpPr/>
          <p:nvPr/>
        </p:nvSpPr>
        <p:spPr>
          <a:xfrm>
            <a:off x="6702552" y="1645920"/>
            <a:ext cx="41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3" name="Google Shape;2353;g3d3dc0cb4f8_0_0"/>
          <p:cNvSpPr/>
          <p:nvPr/>
        </p:nvSpPr>
        <p:spPr>
          <a:xfrm>
            <a:off x="6684264" y="1901952"/>
            <a:ext cx="438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4" name="Google Shape;2354;g3d3dc0cb4f8_0_0"/>
          <p:cNvSpPr/>
          <p:nvPr/>
        </p:nvSpPr>
        <p:spPr>
          <a:xfrm>
            <a:off x="7159752" y="841248"/>
            <a:ext cx="54900" cy="237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5" name="Google Shape;2355;g3d3dc0cb4f8_0_0"/>
          <p:cNvSpPr/>
          <p:nvPr/>
        </p:nvSpPr>
        <p:spPr>
          <a:xfrm>
            <a:off x="7251192" y="841248"/>
            <a:ext cx="4572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9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9E8A"/>
                </a:solidFill>
                <a:latin typeface="Calibri"/>
                <a:ea typeface="Calibri"/>
                <a:cs typeface="Calibri"/>
                <a:sym typeface="Calibri"/>
              </a:rPr>
              <a:t>interpolate()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6" name="Google Shape;2356;g3d3dc0cb4f8_0_0"/>
          <p:cNvSpPr/>
          <p:nvPr/>
        </p:nvSpPr>
        <p:spPr>
          <a:xfrm>
            <a:off x="7159752" y="1078992"/>
            <a:ext cx="877800" cy="210300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7" name="Google Shape;2357;g3d3dc0cb4f8_0_0"/>
          <p:cNvSpPr/>
          <p:nvPr/>
        </p:nvSpPr>
        <p:spPr>
          <a:xfrm>
            <a:off x="7205472" y="1097280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8" name="Google Shape;2358;g3d3dc0cb4f8_0_0"/>
          <p:cNvSpPr/>
          <p:nvPr/>
        </p:nvSpPr>
        <p:spPr>
          <a:xfrm>
            <a:off x="8037576" y="1078992"/>
            <a:ext cx="877800" cy="210300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9" name="Google Shape;2359;g3d3dc0cb4f8_0_0"/>
          <p:cNvSpPr/>
          <p:nvPr/>
        </p:nvSpPr>
        <p:spPr>
          <a:xfrm>
            <a:off x="8083296" y="1097280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0" name="Google Shape;2360;g3d3dc0cb4f8_0_0"/>
          <p:cNvSpPr/>
          <p:nvPr/>
        </p:nvSpPr>
        <p:spPr>
          <a:xfrm>
            <a:off x="7159752" y="1289304"/>
            <a:ext cx="877800" cy="2103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1" name="Google Shape;2361;g3d3dc0cb4f8_0_0"/>
          <p:cNvSpPr/>
          <p:nvPr/>
        </p:nvSpPr>
        <p:spPr>
          <a:xfrm>
            <a:off x="7205472" y="1307592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2" name="Google Shape;2362;g3d3dc0cb4f8_0_0"/>
          <p:cNvSpPr/>
          <p:nvPr/>
        </p:nvSpPr>
        <p:spPr>
          <a:xfrm>
            <a:off x="8037576" y="1289304"/>
            <a:ext cx="877800" cy="2103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3" name="Google Shape;2363;g3d3dc0cb4f8_0_0"/>
          <p:cNvSpPr/>
          <p:nvPr/>
        </p:nvSpPr>
        <p:spPr>
          <a:xfrm>
            <a:off x="8083296" y="1307592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20.0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4" name="Google Shape;2364;g3d3dc0cb4f8_0_0"/>
          <p:cNvSpPr/>
          <p:nvPr/>
        </p:nvSpPr>
        <p:spPr>
          <a:xfrm>
            <a:off x="7159752" y="1499616"/>
            <a:ext cx="877800" cy="210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5" name="Google Shape;2365;g3d3dc0cb4f8_0_0"/>
          <p:cNvSpPr/>
          <p:nvPr/>
        </p:nvSpPr>
        <p:spPr>
          <a:xfrm>
            <a:off x="7205472" y="1517904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banana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6" name="Google Shape;2366;g3d3dc0cb4f8_0_0"/>
          <p:cNvSpPr/>
          <p:nvPr/>
        </p:nvSpPr>
        <p:spPr>
          <a:xfrm>
            <a:off x="8037576" y="1499616"/>
            <a:ext cx="877800" cy="210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7" name="Google Shape;2367;g3d3dc0cb4f8_0_0"/>
          <p:cNvSpPr/>
          <p:nvPr/>
        </p:nvSpPr>
        <p:spPr>
          <a:xfrm>
            <a:off x="8083296" y="1517904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19.</a:t>
            </a:r>
            <a:r>
              <a:rPr lang="en-US" sz="88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8" name="Google Shape;2368;g3d3dc0cb4f8_0_0"/>
          <p:cNvSpPr/>
          <p:nvPr/>
        </p:nvSpPr>
        <p:spPr>
          <a:xfrm>
            <a:off x="7159752" y="1709928"/>
            <a:ext cx="877800" cy="21030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9" name="Google Shape;2369;g3d3dc0cb4f8_0_0"/>
          <p:cNvSpPr/>
          <p:nvPr/>
        </p:nvSpPr>
        <p:spPr>
          <a:xfrm>
            <a:off x="7205472" y="1728216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kiwi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0" name="Google Shape;2370;g3d3dc0cb4f8_0_0"/>
          <p:cNvSpPr/>
          <p:nvPr/>
        </p:nvSpPr>
        <p:spPr>
          <a:xfrm>
            <a:off x="8037576" y="1709928"/>
            <a:ext cx="877800" cy="21030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1" name="Google Shape;2371;g3d3dc0cb4f8_0_0"/>
          <p:cNvSpPr/>
          <p:nvPr/>
        </p:nvSpPr>
        <p:spPr>
          <a:xfrm>
            <a:off x="8083296" y="1728216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lang="en-US" sz="88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19.2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2" name="Google Shape;2372;g3d3dc0cb4f8_0_0"/>
          <p:cNvSpPr/>
          <p:nvPr/>
        </p:nvSpPr>
        <p:spPr>
          <a:xfrm>
            <a:off x="7159752" y="1920240"/>
            <a:ext cx="877800" cy="21030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3" name="Google Shape;2373;g3d3dc0cb4f8_0_0"/>
          <p:cNvSpPr/>
          <p:nvPr/>
        </p:nvSpPr>
        <p:spPr>
          <a:xfrm>
            <a:off x="7205472" y="1938528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grapes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4" name="Google Shape;2374;g3d3dc0cb4f8_0_0"/>
          <p:cNvSpPr/>
          <p:nvPr/>
        </p:nvSpPr>
        <p:spPr>
          <a:xfrm>
            <a:off x="8037576" y="1920240"/>
            <a:ext cx="877800" cy="21030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5" name="Google Shape;2375;g3d3dc0cb4f8_0_0"/>
          <p:cNvSpPr/>
          <p:nvPr/>
        </p:nvSpPr>
        <p:spPr>
          <a:xfrm>
            <a:off x="8083296" y="1938528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18.</a:t>
            </a:r>
            <a:r>
              <a:rPr lang="en-US" sz="88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6" name="Google Shape;2376;g3d3dc0cb4f8_0_0"/>
          <p:cNvSpPr/>
          <p:nvPr/>
        </p:nvSpPr>
        <p:spPr>
          <a:xfrm>
            <a:off x="7159752" y="2130552"/>
            <a:ext cx="877800" cy="21030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7" name="Google Shape;2377;g3d3dc0cb4f8_0_0"/>
          <p:cNvSpPr/>
          <p:nvPr/>
        </p:nvSpPr>
        <p:spPr>
          <a:xfrm>
            <a:off x="7205472" y="2148840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mango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8" name="Google Shape;2378;g3d3dc0cb4f8_0_0"/>
          <p:cNvSpPr/>
          <p:nvPr/>
        </p:nvSpPr>
        <p:spPr>
          <a:xfrm>
            <a:off x="8037576" y="2130552"/>
            <a:ext cx="877800" cy="21030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9" name="Google Shape;2379;g3d3dc0cb4f8_0_0"/>
          <p:cNvSpPr/>
          <p:nvPr/>
        </p:nvSpPr>
        <p:spPr>
          <a:xfrm>
            <a:off x="8083296" y="2148840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18.</a:t>
            </a:r>
            <a:r>
              <a:rPr lang="en-US" sz="88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0" name="Google Shape;2380;g3d3dc0cb4f8_0_0"/>
          <p:cNvSpPr/>
          <p:nvPr/>
        </p:nvSpPr>
        <p:spPr>
          <a:xfrm>
            <a:off x="7159752" y="2340864"/>
            <a:ext cx="877800" cy="21030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1" name="Google Shape;2381;g3d3dc0cb4f8_0_0"/>
          <p:cNvSpPr/>
          <p:nvPr/>
        </p:nvSpPr>
        <p:spPr>
          <a:xfrm>
            <a:off x="7205472" y="2359152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waterml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2" name="Google Shape;2382;g3d3dc0cb4f8_0_0"/>
          <p:cNvSpPr/>
          <p:nvPr/>
        </p:nvSpPr>
        <p:spPr>
          <a:xfrm>
            <a:off x="8037576" y="2340864"/>
            <a:ext cx="877800" cy="21030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3" name="Google Shape;2383;g3d3dc0cb4f8_0_0"/>
          <p:cNvSpPr/>
          <p:nvPr/>
        </p:nvSpPr>
        <p:spPr>
          <a:xfrm>
            <a:off x="8083296" y="2359152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18.0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4" name="Google Shape;2384;g3d3dc0cb4f8_0_0"/>
          <p:cNvSpPr/>
          <p:nvPr/>
        </p:nvSpPr>
        <p:spPr>
          <a:xfrm>
            <a:off x="7159752" y="2551176"/>
            <a:ext cx="877800" cy="2103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5" name="Google Shape;2385;g3d3dc0cb4f8_0_0"/>
          <p:cNvSpPr/>
          <p:nvPr/>
        </p:nvSpPr>
        <p:spPr>
          <a:xfrm>
            <a:off x="7205472" y="2569464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oranges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6" name="Google Shape;2386;g3d3dc0cb4f8_0_0"/>
          <p:cNvSpPr/>
          <p:nvPr/>
        </p:nvSpPr>
        <p:spPr>
          <a:xfrm>
            <a:off x="8037576" y="2551176"/>
            <a:ext cx="877800" cy="210300"/>
          </a:xfrm>
          <a:prstGeom prst="rect">
            <a:avLst/>
          </a:prstGeom>
          <a:solidFill>
            <a:srgbClr val="FFE4E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7" name="Google Shape;2387;g3d3dc0cb4f8_0_0"/>
          <p:cNvSpPr/>
          <p:nvPr/>
        </p:nvSpPr>
        <p:spPr>
          <a:xfrm>
            <a:off x="8083296" y="2569464"/>
            <a:ext cx="786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8" name="Google Shape;2388;g3d3dc0cb4f8_0_0"/>
          <p:cNvSpPr/>
          <p:nvPr/>
        </p:nvSpPr>
        <p:spPr>
          <a:xfrm>
            <a:off x="-31992" y="2791914"/>
            <a:ext cx="4572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How each method works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9" name="Google Shape;2389;g3d3dc0cb4f8_0_0"/>
          <p:cNvSpPr/>
          <p:nvPr/>
        </p:nvSpPr>
        <p:spPr>
          <a:xfrm>
            <a:off x="1331115" y="2785014"/>
            <a:ext cx="1738200" cy="233100"/>
          </a:xfrm>
          <a:prstGeom prst="rect">
            <a:avLst/>
          </a:prstGeom>
          <a:solidFill>
            <a:srgbClr val="1B2A4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0" name="Google Shape;2390;g3d3dc0cb4f8_0_0"/>
          <p:cNvSpPr/>
          <p:nvPr/>
        </p:nvSpPr>
        <p:spPr>
          <a:xfrm>
            <a:off x="1354005" y="2794166"/>
            <a:ext cx="15150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1" name="Google Shape;2391;g3d3dc0cb4f8_0_0"/>
          <p:cNvSpPr/>
          <p:nvPr/>
        </p:nvSpPr>
        <p:spPr>
          <a:xfrm>
            <a:off x="3069326" y="2789564"/>
            <a:ext cx="2433000" cy="233100"/>
          </a:xfrm>
          <a:prstGeom prst="rect">
            <a:avLst/>
          </a:prstGeom>
          <a:solidFill>
            <a:srgbClr val="1B2A4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2" name="Google Shape;2392;g3d3dc0cb4f8_0_0"/>
          <p:cNvSpPr/>
          <p:nvPr/>
        </p:nvSpPr>
        <p:spPr>
          <a:xfrm>
            <a:off x="3037751" y="2796396"/>
            <a:ext cx="28224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Logic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3" name="Google Shape;2393;g3d3dc0cb4f8_0_0"/>
          <p:cNvSpPr/>
          <p:nvPr/>
        </p:nvSpPr>
        <p:spPr>
          <a:xfrm>
            <a:off x="5502299" y="2793602"/>
            <a:ext cx="3394800" cy="233100"/>
          </a:xfrm>
          <a:prstGeom prst="rect">
            <a:avLst/>
          </a:prstGeom>
          <a:solidFill>
            <a:srgbClr val="1B2A4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4" name="Google Shape;2394;g3d3dc0cb4f8_0_0"/>
          <p:cNvSpPr/>
          <p:nvPr/>
        </p:nvSpPr>
        <p:spPr>
          <a:xfrm>
            <a:off x="5489777" y="2793602"/>
            <a:ext cx="33033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detail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5" name="Google Shape;2395;g3d3dc0cb4f8_0_0"/>
          <p:cNvSpPr/>
          <p:nvPr/>
        </p:nvSpPr>
        <p:spPr>
          <a:xfrm>
            <a:off x="1331127" y="3003289"/>
            <a:ext cx="1738200" cy="2331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6" name="Google Shape;2396;g3d3dc0cb4f8_0_0"/>
          <p:cNvSpPr/>
          <p:nvPr/>
        </p:nvSpPr>
        <p:spPr>
          <a:xfrm>
            <a:off x="1376729" y="3015889"/>
            <a:ext cx="16926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ffill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7" name="Google Shape;2397;g3d3dc0cb4f8_0_0"/>
          <p:cNvSpPr/>
          <p:nvPr/>
        </p:nvSpPr>
        <p:spPr>
          <a:xfrm>
            <a:off x="3069326" y="2995289"/>
            <a:ext cx="2433000" cy="2331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8" name="Google Shape;2398;g3d3dc0cb4f8_0_0"/>
          <p:cNvSpPr/>
          <p:nvPr/>
        </p:nvSpPr>
        <p:spPr>
          <a:xfrm>
            <a:off x="3060624" y="3020414"/>
            <a:ext cx="24792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Carries last valid value forward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9" name="Google Shape;2399;g3d3dc0cb4f8_0_0"/>
          <p:cNvSpPr/>
          <p:nvPr/>
        </p:nvSpPr>
        <p:spPr>
          <a:xfrm>
            <a:off x="5502250" y="2988414"/>
            <a:ext cx="3394800" cy="1554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0" name="Google Shape;2400;g3d3dc0cb4f8_0_0"/>
          <p:cNvSpPr/>
          <p:nvPr/>
        </p:nvSpPr>
        <p:spPr>
          <a:xfrm>
            <a:off x="5512727" y="2998152"/>
            <a:ext cx="33489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20→fills banana/kiwi/grapes/mango; 18→fills oranges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1" name="Google Shape;2401;g3d3dc0cb4f8_0_0"/>
          <p:cNvSpPr/>
          <p:nvPr/>
        </p:nvSpPr>
        <p:spPr>
          <a:xfrm>
            <a:off x="1331127" y="3201027"/>
            <a:ext cx="1738200" cy="23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2" name="Google Shape;2402;g3d3dc0cb4f8_0_0"/>
          <p:cNvSpPr/>
          <p:nvPr/>
        </p:nvSpPr>
        <p:spPr>
          <a:xfrm>
            <a:off x="1376729" y="3219314"/>
            <a:ext cx="16926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bfill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3" name="Google Shape;2403;g3d3dc0cb4f8_0_0"/>
          <p:cNvSpPr/>
          <p:nvPr/>
        </p:nvSpPr>
        <p:spPr>
          <a:xfrm>
            <a:off x="3069326" y="3191889"/>
            <a:ext cx="2433000" cy="23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4" name="Google Shape;2404;g3d3dc0cb4f8_0_0"/>
          <p:cNvSpPr/>
          <p:nvPr/>
        </p:nvSpPr>
        <p:spPr>
          <a:xfrm>
            <a:off x="3069300" y="3234139"/>
            <a:ext cx="25302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Fills with next valid value backward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5" name="Google Shape;2405;g3d3dc0cb4f8_0_0"/>
          <p:cNvSpPr/>
          <p:nvPr/>
        </p:nvSpPr>
        <p:spPr>
          <a:xfrm>
            <a:off x="5489786" y="3181602"/>
            <a:ext cx="3394800" cy="23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6" name="Google Shape;2406;g3d3dc0cb4f8_0_0"/>
          <p:cNvSpPr/>
          <p:nvPr/>
        </p:nvSpPr>
        <p:spPr>
          <a:xfrm>
            <a:off x="5502402" y="3199902"/>
            <a:ext cx="33489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18←fills mango/grapes/kiwi/banana; oranges stays NaN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7" name="Google Shape;2407;g3d3dc0cb4f8_0_0"/>
          <p:cNvSpPr/>
          <p:nvPr/>
        </p:nvSpPr>
        <p:spPr>
          <a:xfrm>
            <a:off x="1330483" y="3397664"/>
            <a:ext cx="1738200" cy="2331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8" name="Google Shape;2408;g3d3dc0cb4f8_0_0"/>
          <p:cNvSpPr/>
          <p:nvPr/>
        </p:nvSpPr>
        <p:spPr>
          <a:xfrm>
            <a:off x="1384173" y="3452502"/>
            <a:ext cx="16926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interpolate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9" name="Google Shape;2409;g3d3dc0cb4f8_0_0"/>
          <p:cNvSpPr/>
          <p:nvPr/>
        </p:nvSpPr>
        <p:spPr>
          <a:xfrm>
            <a:off x="3045807" y="3403914"/>
            <a:ext cx="2433000" cy="2331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0" name="Google Shape;2410;g3d3dc0cb4f8_0_0"/>
          <p:cNvSpPr/>
          <p:nvPr/>
        </p:nvSpPr>
        <p:spPr>
          <a:xfrm>
            <a:off x="3045806" y="3452489"/>
            <a:ext cx="25302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Calculates intermediate values linearly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1" name="Google Shape;2411;g3d3dc0cb4f8_0_0"/>
          <p:cNvSpPr/>
          <p:nvPr/>
        </p:nvSpPr>
        <p:spPr>
          <a:xfrm>
            <a:off x="5478780" y="3397614"/>
            <a:ext cx="3394800" cy="23310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2" name="Google Shape;2412;g3d3dc0cb4f8_0_0"/>
          <p:cNvSpPr/>
          <p:nvPr/>
        </p:nvSpPr>
        <p:spPr>
          <a:xfrm>
            <a:off x="5478806" y="3390614"/>
            <a:ext cx="3348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8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−</a:t>
            </a:r>
            <a:r>
              <a:rPr lang="en-US" sz="88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)/</a:t>
            </a:r>
            <a:r>
              <a:rPr lang="en-US" sz="88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 steps = −0.</a:t>
            </a:r>
            <a:r>
              <a:rPr lang="en-US" sz="88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/step → 19.</a:t>
            </a:r>
            <a:r>
              <a:rPr lang="en-US" sz="88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, 1</a:t>
            </a:r>
            <a:r>
              <a:rPr lang="en-US" sz="88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88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, 18.</a:t>
            </a:r>
            <a:r>
              <a:rPr lang="en-US" sz="88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8, 18.4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3" name="Google Shape;2413;g3d3dc0cb4f8_0_0"/>
          <p:cNvSpPr/>
          <p:nvPr/>
        </p:nvSpPr>
        <p:spPr>
          <a:xfrm>
            <a:off x="177656" y="3816374"/>
            <a:ext cx="8741700" cy="543900"/>
          </a:xfrm>
          <a:prstGeom prst="rect">
            <a:avLst/>
          </a:prstGeom>
          <a:solidFill>
            <a:srgbClr val="1A2B3C"/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4" name="Google Shape;2414;g3d3dc0cb4f8_0_0"/>
          <p:cNvSpPr/>
          <p:nvPr/>
        </p:nvSpPr>
        <p:spPr>
          <a:xfrm>
            <a:off x="177649" y="3656268"/>
            <a:ext cx="8741700" cy="1830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5" name="Google Shape;2415;g3d3dc0cb4f8_0_0"/>
          <p:cNvSpPr/>
          <p:nvPr/>
        </p:nvSpPr>
        <p:spPr>
          <a:xfrm>
            <a:off x="177651" y="3669956"/>
            <a:ext cx="1280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6" name="Google Shape;2416;g3d3dc0cb4f8_0_0"/>
          <p:cNvSpPr/>
          <p:nvPr/>
        </p:nvSpPr>
        <p:spPr>
          <a:xfrm>
            <a:off x="269081" y="3816298"/>
            <a:ext cx="40143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ser2 = dfx.store4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ser2.fillna(method='ffill')                   # forward fill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ser2.fillna(method='bfill')                   # backward fill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7" name="Google Shape;2417;g3d3dc0cb4f8_0_0"/>
          <p:cNvSpPr/>
          <p:nvPr/>
        </p:nvSpPr>
        <p:spPr>
          <a:xfrm>
            <a:off x="83578" y="4408029"/>
            <a:ext cx="6492300" cy="329100"/>
          </a:xfrm>
          <a:prstGeom prst="rect">
            <a:avLst/>
          </a:prstGeom>
          <a:solidFill>
            <a:srgbClr val="C0392B">
              <a:alpha val="10200"/>
            </a:srgbClr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8" name="Google Shape;2418;g3d3dc0cb4f8_0_0"/>
          <p:cNvSpPr/>
          <p:nvPr/>
        </p:nvSpPr>
        <p:spPr>
          <a:xfrm>
            <a:off x="28715" y="4408004"/>
            <a:ext cx="54900" cy="3291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9" name="Google Shape;2419;g3d3dc0cb4f8_0_0"/>
          <p:cNvSpPr/>
          <p:nvPr/>
        </p:nvSpPr>
        <p:spPr>
          <a:xfrm>
            <a:off x="165893" y="4444605"/>
            <a:ext cx="632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⚠️ oranges stays NaN after bfill and interpolate — no future anchor value exists. Handle separately.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0" name="Google Shape;2420;g3d3dc0cb4f8_0_0"/>
          <p:cNvSpPr/>
          <p:nvPr/>
        </p:nvSpPr>
        <p:spPr>
          <a:xfrm>
            <a:off x="6722183" y="4398891"/>
            <a:ext cx="2157900" cy="329100"/>
          </a:xfrm>
          <a:prstGeom prst="rect">
            <a:avLst/>
          </a:prstGeom>
          <a:solidFill>
            <a:srgbClr val="1A7A34">
              <a:alpha val="10200"/>
            </a:srgbClr>
          </a:solidFill>
          <a:ln cap="flat" cmpd="sng" w="15225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1" name="Google Shape;2421;g3d3dc0cb4f8_0_0"/>
          <p:cNvSpPr/>
          <p:nvPr/>
        </p:nvSpPr>
        <p:spPr>
          <a:xfrm>
            <a:off x="6662720" y="4408016"/>
            <a:ext cx="54900" cy="329100"/>
          </a:xfrm>
          <a:prstGeom prst="rect">
            <a:avLst/>
          </a:prstGeom>
          <a:solidFill>
            <a:srgbClr val="1A7A34"/>
          </a:solidFill>
          <a:ln cap="flat" cmpd="sng" w="12700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2" name="Google Shape;2422;g3d3dc0cb4f8_0_0"/>
          <p:cNvSpPr/>
          <p:nvPr/>
        </p:nvSpPr>
        <p:spPr>
          <a:xfrm>
            <a:off x="6804423" y="4435467"/>
            <a:ext cx="1993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🌐 Use case: stock prices (ffill), IoT sensor gaps (interpolate), survey blanks (bfill).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3" name="Google Shape;2423;g3d3dc0cb4f8_0_0"/>
          <p:cNvSpPr/>
          <p:nvPr/>
        </p:nvSpPr>
        <p:spPr>
          <a:xfrm>
            <a:off x="4694781" y="3891023"/>
            <a:ext cx="40143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ser2.interpolate()                             # linear (default)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2428" name="Shape 2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9" name="Google Shape;2429;p16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0" name="Google Shape;2430;p16"/>
          <p:cNvSpPr/>
          <p:nvPr/>
        </p:nvSpPr>
        <p:spPr>
          <a:xfrm>
            <a:off x="0" y="0"/>
            <a:ext cx="82296" cy="804672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1" name="Google Shape;2431;p16"/>
          <p:cNvSpPr/>
          <p:nvPr/>
        </p:nvSpPr>
        <p:spPr>
          <a:xfrm>
            <a:off x="182880" y="64008"/>
            <a:ext cx="8778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Discretization — pd.cut() : Custom Bin Edges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2" name="Google Shape;2432;p16"/>
          <p:cNvSpPr/>
          <p:nvPr/>
        </p:nvSpPr>
        <p:spPr>
          <a:xfrm>
            <a:off x="182880" y="493776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C8E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FC8E0"/>
                </a:solidFill>
                <a:latin typeface="Calibri"/>
                <a:ea typeface="Calibri"/>
                <a:cs typeface="Calibri"/>
                <a:sym typeface="Calibri"/>
              </a:rPr>
              <a:t>Converting continuous values into labelled category intervals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3" name="Google Shape;2433;p1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4" name="Google Shape;2434;p16"/>
          <p:cNvSpPr/>
          <p:nvPr/>
        </p:nvSpPr>
        <p:spPr>
          <a:xfrm>
            <a:off x="201168" y="4910328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F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FC8"/>
                </a:solidFill>
                <a:latin typeface="Calibri"/>
                <a:ea typeface="Calibri"/>
                <a:cs typeface="Calibri"/>
                <a:sym typeface="Calibri"/>
              </a:rPr>
              <a:t>EDA | Module 2 | 23CSE422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5" name="Google Shape;2435;p16"/>
          <p:cNvSpPr/>
          <p:nvPr/>
        </p:nvSpPr>
        <p:spPr>
          <a:xfrm>
            <a:off x="201168" y="841248"/>
            <a:ext cx="54864" cy="237744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6" name="Google Shape;2436;p16"/>
          <p:cNvSpPr/>
          <p:nvPr/>
        </p:nvSpPr>
        <p:spPr>
          <a:xfrm>
            <a:off x="292608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Input: height (continuous)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7" name="Google Shape;2437;p16"/>
          <p:cNvSpPr/>
          <p:nvPr/>
        </p:nvSpPr>
        <p:spPr>
          <a:xfrm>
            <a:off x="201168" y="1078992"/>
            <a:ext cx="704088" cy="205740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8" name="Google Shape;2438;p16"/>
          <p:cNvSpPr/>
          <p:nvPr/>
        </p:nvSpPr>
        <p:spPr>
          <a:xfrm>
            <a:off x="246888" y="1097280"/>
            <a:ext cx="612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Idx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9" name="Google Shape;2439;p16"/>
          <p:cNvSpPr/>
          <p:nvPr/>
        </p:nvSpPr>
        <p:spPr>
          <a:xfrm>
            <a:off x="905256" y="1078992"/>
            <a:ext cx="704088" cy="205740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0" name="Google Shape;2440;p16"/>
          <p:cNvSpPr/>
          <p:nvPr/>
        </p:nvSpPr>
        <p:spPr>
          <a:xfrm>
            <a:off x="950976" y="1097280"/>
            <a:ext cx="612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Height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1" name="Google Shape;2441;p16"/>
          <p:cNvSpPr/>
          <p:nvPr/>
        </p:nvSpPr>
        <p:spPr>
          <a:xfrm>
            <a:off x="201168" y="1284732"/>
            <a:ext cx="704088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2" name="Google Shape;2442;p16"/>
          <p:cNvSpPr/>
          <p:nvPr/>
        </p:nvSpPr>
        <p:spPr>
          <a:xfrm>
            <a:off x="246888" y="1303020"/>
            <a:ext cx="612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3" name="Google Shape;2443;p16"/>
          <p:cNvSpPr/>
          <p:nvPr/>
        </p:nvSpPr>
        <p:spPr>
          <a:xfrm>
            <a:off x="905256" y="1284732"/>
            <a:ext cx="704088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4" name="Google Shape;2444;p16"/>
          <p:cNvSpPr/>
          <p:nvPr/>
        </p:nvSpPr>
        <p:spPr>
          <a:xfrm>
            <a:off x="950976" y="1303020"/>
            <a:ext cx="612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120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5" name="Google Shape;2445;p16"/>
          <p:cNvSpPr/>
          <p:nvPr/>
        </p:nvSpPr>
        <p:spPr>
          <a:xfrm>
            <a:off x="201168" y="1490472"/>
            <a:ext cx="704088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6" name="Google Shape;2446;p16"/>
          <p:cNvSpPr/>
          <p:nvPr/>
        </p:nvSpPr>
        <p:spPr>
          <a:xfrm>
            <a:off x="246888" y="1508760"/>
            <a:ext cx="612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7" name="Google Shape;2447;p16"/>
          <p:cNvSpPr/>
          <p:nvPr/>
        </p:nvSpPr>
        <p:spPr>
          <a:xfrm>
            <a:off x="905256" y="1490472"/>
            <a:ext cx="704088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8" name="Google Shape;2448;p16"/>
          <p:cNvSpPr/>
          <p:nvPr/>
        </p:nvSpPr>
        <p:spPr>
          <a:xfrm>
            <a:off x="950976" y="1508760"/>
            <a:ext cx="612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122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9" name="Google Shape;2449;p16"/>
          <p:cNvSpPr/>
          <p:nvPr/>
        </p:nvSpPr>
        <p:spPr>
          <a:xfrm>
            <a:off x="201168" y="1696212"/>
            <a:ext cx="704088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0" name="Google Shape;2450;p16"/>
          <p:cNvSpPr/>
          <p:nvPr/>
        </p:nvSpPr>
        <p:spPr>
          <a:xfrm>
            <a:off x="246888" y="1714500"/>
            <a:ext cx="612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1" name="Google Shape;2451;p16"/>
          <p:cNvSpPr/>
          <p:nvPr/>
        </p:nvSpPr>
        <p:spPr>
          <a:xfrm>
            <a:off x="905256" y="1696212"/>
            <a:ext cx="704088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2" name="Google Shape;2452;p16"/>
          <p:cNvSpPr/>
          <p:nvPr/>
        </p:nvSpPr>
        <p:spPr>
          <a:xfrm>
            <a:off x="950976" y="1714500"/>
            <a:ext cx="612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125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3" name="Google Shape;2453;p16"/>
          <p:cNvSpPr/>
          <p:nvPr/>
        </p:nvSpPr>
        <p:spPr>
          <a:xfrm>
            <a:off x="201168" y="1901952"/>
            <a:ext cx="704088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4" name="Google Shape;2454;p16"/>
          <p:cNvSpPr/>
          <p:nvPr/>
        </p:nvSpPr>
        <p:spPr>
          <a:xfrm>
            <a:off x="246888" y="1920240"/>
            <a:ext cx="612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5" name="Google Shape;2455;p16"/>
          <p:cNvSpPr/>
          <p:nvPr/>
        </p:nvSpPr>
        <p:spPr>
          <a:xfrm>
            <a:off x="905256" y="1901952"/>
            <a:ext cx="704088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6" name="Google Shape;2456;p16"/>
          <p:cNvSpPr/>
          <p:nvPr/>
        </p:nvSpPr>
        <p:spPr>
          <a:xfrm>
            <a:off x="950976" y="1920240"/>
            <a:ext cx="612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127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7" name="Google Shape;2457;p16"/>
          <p:cNvSpPr/>
          <p:nvPr/>
        </p:nvSpPr>
        <p:spPr>
          <a:xfrm>
            <a:off x="201168" y="2107692"/>
            <a:ext cx="704088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8" name="Google Shape;2458;p16"/>
          <p:cNvSpPr/>
          <p:nvPr/>
        </p:nvSpPr>
        <p:spPr>
          <a:xfrm>
            <a:off x="246888" y="2125980"/>
            <a:ext cx="612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9" name="Google Shape;2459;p16"/>
          <p:cNvSpPr/>
          <p:nvPr/>
        </p:nvSpPr>
        <p:spPr>
          <a:xfrm>
            <a:off x="905256" y="2107692"/>
            <a:ext cx="704088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0" name="Google Shape;2460;p16"/>
          <p:cNvSpPr/>
          <p:nvPr/>
        </p:nvSpPr>
        <p:spPr>
          <a:xfrm>
            <a:off x="950976" y="2125980"/>
            <a:ext cx="612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121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1" name="Google Shape;2461;p16"/>
          <p:cNvSpPr/>
          <p:nvPr/>
        </p:nvSpPr>
        <p:spPr>
          <a:xfrm>
            <a:off x="201168" y="2313432"/>
            <a:ext cx="704088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2" name="Google Shape;2462;p16"/>
          <p:cNvSpPr/>
          <p:nvPr/>
        </p:nvSpPr>
        <p:spPr>
          <a:xfrm>
            <a:off x="246888" y="2331720"/>
            <a:ext cx="612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3" name="Google Shape;2463;p16"/>
          <p:cNvSpPr/>
          <p:nvPr/>
        </p:nvSpPr>
        <p:spPr>
          <a:xfrm>
            <a:off x="905256" y="2313432"/>
            <a:ext cx="704088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4" name="Google Shape;2464;p16"/>
          <p:cNvSpPr/>
          <p:nvPr/>
        </p:nvSpPr>
        <p:spPr>
          <a:xfrm>
            <a:off x="950976" y="2331720"/>
            <a:ext cx="612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123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5" name="Google Shape;2465;p16"/>
          <p:cNvSpPr/>
          <p:nvPr/>
        </p:nvSpPr>
        <p:spPr>
          <a:xfrm>
            <a:off x="201168" y="2519172"/>
            <a:ext cx="704088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6" name="Google Shape;2466;p16"/>
          <p:cNvSpPr/>
          <p:nvPr/>
        </p:nvSpPr>
        <p:spPr>
          <a:xfrm>
            <a:off x="246888" y="2537460"/>
            <a:ext cx="612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7" name="Google Shape;2467;p16"/>
          <p:cNvSpPr/>
          <p:nvPr/>
        </p:nvSpPr>
        <p:spPr>
          <a:xfrm>
            <a:off x="905256" y="2519172"/>
            <a:ext cx="704088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8" name="Google Shape;2468;p16"/>
          <p:cNvSpPr/>
          <p:nvPr/>
        </p:nvSpPr>
        <p:spPr>
          <a:xfrm>
            <a:off x="950976" y="2537460"/>
            <a:ext cx="612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137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9" name="Google Shape;2469;p16"/>
          <p:cNvSpPr/>
          <p:nvPr/>
        </p:nvSpPr>
        <p:spPr>
          <a:xfrm>
            <a:off x="201168" y="2724912"/>
            <a:ext cx="704088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0" name="Google Shape;2470;p16"/>
          <p:cNvSpPr/>
          <p:nvPr/>
        </p:nvSpPr>
        <p:spPr>
          <a:xfrm>
            <a:off x="246888" y="2743200"/>
            <a:ext cx="612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1" name="Google Shape;2471;p16"/>
          <p:cNvSpPr/>
          <p:nvPr/>
        </p:nvSpPr>
        <p:spPr>
          <a:xfrm>
            <a:off x="905256" y="2724912"/>
            <a:ext cx="704088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2" name="Google Shape;2472;p16"/>
          <p:cNvSpPr/>
          <p:nvPr/>
        </p:nvSpPr>
        <p:spPr>
          <a:xfrm>
            <a:off x="950976" y="2743200"/>
            <a:ext cx="612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131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3" name="Google Shape;2473;p16"/>
          <p:cNvSpPr/>
          <p:nvPr/>
        </p:nvSpPr>
        <p:spPr>
          <a:xfrm>
            <a:off x="201168" y="2930652"/>
            <a:ext cx="704088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4" name="Google Shape;2474;p16"/>
          <p:cNvSpPr/>
          <p:nvPr/>
        </p:nvSpPr>
        <p:spPr>
          <a:xfrm>
            <a:off x="246888" y="2948940"/>
            <a:ext cx="612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5" name="Google Shape;2475;p16"/>
          <p:cNvSpPr/>
          <p:nvPr/>
        </p:nvSpPr>
        <p:spPr>
          <a:xfrm>
            <a:off x="905256" y="2930652"/>
            <a:ext cx="704088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6" name="Google Shape;2476;p16"/>
          <p:cNvSpPr/>
          <p:nvPr/>
        </p:nvSpPr>
        <p:spPr>
          <a:xfrm>
            <a:off x="950976" y="2948940"/>
            <a:ext cx="612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161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7" name="Google Shape;2477;p16"/>
          <p:cNvSpPr/>
          <p:nvPr/>
        </p:nvSpPr>
        <p:spPr>
          <a:xfrm>
            <a:off x="201168" y="3136392"/>
            <a:ext cx="704088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8" name="Google Shape;2478;p16"/>
          <p:cNvSpPr/>
          <p:nvPr/>
        </p:nvSpPr>
        <p:spPr>
          <a:xfrm>
            <a:off x="246888" y="3154680"/>
            <a:ext cx="612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9" name="Google Shape;2479;p16"/>
          <p:cNvSpPr/>
          <p:nvPr/>
        </p:nvSpPr>
        <p:spPr>
          <a:xfrm>
            <a:off x="905256" y="3136392"/>
            <a:ext cx="704088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0" name="Google Shape;2480;p16"/>
          <p:cNvSpPr/>
          <p:nvPr/>
        </p:nvSpPr>
        <p:spPr>
          <a:xfrm>
            <a:off x="950976" y="3154680"/>
            <a:ext cx="612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145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1" name="Google Shape;2481;p16"/>
          <p:cNvSpPr/>
          <p:nvPr/>
        </p:nvSpPr>
        <p:spPr>
          <a:xfrm>
            <a:off x="201168" y="3342132"/>
            <a:ext cx="704088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2" name="Google Shape;2482;p16"/>
          <p:cNvSpPr/>
          <p:nvPr/>
        </p:nvSpPr>
        <p:spPr>
          <a:xfrm>
            <a:off x="246888" y="3360420"/>
            <a:ext cx="612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3" name="Google Shape;2483;p16"/>
          <p:cNvSpPr/>
          <p:nvPr/>
        </p:nvSpPr>
        <p:spPr>
          <a:xfrm>
            <a:off x="905256" y="3342132"/>
            <a:ext cx="704088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4" name="Google Shape;2484;p16"/>
          <p:cNvSpPr/>
          <p:nvPr/>
        </p:nvSpPr>
        <p:spPr>
          <a:xfrm>
            <a:off x="950976" y="3360420"/>
            <a:ext cx="612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141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5" name="Google Shape;2485;p16"/>
          <p:cNvSpPr/>
          <p:nvPr/>
        </p:nvSpPr>
        <p:spPr>
          <a:xfrm>
            <a:off x="201168" y="3547872"/>
            <a:ext cx="704088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6" name="Google Shape;2486;p16"/>
          <p:cNvSpPr/>
          <p:nvPr/>
        </p:nvSpPr>
        <p:spPr>
          <a:xfrm>
            <a:off x="246888" y="3566160"/>
            <a:ext cx="612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7" name="Google Shape;2487;p16"/>
          <p:cNvSpPr/>
          <p:nvPr/>
        </p:nvSpPr>
        <p:spPr>
          <a:xfrm>
            <a:off x="905256" y="3547872"/>
            <a:ext cx="704088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8" name="Google Shape;2488;p16"/>
          <p:cNvSpPr/>
          <p:nvPr/>
        </p:nvSpPr>
        <p:spPr>
          <a:xfrm>
            <a:off x="950976" y="3566160"/>
            <a:ext cx="612648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132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9" name="Google Shape;2489;p16"/>
          <p:cNvSpPr/>
          <p:nvPr/>
        </p:nvSpPr>
        <p:spPr>
          <a:xfrm>
            <a:off x="1719072" y="1289304"/>
            <a:ext cx="4791456" cy="50292"/>
          </a:xfrm>
          <a:prstGeom prst="rect">
            <a:avLst/>
          </a:prstGeom>
          <a:solidFill>
            <a:srgbClr val="4A5568"/>
          </a:solidFill>
          <a:ln cap="flat" cmpd="sng" w="12700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0" name="Google Shape;2490;p16"/>
          <p:cNvSpPr/>
          <p:nvPr/>
        </p:nvSpPr>
        <p:spPr>
          <a:xfrm>
            <a:off x="1719072" y="1216152"/>
            <a:ext cx="36576" cy="237744"/>
          </a:xfrm>
          <a:prstGeom prst="rect">
            <a:avLst/>
          </a:prstGeom>
          <a:solidFill>
            <a:srgbClr val="4A5568"/>
          </a:solidFill>
          <a:ln cap="flat" cmpd="sng" w="12700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1" name="Google Shape;2491;p16"/>
          <p:cNvSpPr/>
          <p:nvPr/>
        </p:nvSpPr>
        <p:spPr>
          <a:xfrm>
            <a:off x="1572768" y="146304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118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2" name="Google Shape;2492;p16"/>
          <p:cNvSpPr/>
          <p:nvPr/>
        </p:nvSpPr>
        <p:spPr>
          <a:xfrm>
            <a:off x="2916936" y="1216152"/>
            <a:ext cx="36576" cy="237744"/>
          </a:xfrm>
          <a:prstGeom prst="rect">
            <a:avLst/>
          </a:prstGeom>
          <a:solidFill>
            <a:srgbClr val="4A5568"/>
          </a:solidFill>
          <a:ln cap="flat" cmpd="sng" w="12700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3" name="Google Shape;2493;p16"/>
          <p:cNvSpPr/>
          <p:nvPr/>
        </p:nvSpPr>
        <p:spPr>
          <a:xfrm>
            <a:off x="2770632" y="146304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125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4" name="Google Shape;2494;p16"/>
          <p:cNvSpPr/>
          <p:nvPr/>
        </p:nvSpPr>
        <p:spPr>
          <a:xfrm>
            <a:off x="4114800" y="1216152"/>
            <a:ext cx="36576" cy="237744"/>
          </a:xfrm>
          <a:prstGeom prst="rect">
            <a:avLst/>
          </a:prstGeom>
          <a:solidFill>
            <a:srgbClr val="4A5568"/>
          </a:solidFill>
          <a:ln cap="flat" cmpd="sng" w="12700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5" name="Google Shape;2495;p16"/>
          <p:cNvSpPr/>
          <p:nvPr/>
        </p:nvSpPr>
        <p:spPr>
          <a:xfrm>
            <a:off x="3968496" y="146304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135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6" name="Google Shape;2496;p16"/>
          <p:cNvSpPr/>
          <p:nvPr/>
        </p:nvSpPr>
        <p:spPr>
          <a:xfrm>
            <a:off x="5312664" y="1216152"/>
            <a:ext cx="36576" cy="237744"/>
          </a:xfrm>
          <a:prstGeom prst="rect">
            <a:avLst/>
          </a:prstGeom>
          <a:solidFill>
            <a:srgbClr val="4A5568"/>
          </a:solidFill>
          <a:ln cap="flat" cmpd="sng" w="12700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7" name="Google Shape;2497;p16"/>
          <p:cNvSpPr/>
          <p:nvPr/>
        </p:nvSpPr>
        <p:spPr>
          <a:xfrm>
            <a:off x="5166360" y="146304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160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8" name="Google Shape;2498;p16"/>
          <p:cNvSpPr/>
          <p:nvPr/>
        </p:nvSpPr>
        <p:spPr>
          <a:xfrm>
            <a:off x="6510528" y="1216152"/>
            <a:ext cx="36576" cy="237744"/>
          </a:xfrm>
          <a:prstGeom prst="rect">
            <a:avLst/>
          </a:prstGeom>
          <a:solidFill>
            <a:srgbClr val="4A5568"/>
          </a:solidFill>
          <a:ln cap="flat" cmpd="sng" w="12700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9" name="Google Shape;2499;p16"/>
          <p:cNvSpPr/>
          <p:nvPr/>
        </p:nvSpPr>
        <p:spPr>
          <a:xfrm>
            <a:off x="6364224" y="146304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200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0" name="Google Shape;2500;p16"/>
          <p:cNvSpPr/>
          <p:nvPr/>
        </p:nvSpPr>
        <p:spPr>
          <a:xfrm>
            <a:off x="1773936" y="1197864"/>
            <a:ext cx="1106424" cy="128016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1" name="Google Shape;2501;p16"/>
          <p:cNvSpPr/>
          <p:nvPr/>
        </p:nvSpPr>
        <p:spPr>
          <a:xfrm>
            <a:off x="1755648" y="166420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Short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2" name="Google Shape;2502;p16"/>
          <p:cNvSpPr/>
          <p:nvPr/>
        </p:nvSpPr>
        <p:spPr>
          <a:xfrm>
            <a:off x="2971800" y="1197864"/>
            <a:ext cx="1106424" cy="128016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3" name="Google Shape;2503;p16"/>
          <p:cNvSpPr/>
          <p:nvPr/>
        </p:nvSpPr>
        <p:spPr>
          <a:xfrm>
            <a:off x="2953512" y="166420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9E8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9E8A"/>
                </a:solidFill>
                <a:latin typeface="Calibri"/>
                <a:ea typeface="Calibri"/>
                <a:cs typeface="Calibri"/>
                <a:sym typeface="Calibri"/>
              </a:rPr>
              <a:t>Average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4" name="Google Shape;2504;p16"/>
          <p:cNvSpPr/>
          <p:nvPr/>
        </p:nvSpPr>
        <p:spPr>
          <a:xfrm>
            <a:off x="4169664" y="1197864"/>
            <a:ext cx="1106424" cy="128016"/>
          </a:xfrm>
          <a:prstGeom prst="rect">
            <a:avLst/>
          </a:prstGeom>
          <a:solidFill>
            <a:srgbClr val="D4850A"/>
          </a:solidFill>
          <a:ln cap="flat" cmpd="sng" w="12700">
            <a:solidFill>
              <a:srgbClr val="D485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5" name="Google Shape;2505;p16"/>
          <p:cNvSpPr/>
          <p:nvPr/>
        </p:nvSpPr>
        <p:spPr>
          <a:xfrm>
            <a:off x="4151376" y="166420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50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D4850A"/>
                </a:solidFill>
                <a:latin typeface="Calibri"/>
                <a:ea typeface="Calibri"/>
                <a:cs typeface="Calibri"/>
                <a:sym typeface="Calibri"/>
              </a:rPr>
              <a:t>Good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6" name="Google Shape;2506;p16"/>
          <p:cNvSpPr/>
          <p:nvPr/>
        </p:nvSpPr>
        <p:spPr>
          <a:xfrm>
            <a:off x="5367528" y="1197864"/>
            <a:ext cx="1106424" cy="128016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7" name="Google Shape;2507;p16"/>
          <p:cNvSpPr/>
          <p:nvPr/>
        </p:nvSpPr>
        <p:spPr>
          <a:xfrm>
            <a:off x="5349240" y="166420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Taller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8" name="Google Shape;2508;p16"/>
          <p:cNvSpPr/>
          <p:nvPr/>
        </p:nvSpPr>
        <p:spPr>
          <a:xfrm>
            <a:off x="1719072" y="1773936"/>
            <a:ext cx="54864" cy="237744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9" name="Google Shape;2509;p16"/>
          <p:cNvSpPr/>
          <p:nvPr/>
        </p:nvSpPr>
        <p:spPr>
          <a:xfrm>
            <a:off x="1810512" y="1773936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9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9E8A"/>
                </a:solidFill>
                <a:latin typeface="Calibri"/>
                <a:ea typeface="Calibri"/>
                <a:cs typeface="Calibri"/>
                <a:sym typeface="Calibri"/>
              </a:rPr>
              <a:t>Output: category column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0" name="Google Shape;2510;p16"/>
          <p:cNvSpPr/>
          <p:nvPr/>
        </p:nvSpPr>
        <p:spPr>
          <a:xfrm>
            <a:off x="1719072" y="2011680"/>
            <a:ext cx="883920" cy="205740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1" name="Google Shape;2511;p16"/>
          <p:cNvSpPr/>
          <p:nvPr/>
        </p:nvSpPr>
        <p:spPr>
          <a:xfrm>
            <a:off x="1764792" y="202996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Idx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2" name="Google Shape;2512;p16"/>
          <p:cNvSpPr/>
          <p:nvPr/>
        </p:nvSpPr>
        <p:spPr>
          <a:xfrm>
            <a:off x="2602992" y="2011680"/>
            <a:ext cx="883920" cy="205740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3" name="Google Shape;2513;p16"/>
          <p:cNvSpPr/>
          <p:nvPr/>
        </p:nvSpPr>
        <p:spPr>
          <a:xfrm>
            <a:off x="2648712" y="202996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Height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4" name="Google Shape;2514;p16"/>
          <p:cNvSpPr/>
          <p:nvPr/>
        </p:nvSpPr>
        <p:spPr>
          <a:xfrm>
            <a:off x="3486912" y="2011680"/>
            <a:ext cx="883920" cy="205740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5" name="Google Shape;2515;p16"/>
          <p:cNvSpPr/>
          <p:nvPr/>
        </p:nvSpPr>
        <p:spPr>
          <a:xfrm>
            <a:off x="3532632" y="202996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Category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6" name="Google Shape;2516;p16"/>
          <p:cNvSpPr/>
          <p:nvPr/>
        </p:nvSpPr>
        <p:spPr>
          <a:xfrm>
            <a:off x="1719072" y="2217420"/>
            <a:ext cx="883920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7" name="Google Shape;2517;p16"/>
          <p:cNvSpPr/>
          <p:nvPr/>
        </p:nvSpPr>
        <p:spPr>
          <a:xfrm>
            <a:off x="1764792" y="223570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8" name="Google Shape;2518;p16"/>
          <p:cNvSpPr/>
          <p:nvPr/>
        </p:nvSpPr>
        <p:spPr>
          <a:xfrm>
            <a:off x="2602992" y="2217420"/>
            <a:ext cx="883920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9" name="Google Shape;2519;p16"/>
          <p:cNvSpPr/>
          <p:nvPr/>
        </p:nvSpPr>
        <p:spPr>
          <a:xfrm>
            <a:off x="2648712" y="223570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120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0" name="Google Shape;2520;p16"/>
          <p:cNvSpPr/>
          <p:nvPr/>
        </p:nvSpPr>
        <p:spPr>
          <a:xfrm>
            <a:off x="3486912" y="2217420"/>
            <a:ext cx="883920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1" name="Google Shape;2521;p16"/>
          <p:cNvSpPr/>
          <p:nvPr/>
        </p:nvSpPr>
        <p:spPr>
          <a:xfrm>
            <a:off x="3532632" y="223570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Short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2" name="Google Shape;2522;p16"/>
          <p:cNvSpPr/>
          <p:nvPr/>
        </p:nvSpPr>
        <p:spPr>
          <a:xfrm>
            <a:off x="1719072" y="2423160"/>
            <a:ext cx="883920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3" name="Google Shape;2523;p16"/>
          <p:cNvSpPr/>
          <p:nvPr/>
        </p:nvSpPr>
        <p:spPr>
          <a:xfrm>
            <a:off x="1764792" y="244144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4" name="Google Shape;2524;p16"/>
          <p:cNvSpPr/>
          <p:nvPr/>
        </p:nvSpPr>
        <p:spPr>
          <a:xfrm>
            <a:off x="2602992" y="2423160"/>
            <a:ext cx="883920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5" name="Google Shape;2525;p16"/>
          <p:cNvSpPr/>
          <p:nvPr/>
        </p:nvSpPr>
        <p:spPr>
          <a:xfrm>
            <a:off x="2648712" y="244144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122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6" name="Google Shape;2526;p16"/>
          <p:cNvSpPr/>
          <p:nvPr/>
        </p:nvSpPr>
        <p:spPr>
          <a:xfrm>
            <a:off x="3486912" y="2423160"/>
            <a:ext cx="883920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7" name="Google Shape;2527;p16"/>
          <p:cNvSpPr/>
          <p:nvPr/>
        </p:nvSpPr>
        <p:spPr>
          <a:xfrm>
            <a:off x="3532632" y="244144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Short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8" name="Google Shape;2528;p16"/>
          <p:cNvSpPr/>
          <p:nvPr/>
        </p:nvSpPr>
        <p:spPr>
          <a:xfrm>
            <a:off x="1719072" y="2628900"/>
            <a:ext cx="883920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9" name="Google Shape;2529;p16"/>
          <p:cNvSpPr/>
          <p:nvPr/>
        </p:nvSpPr>
        <p:spPr>
          <a:xfrm>
            <a:off x="1764792" y="264718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0" name="Google Shape;2530;p16"/>
          <p:cNvSpPr/>
          <p:nvPr/>
        </p:nvSpPr>
        <p:spPr>
          <a:xfrm>
            <a:off x="2602992" y="2628900"/>
            <a:ext cx="883920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1" name="Google Shape;2531;p16"/>
          <p:cNvSpPr/>
          <p:nvPr/>
        </p:nvSpPr>
        <p:spPr>
          <a:xfrm>
            <a:off x="2648712" y="264718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125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2" name="Google Shape;2532;p16"/>
          <p:cNvSpPr/>
          <p:nvPr/>
        </p:nvSpPr>
        <p:spPr>
          <a:xfrm>
            <a:off x="3486912" y="2628900"/>
            <a:ext cx="883920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3" name="Google Shape;2533;p16"/>
          <p:cNvSpPr/>
          <p:nvPr/>
        </p:nvSpPr>
        <p:spPr>
          <a:xfrm>
            <a:off x="3532632" y="264718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Short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4" name="Google Shape;2534;p16"/>
          <p:cNvSpPr/>
          <p:nvPr/>
        </p:nvSpPr>
        <p:spPr>
          <a:xfrm>
            <a:off x="1719072" y="2834640"/>
            <a:ext cx="883920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5" name="Google Shape;2535;p16"/>
          <p:cNvSpPr/>
          <p:nvPr/>
        </p:nvSpPr>
        <p:spPr>
          <a:xfrm>
            <a:off x="1764792" y="285292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6" name="Google Shape;2536;p16"/>
          <p:cNvSpPr/>
          <p:nvPr/>
        </p:nvSpPr>
        <p:spPr>
          <a:xfrm>
            <a:off x="2602992" y="2834640"/>
            <a:ext cx="883920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7" name="Google Shape;2537;p16"/>
          <p:cNvSpPr/>
          <p:nvPr/>
        </p:nvSpPr>
        <p:spPr>
          <a:xfrm>
            <a:off x="2648712" y="285292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127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8" name="Google Shape;2538;p16"/>
          <p:cNvSpPr/>
          <p:nvPr/>
        </p:nvSpPr>
        <p:spPr>
          <a:xfrm>
            <a:off x="3486912" y="2834640"/>
            <a:ext cx="883920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9" name="Google Shape;2539;p16"/>
          <p:cNvSpPr/>
          <p:nvPr/>
        </p:nvSpPr>
        <p:spPr>
          <a:xfrm>
            <a:off x="3532632" y="285292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Average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0" name="Google Shape;2540;p16"/>
          <p:cNvSpPr/>
          <p:nvPr/>
        </p:nvSpPr>
        <p:spPr>
          <a:xfrm>
            <a:off x="1719072" y="3040380"/>
            <a:ext cx="883920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1" name="Google Shape;2541;p16"/>
          <p:cNvSpPr/>
          <p:nvPr/>
        </p:nvSpPr>
        <p:spPr>
          <a:xfrm>
            <a:off x="1764792" y="305866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2" name="Google Shape;2542;p16"/>
          <p:cNvSpPr/>
          <p:nvPr/>
        </p:nvSpPr>
        <p:spPr>
          <a:xfrm>
            <a:off x="2602992" y="3040380"/>
            <a:ext cx="883920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3" name="Google Shape;2543;p16"/>
          <p:cNvSpPr/>
          <p:nvPr/>
        </p:nvSpPr>
        <p:spPr>
          <a:xfrm>
            <a:off x="2648712" y="305866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121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4" name="Google Shape;2544;p16"/>
          <p:cNvSpPr/>
          <p:nvPr/>
        </p:nvSpPr>
        <p:spPr>
          <a:xfrm>
            <a:off x="3486912" y="3040380"/>
            <a:ext cx="883920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5" name="Google Shape;2545;p16"/>
          <p:cNvSpPr/>
          <p:nvPr/>
        </p:nvSpPr>
        <p:spPr>
          <a:xfrm>
            <a:off x="3532632" y="305866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Short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6" name="Google Shape;2546;p16"/>
          <p:cNvSpPr/>
          <p:nvPr/>
        </p:nvSpPr>
        <p:spPr>
          <a:xfrm>
            <a:off x="1719072" y="3246120"/>
            <a:ext cx="883920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7" name="Google Shape;2547;p16"/>
          <p:cNvSpPr/>
          <p:nvPr/>
        </p:nvSpPr>
        <p:spPr>
          <a:xfrm>
            <a:off x="1764792" y="326440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8" name="Google Shape;2548;p16"/>
          <p:cNvSpPr/>
          <p:nvPr/>
        </p:nvSpPr>
        <p:spPr>
          <a:xfrm>
            <a:off x="2602992" y="3246120"/>
            <a:ext cx="883920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9" name="Google Shape;2549;p16"/>
          <p:cNvSpPr/>
          <p:nvPr/>
        </p:nvSpPr>
        <p:spPr>
          <a:xfrm>
            <a:off x="2648712" y="326440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123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0" name="Google Shape;2550;p16"/>
          <p:cNvSpPr/>
          <p:nvPr/>
        </p:nvSpPr>
        <p:spPr>
          <a:xfrm>
            <a:off x="3486912" y="3246120"/>
            <a:ext cx="883920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1" name="Google Shape;2551;p16"/>
          <p:cNvSpPr/>
          <p:nvPr/>
        </p:nvSpPr>
        <p:spPr>
          <a:xfrm>
            <a:off x="3532632" y="326440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Short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2" name="Google Shape;2552;p16"/>
          <p:cNvSpPr/>
          <p:nvPr/>
        </p:nvSpPr>
        <p:spPr>
          <a:xfrm>
            <a:off x="1719072" y="3451860"/>
            <a:ext cx="883920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3" name="Google Shape;2553;p16"/>
          <p:cNvSpPr/>
          <p:nvPr/>
        </p:nvSpPr>
        <p:spPr>
          <a:xfrm>
            <a:off x="1764792" y="347014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4" name="Google Shape;2554;p16"/>
          <p:cNvSpPr/>
          <p:nvPr/>
        </p:nvSpPr>
        <p:spPr>
          <a:xfrm>
            <a:off x="2602992" y="3451860"/>
            <a:ext cx="883920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5" name="Google Shape;2555;p16"/>
          <p:cNvSpPr/>
          <p:nvPr/>
        </p:nvSpPr>
        <p:spPr>
          <a:xfrm>
            <a:off x="2648712" y="347014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137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6" name="Google Shape;2556;p16"/>
          <p:cNvSpPr/>
          <p:nvPr/>
        </p:nvSpPr>
        <p:spPr>
          <a:xfrm>
            <a:off x="3486912" y="3451860"/>
            <a:ext cx="883920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7" name="Google Shape;2557;p16"/>
          <p:cNvSpPr/>
          <p:nvPr/>
        </p:nvSpPr>
        <p:spPr>
          <a:xfrm>
            <a:off x="3532632" y="347014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Good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8" name="Google Shape;2558;p16"/>
          <p:cNvSpPr/>
          <p:nvPr/>
        </p:nvSpPr>
        <p:spPr>
          <a:xfrm>
            <a:off x="1719072" y="3657600"/>
            <a:ext cx="883920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9" name="Google Shape;2559;p16"/>
          <p:cNvSpPr/>
          <p:nvPr/>
        </p:nvSpPr>
        <p:spPr>
          <a:xfrm>
            <a:off x="1764792" y="367588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0" name="Google Shape;2560;p16"/>
          <p:cNvSpPr/>
          <p:nvPr/>
        </p:nvSpPr>
        <p:spPr>
          <a:xfrm>
            <a:off x="2602992" y="3657600"/>
            <a:ext cx="883920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1" name="Google Shape;2561;p16"/>
          <p:cNvSpPr/>
          <p:nvPr/>
        </p:nvSpPr>
        <p:spPr>
          <a:xfrm>
            <a:off x="2648712" y="367588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131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2" name="Google Shape;2562;p16"/>
          <p:cNvSpPr/>
          <p:nvPr/>
        </p:nvSpPr>
        <p:spPr>
          <a:xfrm>
            <a:off x="3486912" y="3657600"/>
            <a:ext cx="883920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3" name="Google Shape;2563;p16"/>
          <p:cNvSpPr/>
          <p:nvPr/>
        </p:nvSpPr>
        <p:spPr>
          <a:xfrm>
            <a:off x="3532632" y="367588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Average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4" name="Google Shape;2564;p16"/>
          <p:cNvSpPr/>
          <p:nvPr/>
        </p:nvSpPr>
        <p:spPr>
          <a:xfrm>
            <a:off x="1719072" y="3863340"/>
            <a:ext cx="883920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5" name="Google Shape;2565;p16"/>
          <p:cNvSpPr/>
          <p:nvPr/>
        </p:nvSpPr>
        <p:spPr>
          <a:xfrm>
            <a:off x="1764792" y="388162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6" name="Google Shape;2566;p16"/>
          <p:cNvSpPr/>
          <p:nvPr/>
        </p:nvSpPr>
        <p:spPr>
          <a:xfrm>
            <a:off x="2602992" y="3863340"/>
            <a:ext cx="883920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7" name="Google Shape;2567;p16"/>
          <p:cNvSpPr/>
          <p:nvPr/>
        </p:nvSpPr>
        <p:spPr>
          <a:xfrm>
            <a:off x="2648712" y="388162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161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8" name="Google Shape;2568;p16"/>
          <p:cNvSpPr/>
          <p:nvPr/>
        </p:nvSpPr>
        <p:spPr>
          <a:xfrm>
            <a:off x="3486912" y="3863340"/>
            <a:ext cx="883920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9" name="Google Shape;2569;p16"/>
          <p:cNvSpPr/>
          <p:nvPr/>
        </p:nvSpPr>
        <p:spPr>
          <a:xfrm>
            <a:off x="3532632" y="388162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Taller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0" name="Google Shape;2570;p16"/>
          <p:cNvSpPr/>
          <p:nvPr/>
        </p:nvSpPr>
        <p:spPr>
          <a:xfrm>
            <a:off x="1719072" y="4069080"/>
            <a:ext cx="883920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1" name="Google Shape;2571;p16"/>
          <p:cNvSpPr/>
          <p:nvPr/>
        </p:nvSpPr>
        <p:spPr>
          <a:xfrm>
            <a:off x="1764792" y="408736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2" name="Google Shape;2572;p16"/>
          <p:cNvSpPr/>
          <p:nvPr/>
        </p:nvSpPr>
        <p:spPr>
          <a:xfrm>
            <a:off x="2602992" y="4069080"/>
            <a:ext cx="883920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3" name="Google Shape;2573;p16"/>
          <p:cNvSpPr/>
          <p:nvPr/>
        </p:nvSpPr>
        <p:spPr>
          <a:xfrm>
            <a:off x="2648712" y="408736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145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4" name="Google Shape;2574;p16"/>
          <p:cNvSpPr/>
          <p:nvPr/>
        </p:nvSpPr>
        <p:spPr>
          <a:xfrm>
            <a:off x="3486912" y="4069080"/>
            <a:ext cx="883920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5" name="Google Shape;2575;p16"/>
          <p:cNvSpPr/>
          <p:nvPr/>
        </p:nvSpPr>
        <p:spPr>
          <a:xfrm>
            <a:off x="3532632" y="408736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Good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6" name="Google Shape;2576;p16"/>
          <p:cNvSpPr/>
          <p:nvPr/>
        </p:nvSpPr>
        <p:spPr>
          <a:xfrm>
            <a:off x="1719072" y="4274820"/>
            <a:ext cx="883920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7" name="Google Shape;2577;p16"/>
          <p:cNvSpPr/>
          <p:nvPr/>
        </p:nvSpPr>
        <p:spPr>
          <a:xfrm>
            <a:off x="1764792" y="4293108"/>
            <a:ext cx="79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8" name="Google Shape;2578;p16"/>
          <p:cNvSpPr/>
          <p:nvPr/>
        </p:nvSpPr>
        <p:spPr>
          <a:xfrm>
            <a:off x="2602992" y="4274820"/>
            <a:ext cx="883920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9" name="Google Shape;2579;p16"/>
          <p:cNvSpPr/>
          <p:nvPr/>
        </p:nvSpPr>
        <p:spPr>
          <a:xfrm>
            <a:off x="2648712" y="429310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141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0" name="Google Shape;2580;p16"/>
          <p:cNvSpPr/>
          <p:nvPr/>
        </p:nvSpPr>
        <p:spPr>
          <a:xfrm>
            <a:off x="3486912" y="4274820"/>
            <a:ext cx="883920" cy="20574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1" name="Google Shape;2581;p16"/>
          <p:cNvSpPr/>
          <p:nvPr/>
        </p:nvSpPr>
        <p:spPr>
          <a:xfrm>
            <a:off x="3532632" y="429310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Good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2" name="Google Shape;2582;p16"/>
          <p:cNvSpPr/>
          <p:nvPr/>
        </p:nvSpPr>
        <p:spPr>
          <a:xfrm>
            <a:off x="1719072" y="4480560"/>
            <a:ext cx="883920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3" name="Google Shape;2583;p16"/>
          <p:cNvSpPr/>
          <p:nvPr/>
        </p:nvSpPr>
        <p:spPr>
          <a:xfrm>
            <a:off x="1764792" y="449884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4" name="Google Shape;2584;p16"/>
          <p:cNvSpPr/>
          <p:nvPr/>
        </p:nvSpPr>
        <p:spPr>
          <a:xfrm>
            <a:off x="2602992" y="4480560"/>
            <a:ext cx="883920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5" name="Google Shape;2585;p16"/>
          <p:cNvSpPr/>
          <p:nvPr/>
        </p:nvSpPr>
        <p:spPr>
          <a:xfrm>
            <a:off x="2648712" y="449884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132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6" name="Google Shape;2586;p16"/>
          <p:cNvSpPr/>
          <p:nvPr/>
        </p:nvSpPr>
        <p:spPr>
          <a:xfrm>
            <a:off x="3486912" y="4480560"/>
            <a:ext cx="883920" cy="205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7" name="Google Shape;2587;p16"/>
          <p:cNvSpPr/>
          <p:nvPr/>
        </p:nvSpPr>
        <p:spPr>
          <a:xfrm>
            <a:off x="3532632" y="4498848"/>
            <a:ext cx="79248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Average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8" name="Google Shape;2588;p16"/>
          <p:cNvSpPr/>
          <p:nvPr/>
        </p:nvSpPr>
        <p:spPr>
          <a:xfrm>
            <a:off x="4498848" y="1773936"/>
            <a:ext cx="54864" cy="237744"/>
          </a:xfrm>
          <a:prstGeom prst="rect">
            <a:avLst/>
          </a:prstGeom>
          <a:solidFill>
            <a:srgbClr val="D4850A"/>
          </a:solidFill>
          <a:ln cap="flat" cmpd="sng" w="12700">
            <a:solidFill>
              <a:srgbClr val="D485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9" name="Google Shape;2589;p16"/>
          <p:cNvSpPr/>
          <p:nvPr/>
        </p:nvSpPr>
        <p:spPr>
          <a:xfrm>
            <a:off x="4590288" y="1773936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50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4850A"/>
                </a:solidFill>
                <a:latin typeface="Calibri"/>
                <a:ea typeface="Calibri"/>
                <a:cs typeface="Calibri"/>
                <a:sym typeface="Calibri"/>
              </a:rPr>
              <a:t>Value counts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0" name="Google Shape;2590;p16"/>
          <p:cNvSpPr/>
          <p:nvPr/>
        </p:nvSpPr>
        <p:spPr>
          <a:xfrm>
            <a:off x="4498848" y="2011680"/>
            <a:ext cx="832104" cy="246888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1" name="Google Shape;2591;p16"/>
          <p:cNvSpPr/>
          <p:nvPr/>
        </p:nvSpPr>
        <p:spPr>
          <a:xfrm>
            <a:off x="4544568" y="2029968"/>
            <a:ext cx="7406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Category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2" name="Google Shape;2592;p16"/>
          <p:cNvSpPr/>
          <p:nvPr/>
        </p:nvSpPr>
        <p:spPr>
          <a:xfrm>
            <a:off x="5330952" y="2011680"/>
            <a:ext cx="832104" cy="246888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3" name="Google Shape;2593;p16"/>
          <p:cNvSpPr/>
          <p:nvPr/>
        </p:nvSpPr>
        <p:spPr>
          <a:xfrm>
            <a:off x="5376672" y="2029968"/>
            <a:ext cx="7406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4" name="Google Shape;2594;p16"/>
          <p:cNvSpPr/>
          <p:nvPr/>
        </p:nvSpPr>
        <p:spPr>
          <a:xfrm>
            <a:off x="4498848" y="2258568"/>
            <a:ext cx="832104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5" name="Google Shape;2595;p16"/>
          <p:cNvSpPr/>
          <p:nvPr/>
        </p:nvSpPr>
        <p:spPr>
          <a:xfrm>
            <a:off x="4544568" y="2276856"/>
            <a:ext cx="7406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Short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6" name="Google Shape;2596;p16"/>
          <p:cNvSpPr/>
          <p:nvPr/>
        </p:nvSpPr>
        <p:spPr>
          <a:xfrm>
            <a:off x="5330952" y="2258568"/>
            <a:ext cx="832104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7" name="Google Shape;2597;p16"/>
          <p:cNvSpPr/>
          <p:nvPr/>
        </p:nvSpPr>
        <p:spPr>
          <a:xfrm>
            <a:off x="5376672" y="2276856"/>
            <a:ext cx="7406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8" name="Google Shape;2598;p16"/>
          <p:cNvSpPr/>
          <p:nvPr/>
        </p:nvSpPr>
        <p:spPr>
          <a:xfrm>
            <a:off x="4498848" y="2505456"/>
            <a:ext cx="832104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9" name="Google Shape;2599;p16"/>
          <p:cNvSpPr/>
          <p:nvPr/>
        </p:nvSpPr>
        <p:spPr>
          <a:xfrm>
            <a:off x="4544568" y="2523744"/>
            <a:ext cx="7406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Average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0" name="Google Shape;2600;p16"/>
          <p:cNvSpPr/>
          <p:nvPr/>
        </p:nvSpPr>
        <p:spPr>
          <a:xfrm>
            <a:off x="5330952" y="2505456"/>
            <a:ext cx="832104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1" name="Google Shape;2601;p16"/>
          <p:cNvSpPr/>
          <p:nvPr/>
        </p:nvSpPr>
        <p:spPr>
          <a:xfrm>
            <a:off x="5376672" y="2523744"/>
            <a:ext cx="7406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2" name="Google Shape;2602;p16"/>
          <p:cNvSpPr/>
          <p:nvPr/>
        </p:nvSpPr>
        <p:spPr>
          <a:xfrm>
            <a:off x="4498848" y="2752344"/>
            <a:ext cx="832104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3" name="Google Shape;2603;p16"/>
          <p:cNvSpPr/>
          <p:nvPr/>
        </p:nvSpPr>
        <p:spPr>
          <a:xfrm>
            <a:off x="4544568" y="2770632"/>
            <a:ext cx="7406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Good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4" name="Google Shape;2604;p16"/>
          <p:cNvSpPr/>
          <p:nvPr/>
        </p:nvSpPr>
        <p:spPr>
          <a:xfrm>
            <a:off x="5330952" y="2752344"/>
            <a:ext cx="832104" cy="24688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5" name="Google Shape;2605;p16"/>
          <p:cNvSpPr/>
          <p:nvPr/>
        </p:nvSpPr>
        <p:spPr>
          <a:xfrm>
            <a:off x="5376672" y="2770632"/>
            <a:ext cx="7406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6" name="Google Shape;2606;p16"/>
          <p:cNvSpPr/>
          <p:nvPr/>
        </p:nvSpPr>
        <p:spPr>
          <a:xfrm>
            <a:off x="4498848" y="2999232"/>
            <a:ext cx="832104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7" name="Google Shape;2607;p16"/>
          <p:cNvSpPr/>
          <p:nvPr/>
        </p:nvSpPr>
        <p:spPr>
          <a:xfrm>
            <a:off x="4544568" y="3017520"/>
            <a:ext cx="7406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Taller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8" name="Google Shape;2608;p16"/>
          <p:cNvSpPr/>
          <p:nvPr/>
        </p:nvSpPr>
        <p:spPr>
          <a:xfrm>
            <a:off x="5330952" y="2999232"/>
            <a:ext cx="832104" cy="246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9" name="Google Shape;2609;p16"/>
          <p:cNvSpPr/>
          <p:nvPr/>
        </p:nvSpPr>
        <p:spPr>
          <a:xfrm>
            <a:off x="5376672" y="3017520"/>
            <a:ext cx="7406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0" name="Google Shape;2610;p16"/>
          <p:cNvSpPr/>
          <p:nvPr/>
        </p:nvSpPr>
        <p:spPr>
          <a:xfrm>
            <a:off x="6473925" y="841250"/>
            <a:ext cx="2670000" cy="3845100"/>
          </a:xfrm>
          <a:prstGeom prst="rect">
            <a:avLst/>
          </a:prstGeom>
          <a:solidFill>
            <a:srgbClr val="1A2B3C"/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1" name="Google Shape;2611;p16"/>
          <p:cNvSpPr/>
          <p:nvPr/>
        </p:nvSpPr>
        <p:spPr>
          <a:xfrm>
            <a:off x="6473934" y="836573"/>
            <a:ext cx="2670000" cy="1830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2" name="Google Shape;2612;p16"/>
          <p:cNvSpPr/>
          <p:nvPr/>
        </p:nvSpPr>
        <p:spPr>
          <a:xfrm>
            <a:off x="6547136" y="850386"/>
            <a:ext cx="1280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3" name="Google Shape;2613;p16"/>
          <p:cNvSpPr/>
          <p:nvPr/>
        </p:nvSpPr>
        <p:spPr>
          <a:xfrm>
            <a:off x="6583725" y="1060575"/>
            <a:ext cx="2487300" cy="3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height = [120,122,125,127,121,123,137,131,161,145,141,132]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bins   = [118, 125, 135, 160, 200]   # 4 intervals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Default: right-closed (a, b] — 125 goes to (118,125]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category = pd.cut(height, bins)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Add readable labels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bin_names = ['Short','Average','Good','Taller']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category  = pd.cut(height, bins, labels=bin_names)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pd.value_counts(category)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Left-closed [a,b) — use right=False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pd.cut(height, [118,126,136,161,200], right=False)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Auto equal-width bins (pass integer)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pd.cut(np.random.rand(40), 5, precision=2)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4" name="Google Shape;2614;p16"/>
          <p:cNvSpPr/>
          <p:nvPr/>
        </p:nvSpPr>
        <p:spPr>
          <a:xfrm>
            <a:off x="182875" y="4649775"/>
            <a:ext cx="6199500" cy="255900"/>
          </a:xfrm>
          <a:prstGeom prst="rect">
            <a:avLst/>
          </a:prstGeom>
          <a:solidFill>
            <a:srgbClr val="0D6E8A">
              <a:alpha val="10196"/>
            </a:srgbClr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5" name="Google Shape;2615;p16"/>
          <p:cNvSpPr/>
          <p:nvPr/>
        </p:nvSpPr>
        <p:spPr>
          <a:xfrm>
            <a:off x="127976" y="4626824"/>
            <a:ext cx="54900" cy="2559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6" name="Google Shape;2616;p16"/>
          <p:cNvSpPr/>
          <p:nvPr/>
        </p:nvSpPr>
        <p:spPr>
          <a:xfrm>
            <a:off x="283525" y="4626825"/>
            <a:ext cx="6080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📌 (118,125] means 118 is excluded, 125 is included (right-closed). Use right=False to flip to [118,125).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7" name="Google Shape;2617;p16"/>
          <p:cNvSpPr/>
          <p:nvPr/>
        </p:nvSpPr>
        <p:spPr>
          <a:xfrm>
            <a:off x="4425562" y="4210850"/>
            <a:ext cx="1993500" cy="329100"/>
          </a:xfrm>
          <a:prstGeom prst="rect">
            <a:avLst/>
          </a:prstGeom>
          <a:solidFill>
            <a:srgbClr val="1A7A34">
              <a:alpha val="10196"/>
            </a:srgbClr>
          </a:solidFill>
          <a:ln cap="flat" cmpd="sng" w="15225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8" name="Google Shape;2618;p16"/>
          <p:cNvSpPr/>
          <p:nvPr/>
        </p:nvSpPr>
        <p:spPr>
          <a:xfrm>
            <a:off x="4416311" y="4199368"/>
            <a:ext cx="54900" cy="329100"/>
          </a:xfrm>
          <a:prstGeom prst="rect">
            <a:avLst/>
          </a:prstGeom>
          <a:solidFill>
            <a:srgbClr val="1A7A34"/>
          </a:solidFill>
          <a:ln cap="flat" cmpd="sng" w="12700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9" name="Google Shape;2619;p16"/>
          <p:cNvSpPr/>
          <p:nvPr/>
        </p:nvSpPr>
        <p:spPr>
          <a:xfrm>
            <a:off x="4521100" y="4233825"/>
            <a:ext cx="190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🌐 Use case: grade bands (90-100=S), BMI categories, age groups, risk tiers.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2624" name="Shape 2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5" name="Google Shape;2625;p17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6" name="Google Shape;2626;p17"/>
          <p:cNvSpPr/>
          <p:nvPr/>
        </p:nvSpPr>
        <p:spPr>
          <a:xfrm>
            <a:off x="0" y="0"/>
            <a:ext cx="82296" cy="804672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7" name="Google Shape;2627;p17"/>
          <p:cNvSpPr/>
          <p:nvPr/>
        </p:nvSpPr>
        <p:spPr>
          <a:xfrm>
            <a:off x="182880" y="64008"/>
            <a:ext cx="8778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pd.qcut() vs pd.cut()  +  Outlier Detection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8" name="Google Shape;2628;p17"/>
          <p:cNvSpPr/>
          <p:nvPr/>
        </p:nvSpPr>
        <p:spPr>
          <a:xfrm>
            <a:off x="182880" y="493776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C8E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FC8E0"/>
                </a:solidFill>
                <a:latin typeface="Calibri"/>
                <a:ea typeface="Calibri"/>
                <a:cs typeface="Calibri"/>
                <a:sym typeface="Calibri"/>
              </a:rPr>
              <a:t>Equal-frequency binning and filtering extreme values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9" name="Google Shape;2629;p1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0" name="Google Shape;2630;p17"/>
          <p:cNvSpPr/>
          <p:nvPr/>
        </p:nvSpPr>
        <p:spPr>
          <a:xfrm>
            <a:off x="201168" y="4910328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F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FC8"/>
                </a:solidFill>
                <a:latin typeface="Calibri"/>
                <a:ea typeface="Calibri"/>
                <a:cs typeface="Calibri"/>
                <a:sym typeface="Calibri"/>
              </a:rPr>
              <a:t>EDA | Module 2 | 23CSE422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1" name="Google Shape;2631;p17"/>
          <p:cNvSpPr/>
          <p:nvPr/>
        </p:nvSpPr>
        <p:spPr>
          <a:xfrm>
            <a:off x="82200" y="841250"/>
            <a:ext cx="4518900" cy="3566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2" name="Google Shape;2632;p17"/>
          <p:cNvSpPr/>
          <p:nvPr/>
        </p:nvSpPr>
        <p:spPr>
          <a:xfrm>
            <a:off x="310896" y="896112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pd.qcut() — Quantile-based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3" name="Google Shape;2633;p17"/>
          <p:cNvSpPr/>
          <p:nvPr/>
        </p:nvSpPr>
        <p:spPr>
          <a:xfrm>
            <a:off x="310896" y="1152144"/>
            <a:ext cx="4069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Edges auto-computed → equal record count per bin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4" name="Google Shape;2634;p17"/>
          <p:cNvSpPr/>
          <p:nvPr/>
        </p:nvSpPr>
        <p:spPr>
          <a:xfrm>
            <a:off x="310896" y="1389888"/>
            <a:ext cx="1350264" cy="224028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5" name="Google Shape;2635;p17"/>
          <p:cNvSpPr/>
          <p:nvPr/>
        </p:nvSpPr>
        <p:spPr>
          <a:xfrm>
            <a:off x="356616" y="1408176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6" name="Google Shape;2636;p17"/>
          <p:cNvSpPr/>
          <p:nvPr/>
        </p:nvSpPr>
        <p:spPr>
          <a:xfrm>
            <a:off x="1661160" y="1389888"/>
            <a:ext cx="1350264" cy="224028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7" name="Google Shape;2637;p17"/>
          <p:cNvSpPr/>
          <p:nvPr/>
        </p:nvSpPr>
        <p:spPr>
          <a:xfrm>
            <a:off x="1706880" y="1408176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8" name="Google Shape;2638;p17"/>
          <p:cNvSpPr/>
          <p:nvPr/>
        </p:nvSpPr>
        <p:spPr>
          <a:xfrm>
            <a:off x="3011424" y="1389888"/>
            <a:ext cx="1350264" cy="224028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9" name="Google Shape;2639;p17"/>
          <p:cNvSpPr/>
          <p:nvPr/>
        </p:nvSpPr>
        <p:spPr>
          <a:xfrm>
            <a:off x="3057144" y="1408176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0" name="Google Shape;2640;p17"/>
          <p:cNvSpPr/>
          <p:nvPr/>
        </p:nvSpPr>
        <p:spPr>
          <a:xfrm>
            <a:off x="310896" y="1613916"/>
            <a:ext cx="1350264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1" name="Google Shape;2641;p17"/>
          <p:cNvSpPr/>
          <p:nvPr/>
        </p:nvSpPr>
        <p:spPr>
          <a:xfrm>
            <a:off x="356616" y="1632204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Q1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2" name="Google Shape;2642;p17"/>
          <p:cNvSpPr/>
          <p:nvPr/>
        </p:nvSpPr>
        <p:spPr>
          <a:xfrm>
            <a:off x="1661160" y="1613916"/>
            <a:ext cx="1350264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3" name="Google Shape;2643;p17"/>
          <p:cNvSpPr/>
          <p:nvPr/>
        </p:nvSpPr>
        <p:spPr>
          <a:xfrm>
            <a:off x="1706880" y="1632204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(−0.001, 0.261]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4" name="Google Shape;2644;p17"/>
          <p:cNvSpPr/>
          <p:nvPr/>
        </p:nvSpPr>
        <p:spPr>
          <a:xfrm>
            <a:off x="3011424" y="1613916"/>
            <a:ext cx="1350264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5" name="Google Shape;2645;p17"/>
          <p:cNvSpPr/>
          <p:nvPr/>
        </p:nvSpPr>
        <p:spPr>
          <a:xfrm>
            <a:off x="3057144" y="1632204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6" name="Google Shape;2646;p17"/>
          <p:cNvSpPr/>
          <p:nvPr/>
        </p:nvSpPr>
        <p:spPr>
          <a:xfrm>
            <a:off x="310896" y="1837944"/>
            <a:ext cx="1350264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7" name="Google Shape;2647;p17"/>
          <p:cNvSpPr/>
          <p:nvPr/>
        </p:nvSpPr>
        <p:spPr>
          <a:xfrm>
            <a:off x="356616" y="1856232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Q2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8" name="Google Shape;2648;p17"/>
          <p:cNvSpPr/>
          <p:nvPr/>
        </p:nvSpPr>
        <p:spPr>
          <a:xfrm>
            <a:off x="1661160" y="1837944"/>
            <a:ext cx="1350264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9" name="Google Shape;2649;p17"/>
          <p:cNvSpPr/>
          <p:nvPr/>
        </p:nvSpPr>
        <p:spPr>
          <a:xfrm>
            <a:off x="1706880" y="1856232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(0.261, 0.520]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0" name="Google Shape;2650;p17"/>
          <p:cNvSpPr/>
          <p:nvPr/>
        </p:nvSpPr>
        <p:spPr>
          <a:xfrm>
            <a:off x="3011424" y="1837944"/>
            <a:ext cx="1350264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1" name="Google Shape;2651;p17"/>
          <p:cNvSpPr/>
          <p:nvPr/>
        </p:nvSpPr>
        <p:spPr>
          <a:xfrm>
            <a:off x="3057144" y="1856232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2" name="Google Shape;2652;p17"/>
          <p:cNvSpPr/>
          <p:nvPr/>
        </p:nvSpPr>
        <p:spPr>
          <a:xfrm>
            <a:off x="310896" y="2061972"/>
            <a:ext cx="1350264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3" name="Google Shape;2653;p17"/>
          <p:cNvSpPr/>
          <p:nvPr/>
        </p:nvSpPr>
        <p:spPr>
          <a:xfrm>
            <a:off x="356616" y="2080260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Q3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4" name="Google Shape;2654;p17"/>
          <p:cNvSpPr/>
          <p:nvPr/>
        </p:nvSpPr>
        <p:spPr>
          <a:xfrm>
            <a:off x="1661160" y="2061972"/>
            <a:ext cx="1350264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5" name="Google Shape;2655;p17"/>
          <p:cNvSpPr/>
          <p:nvPr/>
        </p:nvSpPr>
        <p:spPr>
          <a:xfrm>
            <a:off x="1706880" y="2080260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(0.520, 0.770]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6" name="Google Shape;2656;p17"/>
          <p:cNvSpPr/>
          <p:nvPr/>
        </p:nvSpPr>
        <p:spPr>
          <a:xfrm>
            <a:off x="3011424" y="2061972"/>
            <a:ext cx="1350264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7" name="Google Shape;2657;p17"/>
          <p:cNvSpPr/>
          <p:nvPr/>
        </p:nvSpPr>
        <p:spPr>
          <a:xfrm>
            <a:off x="3057144" y="2080260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8" name="Google Shape;2658;p17"/>
          <p:cNvSpPr/>
          <p:nvPr/>
        </p:nvSpPr>
        <p:spPr>
          <a:xfrm>
            <a:off x="310896" y="2286000"/>
            <a:ext cx="1350264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9" name="Google Shape;2659;p17"/>
          <p:cNvSpPr/>
          <p:nvPr/>
        </p:nvSpPr>
        <p:spPr>
          <a:xfrm>
            <a:off x="356616" y="2304288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Q4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0" name="Google Shape;2660;p17"/>
          <p:cNvSpPr/>
          <p:nvPr/>
        </p:nvSpPr>
        <p:spPr>
          <a:xfrm>
            <a:off x="1661160" y="2286000"/>
            <a:ext cx="1350264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1" name="Google Shape;2661;p17"/>
          <p:cNvSpPr/>
          <p:nvPr/>
        </p:nvSpPr>
        <p:spPr>
          <a:xfrm>
            <a:off x="1706880" y="2304288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(0.770, 0.999]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2" name="Google Shape;2662;p17"/>
          <p:cNvSpPr/>
          <p:nvPr/>
        </p:nvSpPr>
        <p:spPr>
          <a:xfrm>
            <a:off x="3011424" y="2286000"/>
            <a:ext cx="1350264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3" name="Google Shape;2663;p17"/>
          <p:cNvSpPr/>
          <p:nvPr/>
        </p:nvSpPr>
        <p:spPr>
          <a:xfrm>
            <a:off x="3057144" y="2304288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4" name="Google Shape;2664;p17"/>
          <p:cNvSpPr/>
          <p:nvPr/>
        </p:nvSpPr>
        <p:spPr>
          <a:xfrm>
            <a:off x="82000" y="2473450"/>
            <a:ext cx="4518900" cy="887100"/>
          </a:xfrm>
          <a:prstGeom prst="rect">
            <a:avLst/>
          </a:prstGeom>
          <a:solidFill>
            <a:srgbClr val="1A2B3C"/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5" name="Google Shape;2665;p17"/>
          <p:cNvSpPr/>
          <p:nvPr/>
        </p:nvSpPr>
        <p:spPr>
          <a:xfrm>
            <a:off x="76825" y="2491700"/>
            <a:ext cx="4518900" cy="1830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6" name="Google Shape;2666;p17"/>
          <p:cNvSpPr/>
          <p:nvPr/>
        </p:nvSpPr>
        <p:spPr>
          <a:xfrm>
            <a:off x="90373" y="2507740"/>
            <a:ext cx="1280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7" name="Google Shape;2667;p17"/>
          <p:cNvSpPr/>
          <p:nvPr/>
        </p:nvSpPr>
        <p:spPr>
          <a:xfrm>
            <a:off x="90375" y="2679099"/>
            <a:ext cx="24456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rnd  = np.random.rand(2000)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4 equal-frequency bins (quartiles)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cat3 = pd.qcut(rnd, 4)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pd.value_counts(cat3)  # each ~500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8" name="Google Shape;2668;p17"/>
          <p:cNvSpPr/>
          <p:nvPr/>
        </p:nvSpPr>
        <p:spPr>
          <a:xfrm>
            <a:off x="310896" y="3346704"/>
            <a:ext cx="1350264" cy="224028"/>
          </a:xfrm>
          <a:prstGeom prst="rect">
            <a:avLst/>
          </a:prstGeom>
          <a:solidFill>
            <a:srgbClr val="4A556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9" name="Google Shape;2669;p17"/>
          <p:cNvSpPr/>
          <p:nvPr/>
        </p:nvSpPr>
        <p:spPr>
          <a:xfrm>
            <a:off x="356616" y="3364992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0" name="Google Shape;2670;p17"/>
          <p:cNvSpPr/>
          <p:nvPr/>
        </p:nvSpPr>
        <p:spPr>
          <a:xfrm>
            <a:off x="1661160" y="3346704"/>
            <a:ext cx="1350264" cy="224028"/>
          </a:xfrm>
          <a:prstGeom prst="rect">
            <a:avLst/>
          </a:prstGeom>
          <a:solidFill>
            <a:srgbClr val="4A556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1" name="Google Shape;2671;p17"/>
          <p:cNvSpPr/>
          <p:nvPr/>
        </p:nvSpPr>
        <p:spPr>
          <a:xfrm>
            <a:off x="1706880" y="3364992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cut()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2" name="Google Shape;2672;p17"/>
          <p:cNvSpPr/>
          <p:nvPr/>
        </p:nvSpPr>
        <p:spPr>
          <a:xfrm>
            <a:off x="3011424" y="3346704"/>
            <a:ext cx="1350264" cy="224028"/>
          </a:xfrm>
          <a:prstGeom prst="rect">
            <a:avLst/>
          </a:prstGeom>
          <a:solidFill>
            <a:srgbClr val="4A556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3" name="Google Shape;2673;p17"/>
          <p:cNvSpPr/>
          <p:nvPr/>
        </p:nvSpPr>
        <p:spPr>
          <a:xfrm>
            <a:off x="3057144" y="3364992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qcut()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4" name="Google Shape;2674;p17"/>
          <p:cNvSpPr/>
          <p:nvPr/>
        </p:nvSpPr>
        <p:spPr>
          <a:xfrm>
            <a:off x="310896" y="3570732"/>
            <a:ext cx="1350264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5" name="Google Shape;2675;p17"/>
          <p:cNvSpPr/>
          <p:nvPr/>
        </p:nvSpPr>
        <p:spPr>
          <a:xfrm>
            <a:off x="356616" y="3589020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Edges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6" name="Google Shape;2676;p17"/>
          <p:cNvSpPr/>
          <p:nvPr/>
        </p:nvSpPr>
        <p:spPr>
          <a:xfrm>
            <a:off x="1661160" y="3570732"/>
            <a:ext cx="1350264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7" name="Google Shape;2677;p17"/>
          <p:cNvSpPr/>
          <p:nvPr/>
        </p:nvSpPr>
        <p:spPr>
          <a:xfrm>
            <a:off x="1706880" y="3589020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User-defined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8" name="Google Shape;2678;p17"/>
          <p:cNvSpPr/>
          <p:nvPr/>
        </p:nvSpPr>
        <p:spPr>
          <a:xfrm>
            <a:off x="3011424" y="3570732"/>
            <a:ext cx="1350264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9" name="Google Shape;2679;p17"/>
          <p:cNvSpPr/>
          <p:nvPr/>
        </p:nvSpPr>
        <p:spPr>
          <a:xfrm>
            <a:off x="3057144" y="3589020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Auto (quantiles)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0" name="Google Shape;2680;p17"/>
          <p:cNvSpPr/>
          <p:nvPr/>
        </p:nvSpPr>
        <p:spPr>
          <a:xfrm>
            <a:off x="310896" y="3794760"/>
            <a:ext cx="1350264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1" name="Google Shape;2681;p17"/>
          <p:cNvSpPr/>
          <p:nvPr/>
        </p:nvSpPr>
        <p:spPr>
          <a:xfrm>
            <a:off x="356616" y="3813048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Bin width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2" name="Google Shape;2682;p17"/>
          <p:cNvSpPr/>
          <p:nvPr/>
        </p:nvSpPr>
        <p:spPr>
          <a:xfrm>
            <a:off x="1661160" y="3794760"/>
            <a:ext cx="1350264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3" name="Google Shape;2683;p17"/>
          <p:cNvSpPr/>
          <p:nvPr/>
        </p:nvSpPr>
        <p:spPr>
          <a:xfrm>
            <a:off x="1706880" y="3813048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Equal/User Defined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4" name="Google Shape;2684;p17"/>
          <p:cNvSpPr/>
          <p:nvPr/>
        </p:nvSpPr>
        <p:spPr>
          <a:xfrm>
            <a:off x="3011424" y="3794760"/>
            <a:ext cx="1350264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5" name="Google Shape;2685;p17"/>
          <p:cNvSpPr/>
          <p:nvPr/>
        </p:nvSpPr>
        <p:spPr>
          <a:xfrm>
            <a:off x="3057144" y="3813048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Varies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6" name="Google Shape;2686;p17"/>
          <p:cNvSpPr/>
          <p:nvPr/>
        </p:nvSpPr>
        <p:spPr>
          <a:xfrm>
            <a:off x="310896" y="4018788"/>
            <a:ext cx="1350264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7" name="Google Shape;2687;p17"/>
          <p:cNvSpPr/>
          <p:nvPr/>
        </p:nvSpPr>
        <p:spPr>
          <a:xfrm>
            <a:off x="356616" y="4037076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Records/bin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8" name="Google Shape;2688;p17"/>
          <p:cNvSpPr/>
          <p:nvPr/>
        </p:nvSpPr>
        <p:spPr>
          <a:xfrm>
            <a:off x="1661160" y="4018788"/>
            <a:ext cx="1350264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9" name="Google Shape;2689;p17"/>
          <p:cNvSpPr/>
          <p:nvPr/>
        </p:nvSpPr>
        <p:spPr>
          <a:xfrm>
            <a:off x="1706880" y="4037076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Varies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0" name="Google Shape;2690;p17"/>
          <p:cNvSpPr/>
          <p:nvPr/>
        </p:nvSpPr>
        <p:spPr>
          <a:xfrm>
            <a:off x="3011424" y="4018788"/>
            <a:ext cx="1350264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1" name="Google Shape;2691;p17"/>
          <p:cNvSpPr/>
          <p:nvPr/>
        </p:nvSpPr>
        <p:spPr>
          <a:xfrm>
            <a:off x="3057144" y="4037076"/>
            <a:ext cx="1258824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~Equal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2" name="Google Shape;2692;p17"/>
          <p:cNvSpPr/>
          <p:nvPr/>
        </p:nvSpPr>
        <p:spPr>
          <a:xfrm>
            <a:off x="4636008" y="841248"/>
            <a:ext cx="4306824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3" name="Google Shape;2693;p17"/>
          <p:cNvSpPr/>
          <p:nvPr/>
        </p:nvSpPr>
        <p:spPr>
          <a:xfrm>
            <a:off x="4745736" y="896112"/>
            <a:ext cx="4142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Outlier Detection — np.abs() threshold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4" name="Google Shape;2694;p17"/>
          <p:cNvSpPr/>
          <p:nvPr/>
        </p:nvSpPr>
        <p:spPr>
          <a:xfrm>
            <a:off x="4745736" y="1152144"/>
            <a:ext cx="41422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Flag rows where |TotalPrice| exceeds a threshold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5" name="Google Shape;2695;p17"/>
          <p:cNvSpPr/>
          <p:nvPr/>
        </p:nvSpPr>
        <p:spPr>
          <a:xfrm>
            <a:off x="4745736" y="1389888"/>
            <a:ext cx="1035558" cy="214884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6" name="Google Shape;2696;p17"/>
          <p:cNvSpPr/>
          <p:nvPr/>
        </p:nvSpPr>
        <p:spPr>
          <a:xfrm>
            <a:off x="4791456" y="1408176"/>
            <a:ext cx="94411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7" name="Google Shape;2697;p17"/>
          <p:cNvSpPr/>
          <p:nvPr/>
        </p:nvSpPr>
        <p:spPr>
          <a:xfrm>
            <a:off x="5781294" y="1389888"/>
            <a:ext cx="1035558" cy="214884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8" name="Google Shape;2698;p17"/>
          <p:cNvSpPr/>
          <p:nvPr/>
        </p:nvSpPr>
        <p:spPr>
          <a:xfrm>
            <a:off x="5827014" y="1408176"/>
            <a:ext cx="94411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UnitPrice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9" name="Google Shape;2699;p17"/>
          <p:cNvSpPr/>
          <p:nvPr/>
        </p:nvSpPr>
        <p:spPr>
          <a:xfrm>
            <a:off x="6816852" y="1389888"/>
            <a:ext cx="1035558" cy="214884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0" name="Google Shape;2700;p17"/>
          <p:cNvSpPr/>
          <p:nvPr/>
        </p:nvSpPr>
        <p:spPr>
          <a:xfrm>
            <a:off x="6862572" y="1408176"/>
            <a:ext cx="94411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1" name="Google Shape;2701;p17"/>
          <p:cNvSpPr/>
          <p:nvPr/>
        </p:nvSpPr>
        <p:spPr>
          <a:xfrm>
            <a:off x="7852410" y="1389888"/>
            <a:ext cx="1035558" cy="214884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2" name="Google Shape;2702;p17"/>
          <p:cNvSpPr/>
          <p:nvPr/>
        </p:nvSpPr>
        <p:spPr>
          <a:xfrm>
            <a:off x="7898130" y="1408176"/>
            <a:ext cx="94411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TotalPrice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3" name="Google Shape;2703;p17"/>
          <p:cNvSpPr/>
          <p:nvPr/>
        </p:nvSpPr>
        <p:spPr>
          <a:xfrm>
            <a:off x="4745736" y="1604772"/>
            <a:ext cx="1035558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4" name="Google Shape;2704;p17"/>
          <p:cNvSpPr/>
          <p:nvPr/>
        </p:nvSpPr>
        <p:spPr>
          <a:xfrm>
            <a:off x="4791456" y="1623060"/>
            <a:ext cx="94411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5" name="Google Shape;2705;p17"/>
          <p:cNvSpPr/>
          <p:nvPr/>
        </p:nvSpPr>
        <p:spPr>
          <a:xfrm>
            <a:off x="5781294" y="1604772"/>
            <a:ext cx="1035558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6" name="Google Shape;2706;p17"/>
          <p:cNvSpPr/>
          <p:nvPr/>
        </p:nvSpPr>
        <p:spPr>
          <a:xfrm>
            <a:off x="5827014" y="1623060"/>
            <a:ext cx="94411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12.50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7" name="Google Shape;2707;p17"/>
          <p:cNvSpPr/>
          <p:nvPr/>
        </p:nvSpPr>
        <p:spPr>
          <a:xfrm>
            <a:off x="6816852" y="1604772"/>
            <a:ext cx="1035558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8" name="Google Shape;2708;p17"/>
          <p:cNvSpPr/>
          <p:nvPr/>
        </p:nvSpPr>
        <p:spPr>
          <a:xfrm>
            <a:off x="6862572" y="1623060"/>
            <a:ext cx="94411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9" name="Google Shape;2709;p17"/>
          <p:cNvSpPr/>
          <p:nvPr/>
        </p:nvSpPr>
        <p:spPr>
          <a:xfrm>
            <a:off x="7852410" y="1604772"/>
            <a:ext cx="1035558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0" name="Google Shape;2710;p17"/>
          <p:cNvSpPr/>
          <p:nvPr/>
        </p:nvSpPr>
        <p:spPr>
          <a:xfrm>
            <a:off x="7898130" y="1623060"/>
            <a:ext cx="94411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1,250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1" name="Google Shape;2711;p17"/>
          <p:cNvSpPr/>
          <p:nvPr/>
        </p:nvSpPr>
        <p:spPr>
          <a:xfrm>
            <a:off x="4745736" y="1819656"/>
            <a:ext cx="1035558" cy="2148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2" name="Google Shape;2712;p17"/>
          <p:cNvSpPr/>
          <p:nvPr/>
        </p:nvSpPr>
        <p:spPr>
          <a:xfrm>
            <a:off x="4791456" y="1837944"/>
            <a:ext cx="94411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3" name="Google Shape;2713;p17"/>
          <p:cNvSpPr/>
          <p:nvPr/>
        </p:nvSpPr>
        <p:spPr>
          <a:xfrm>
            <a:off x="5781294" y="1819656"/>
            <a:ext cx="1035558" cy="2148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4" name="Google Shape;2714;p17"/>
          <p:cNvSpPr/>
          <p:nvPr/>
        </p:nvSpPr>
        <p:spPr>
          <a:xfrm>
            <a:off x="5827014" y="1837944"/>
            <a:ext cx="94411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45.00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5" name="Google Shape;2715;p17"/>
          <p:cNvSpPr/>
          <p:nvPr/>
        </p:nvSpPr>
        <p:spPr>
          <a:xfrm>
            <a:off x="6816852" y="1819656"/>
            <a:ext cx="1035558" cy="2148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6" name="Google Shape;2716;p17"/>
          <p:cNvSpPr/>
          <p:nvPr/>
        </p:nvSpPr>
        <p:spPr>
          <a:xfrm>
            <a:off x="6862572" y="1837944"/>
            <a:ext cx="94411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150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7" name="Google Shape;2717;p17"/>
          <p:cNvSpPr/>
          <p:nvPr/>
        </p:nvSpPr>
        <p:spPr>
          <a:xfrm>
            <a:off x="7852410" y="1819656"/>
            <a:ext cx="1035558" cy="2148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8" name="Google Shape;2718;p17"/>
          <p:cNvSpPr/>
          <p:nvPr/>
        </p:nvSpPr>
        <p:spPr>
          <a:xfrm>
            <a:off x="7898130" y="1837944"/>
            <a:ext cx="94411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6,750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9" name="Google Shape;2719;p17"/>
          <p:cNvSpPr/>
          <p:nvPr/>
        </p:nvSpPr>
        <p:spPr>
          <a:xfrm>
            <a:off x="4745736" y="2034540"/>
            <a:ext cx="1035558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0" name="Google Shape;2720;p17"/>
          <p:cNvSpPr/>
          <p:nvPr/>
        </p:nvSpPr>
        <p:spPr>
          <a:xfrm>
            <a:off x="4791456" y="2052828"/>
            <a:ext cx="94411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1" name="Google Shape;2721;p17"/>
          <p:cNvSpPr/>
          <p:nvPr/>
        </p:nvSpPr>
        <p:spPr>
          <a:xfrm>
            <a:off x="5781294" y="2034540"/>
            <a:ext cx="1035558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2" name="Google Shape;2722;p17"/>
          <p:cNvSpPr/>
          <p:nvPr/>
        </p:nvSpPr>
        <p:spPr>
          <a:xfrm>
            <a:off x="5827014" y="2052828"/>
            <a:ext cx="94411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8.00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3" name="Google Shape;2723;p17"/>
          <p:cNvSpPr/>
          <p:nvPr/>
        </p:nvSpPr>
        <p:spPr>
          <a:xfrm>
            <a:off x="6816852" y="2034540"/>
            <a:ext cx="1035558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4" name="Google Shape;2724;p17"/>
          <p:cNvSpPr/>
          <p:nvPr/>
        </p:nvSpPr>
        <p:spPr>
          <a:xfrm>
            <a:off x="6862572" y="2052828"/>
            <a:ext cx="94411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5" name="Google Shape;2725;p17"/>
          <p:cNvSpPr/>
          <p:nvPr/>
        </p:nvSpPr>
        <p:spPr>
          <a:xfrm>
            <a:off x="7852410" y="2034540"/>
            <a:ext cx="1035558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6" name="Google Shape;2726;p17"/>
          <p:cNvSpPr/>
          <p:nvPr/>
        </p:nvSpPr>
        <p:spPr>
          <a:xfrm>
            <a:off x="7898130" y="2052828"/>
            <a:ext cx="94411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7" name="Google Shape;2727;p17"/>
          <p:cNvSpPr/>
          <p:nvPr/>
        </p:nvSpPr>
        <p:spPr>
          <a:xfrm>
            <a:off x="4745736" y="2249424"/>
            <a:ext cx="1035558" cy="214884"/>
          </a:xfrm>
          <a:prstGeom prst="rect">
            <a:avLst/>
          </a:prstGeom>
          <a:solidFill>
            <a:srgbClr val="F8D7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8" name="Google Shape;2728;p17"/>
          <p:cNvSpPr/>
          <p:nvPr/>
        </p:nvSpPr>
        <p:spPr>
          <a:xfrm>
            <a:off x="4791456" y="2267712"/>
            <a:ext cx="94411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9" name="Google Shape;2729;p17"/>
          <p:cNvSpPr/>
          <p:nvPr/>
        </p:nvSpPr>
        <p:spPr>
          <a:xfrm>
            <a:off x="5781294" y="2249424"/>
            <a:ext cx="1035558" cy="214884"/>
          </a:xfrm>
          <a:prstGeom prst="rect">
            <a:avLst/>
          </a:prstGeom>
          <a:solidFill>
            <a:srgbClr val="F8D7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0" name="Google Shape;2730;p17"/>
          <p:cNvSpPr/>
          <p:nvPr/>
        </p:nvSpPr>
        <p:spPr>
          <a:xfrm>
            <a:off x="5827014" y="2267712"/>
            <a:ext cx="94411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1200.00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1" name="Google Shape;2731;p17"/>
          <p:cNvSpPr/>
          <p:nvPr/>
        </p:nvSpPr>
        <p:spPr>
          <a:xfrm>
            <a:off x="6816852" y="2249424"/>
            <a:ext cx="1035558" cy="214884"/>
          </a:xfrm>
          <a:prstGeom prst="rect">
            <a:avLst/>
          </a:prstGeom>
          <a:solidFill>
            <a:srgbClr val="F8D7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2" name="Google Shape;2732;p17"/>
          <p:cNvSpPr/>
          <p:nvPr/>
        </p:nvSpPr>
        <p:spPr>
          <a:xfrm>
            <a:off x="6862572" y="2267712"/>
            <a:ext cx="94411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6000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3" name="Google Shape;2733;p17"/>
          <p:cNvSpPr/>
          <p:nvPr/>
        </p:nvSpPr>
        <p:spPr>
          <a:xfrm>
            <a:off x="7852410" y="2249424"/>
            <a:ext cx="1035558" cy="214884"/>
          </a:xfrm>
          <a:prstGeom prst="rect">
            <a:avLst/>
          </a:prstGeom>
          <a:solidFill>
            <a:srgbClr val="F8D7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4" name="Google Shape;2734;p17"/>
          <p:cNvSpPr/>
          <p:nvPr/>
        </p:nvSpPr>
        <p:spPr>
          <a:xfrm>
            <a:off x="7898130" y="2267712"/>
            <a:ext cx="94411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7,200,000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5" name="Google Shape;2735;p17"/>
          <p:cNvSpPr/>
          <p:nvPr/>
        </p:nvSpPr>
        <p:spPr>
          <a:xfrm>
            <a:off x="4745736" y="2464308"/>
            <a:ext cx="1035558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6" name="Google Shape;2736;p17"/>
          <p:cNvSpPr/>
          <p:nvPr/>
        </p:nvSpPr>
        <p:spPr>
          <a:xfrm>
            <a:off x="4791456" y="2482596"/>
            <a:ext cx="94411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7" name="Google Shape;2737;p17"/>
          <p:cNvSpPr/>
          <p:nvPr/>
        </p:nvSpPr>
        <p:spPr>
          <a:xfrm>
            <a:off x="5781294" y="2464308"/>
            <a:ext cx="1035558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8" name="Google Shape;2738;p17"/>
          <p:cNvSpPr/>
          <p:nvPr/>
        </p:nvSpPr>
        <p:spPr>
          <a:xfrm>
            <a:off x="5827014" y="2482596"/>
            <a:ext cx="94411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3.50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9" name="Google Shape;2739;p17"/>
          <p:cNvSpPr/>
          <p:nvPr/>
        </p:nvSpPr>
        <p:spPr>
          <a:xfrm>
            <a:off x="6816852" y="2464308"/>
            <a:ext cx="1035558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0" name="Google Shape;2740;p17"/>
          <p:cNvSpPr/>
          <p:nvPr/>
        </p:nvSpPr>
        <p:spPr>
          <a:xfrm>
            <a:off x="6862572" y="2482596"/>
            <a:ext cx="94411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1" name="Google Shape;2741;p17"/>
          <p:cNvSpPr/>
          <p:nvPr/>
        </p:nvSpPr>
        <p:spPr>
          <a:xfrm>
            <a:off x="7852410" y="2464308"/>
            <a:ext cx="1035558" cy="214884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2" name="Google Shape;2742;p17"/>
          <p:cNvSpPr/>
          <p:nvPr/>
        </p:nvSpPr>
        <p:spPr>
          <a:xfrm>
            <a:off x="7898130" y="2482596"/>
            <a:ext cx="94411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3" name="Google Shape;2743;p17"/>
          <p:cNvSpPr/>
          <p:nvPr/>
        </p:nvSpPr>
        <p:spPr>
          <a:xfrm>
            <a:off x="4745725" y="2907652"/>
            <a:ext cx="4142100" cy="1426500"/>
          </a:xfrm>
          <a:prstGeom prst="rect">
            <a:avLst/>
          </a:prstGeom>
          <a:solidFill>
            <a:srgbClr val="1A2B3C"/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4" name="Google Shape;2744;p17"/>
          <p:cNvSpPr/>
          <p:nvPr/>
        </p:nvSpPr>
        <p:spPr>
          <a:xfrm>
            <a:off x="4745736" y="2770648"/>
            <a:ext cx="4142100" cy="1830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5" name="Google Shape;2745;p17"/>
          <p:cNvSpPr/>
          <p:nvPr/>
        </p:nvSpPr>
        <p:spPr>
          <a:xfrm>
            <a:off x="4791438" y="2784436"/>
            <a:ext cx="1280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6" name="Google Shape;2746;p17"/>
          <p:cNvSpPr/>
          <p:nvPr/>
        </p:nvSpPr>
        <p:spPr>
          <a:xfrm>
            <a:off x="4837175" y="3049096"/>
            <a:ext cx="3959400" cy="16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df['TotalPrice'] = df['UnitPrice']*df['Quantity']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total = df['TotalPrice']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Threshold method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outliers = total[np.abs(total) &gt; 3_000_000]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IQR method (statistically grounded)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Q1, Q3 = total.quantile(0.25), total.quantile(0.75)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IQR = Q3 - Q1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df[(total &lt; Q1-1.5*IQR)|(total &gt; Q3+1.5*IQR)]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7" name="Google Shape;2747;p17"/>
          <p:cNvSpPr/>
          <p:nvPr/>
        </p:nvSpPr>
        <p:spPr>
          <a:xfrm>
            <a:off x="201143" y="4562707"/>
            <a:ext cx="8741700" cy="329100"/>
          </a:xfrm>
          <a:prstGeom prst="rect">
            <a:avLst/>
          </a:prstGeom>
          <a:solidFill>
            <a:srgbClr val="0D6E8A">
              <a:alpha val="10196"/>
            </a:srgbClr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8" name="Google Shape;2748;p17"/>
          <p:cNvSpPr/>
          <p:nvPr/>
        </p:nvSpPr>
        <p:spPr>
          <a:xfrm>
            <a:off x="201168" y="4562707"/>
            <a:ext cx="54900" cy="3291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9" name="Google Shape;2749;p17"/>
          <p:cNvSpPr/>
          <p:nvPr/>
        </p:nvSpPr>
        <p:spPr>
          <a:xfrm>
            <a:off x="283496" y="4631433"/>
            <a:ext cx="8577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📌 qcut() = equal record counts per bin. cut() = equal-width ranges. IQR method is statistically grounded — same rule as box plots.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0" name="Google Shape;2750;p17"/>
          <p:cNvSpPr/>
          <p:nvPr/>
        </p:nvSpPr>
        <p:spPr>
          <a:xfrm>
            <a:off x="2393375" y="2539725"/>
            <a:ext cx="2242500" cy="10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Custom quantile edges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cat4 = pd.qcut(rnd, [0, 0.3, 0.5, 0.7, 1.0])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1" name="Google Shape;2751;p17"/>
          <p:cNvCxnSpPr/>
          <p:nvPr/>
        </p:nvCxnSpPr>
        <p:spPr>
          <a:xfrm>
            <a:off x="2326475" y="2683250"/>
            <a:ext cx="7500" cy="661500"/>
          </a:xfrm>
          <a:prstGeom prst="straightConnector1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2756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Google Shape;2757;p18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8" name="Google Shape;2758;p18"/>
          <p:cNvSpPr/>
          <p:nvPr/>
        </p:nvSpPr>
        <p:spPr>
          <a:xfrm>
            <a:off x="0" y="0"/>
            <a:ext cx="82296" cy="804672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9" name="Google Shape;2759;p18"/>
          <p:cNvSpPr/>
          <p:nvPr/>
        </p:nvSpPr>
        <p:spPr>
          <a:xfrm>
            <a:off x="182880" y="64008"/>
            <a:ext cx="8778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get_dummies() — One-Hot Encoding Categorical Variables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0" name="Google Shape;2760;p18"/>
          <p:cNvSpPr/>
          <p:nvPr/>
        </p:nvSpPr>
        <p:spPr>
          <a:xfrm>
            <a:off x="182880" y="493776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C8E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FC8E0"/>
                </a:solidFill>
                <a:latin typeface="Calibri"/>
                <a:ea typeface="Calibri"/>
                <a:cs typeface="Calibri"/>
                <a:sym typeface="Calibri"/>
              </a:rPr>
              <a:t>ML models need numbers, not text — convert each category to a binary 0/1 column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1" name="Google Shape;2761;p1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2" name="Google Shape;2762;p18"/>
          <p:cNvSpPr/>
          <p:nvPr/>
        </p:nvSpPr>
        <p:spPr>
          <a:xfrm>
            <a:off x="201168" y="4910328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F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FC8"/>
                </a:solidFill>
                <a:latin typeface="Calibri"/>
                <a:ea typeface="Calibri"/>
                <a:cs typeface="Calibri"/>
                <a:sym typeface="Calibri"/>
              </a:rPr>
              <a:t>EDA | Module 2 | 23CSE422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3" name="Google Shape;2763;p18"/>
          <p:cNvSpPr/>
          <p:nvPr/>
        </p:nvSpPr>
        <p:spPr>
          <a:xfrm>
            <a:off x="201168" y="841248"/>
            <a:ext cx="54864" cy="237744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4" name="Google Shape;2764;p18"/>
          <p:cNvSpPr/>
          <p:nvPr/>
        </p:nvSpPr>
        <p:spPr>
          <a:xfrm>
            <a:off x="292608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Original DataFrame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5" name="Google Shape;2765;p18"/>
          <p:cNvSpPr/>
          <p:nvPr/>
        </p:nvSpPr>
        <p:spPr>
          <a:xfrm>
            <a:off x="201168" y="1097280"/>
            <a:ext cx="566928" cy="224028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6" name="Google Shape;2766;p18"/>
          <p:cNvSpPr/>
          <p:nvPr/>
        </p:nvSpPr>
        <p:spPr>
          <a:xfrm>
            <a:off x="246888" y="1115568"/>
            <a:ext cx="475488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7" name="Google Shape;2767;p18"/>
          <p:cNvSpPr/>
          <p:nvPr/>
        </p:nvSpPr>
        <p:spPr>
          <a:xfrm>
            <a:off x="768096" y="1097280"/>
            <a:ext cx="566928" cy="224028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8" name="Google Shape;2768;p18"/>
          <p:cNvSpPr/>
          <p:nvPr/>
        </p:nvSpPr>
        <p:spPr>
          <a:xfrm>
            <a:off x="813816" y="1115568"/>
            <a:ext cx="475488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gender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9" name="Google Shape;2769;p18"/>
          <p:cNvSpPr/>
          <p:nvPr/>
        </p:nvSpPr>
        <p:spPr>
          <a:xfrm>
            <a:off x="1335024" y="1097280"/>
            <a:ext cx="566928" cy="224028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0" name="Google Shape;2770;p18"/>
          <p:cNvSpPr/>
          <p:nvPr/>
        </p:nvSpPr>
        <p:spPr>
          <a:xfrm>
            <a:off x="1380744" y="1115568"/>
            <a:ext cx="475488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1" name="Google Shape;2771;p18"/>
          <p:cNvSpPr/>
          <p:nvPr/>
        </p:nvSpPr>
        <p:spPr>
          <a:xfrm>
            <a:off x="201168" y="1321308"/>
            <a:ext cx="566928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2" name="Google Shape;2772;p18"/>
          <p:cNvSpPr/>
          <p:nvPr/>
        </p:nvSpPr>
        <p:spPr>
          <a:xfrm>
            <a:off x="246888" y="1339596"/>
            <a:ext cx="475488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3" name="Google Shape;2773;p18"/>
          <p:cNvSpPr/>
          <p:nvPr/>
        </p:nvSpPr>
        <p:spPr>
          <a:xfrm>
            <a:off x="768096" y="1321308"/>
            <a:ext cx="566928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4" name="Google Shape;2774;p18"/>
          <p:cNvSpPr/>
          <p:nvPr/>
        </p:nvSpPr>
        <p:spPr>
          <a:xfrm>
            <a:off x="813816" y="1339596"/>
            <a:ext cx="475488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female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5" name="Google Shape;2775;p18"/>
          <p:cNvSpPr/>
          <p:nvPr/>
        </p:nvSpPr>
        <p:spPr>
          <a:xfrm>
            <a:off x="1335024" y="1321308"/>
            <a:ext cx="566928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6" name="Google Shape;2776;p18"/>
          <p:cNvSpPr/>
          <p:nvPr/>
        </p:nvSpPr>
        <p:spPr>
          <a:xfrm>
            <a:off x="1380744" y="1339596"/>
            <a:ext cx="475488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7" name="Google Shape;2777;p18"/>
          <p:cNvSpPr/>
          <p:nvPr/>
        </p:nvSpPr>
        <p:spPr>
          <a:xfrm>
            <a:off x="201168" y="1545336"/>
            <a:ext cx="566928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8" name="Google Shape;2778;p18"/>
          <p:cNvSpPr/>
          <p:nvPr/>
        </p:nvSpPr>
        <p:spPr>
          <a:xfrm>
            <a:off x="246888" y="1563624"/>
            <a:ext cx="475488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9" name="Google Shape;2779;p18"/>
          <p:cNvSpPr/>
          <p:nvPr/>
        </p:nvSpPr>
        <p:spPr>
          <a:xfrm>
            <a:off x="768096" y="1545336"/>
            <a:ext cx="566928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0" name="Google Shape;2780;p18"/>
          <p:cNvSpPr/>
          <p:nvPr/>
        </p:nvSpPr>
        <p:spPr>
          <a:xfrm>
            <a:off x="813816" y="1563624"/>
            <a:ext cx="475488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female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1" name="Google Shape;2781;p18"/>
          <p:cNvSpPr/>
          <p:nvPr/>
        </p:nvSpPr>
        <p:spPr>
          <a:xfrm>
            <a:off x="1335024" y="1545336"/>
            <a:ext cx="566928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2" name="Google Shape;2782;p18"/>
          <p:cNvSpPr/>
          <p:nvPr/>
        </p:nvSpPr>
        <p:spPr>
          <a:xfrm>
            <a:off x="1380744" y="1563624"/>
            <a:ext cx="475488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3" name="Google Shape;2783;p18"/>
          <p:cNvSpPr/>
          <p:nvPr/>
        </p:nvSpPr>
        <p:spPr>
          <a:xfrm>
            <a:off x="201168" y="1769364"/>
            <a:ext cx="566928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4" name="Google Shape;2784;p18"/>
          <p:cNvSpPr/>
          <p:nvPr/>
        </p:nvSpPr>
        <p:spPr>
          <a:xfrm>
            <a:off x="246888" y="1787652"/>
            <a:ext cx="475488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5" name="Google Shape;2785;p18"/>
          <p:cNvSpPr/>
          <p:nvPr/>
        </p:nvSpPr>
        <p:spPr>
          <a:xfrm>
            <a:off x="768096" y="1769364"/>
            <a:ext cx="566928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6" name="Google Shape;2786;p18"/>
          <p:cNvSpPr/>
          <p:nvPr/>
        </p:nvSpPr>
        <p:spPr>
          <a:xfrm>
            <a:off x="813816" y="1787652"/>
            <a:ext cx="475488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male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7" name="Google Shape;2787;p18"/>
          <p:cNvSpPr/>
          <p:nvPr/>
        </p:nvSpPr>
        <p:spPr>
          <a:xfrm>
            <a:off x="1335024" y="1769364"/>
            <a:ext cx="566928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8" name="Google Shape;2788;p18"/>
          <p:cNvSpPr/>
          <p:nvPr/>
        </p:nvSpPr>
        <p:spPr>
          <a:xfrm>
            <a:off x="1380744" y="1787652"/>
            <a:ext cx="475488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9" name="Google Shape;2789;p18"/>
          <p:cNvSpPr/>
          <p:nvPr/>
        </p:nvSpPr>
        <p:spPr>
          <a:xfrm>
            <a:off x="201168" y="1993392"/>
            <a:ext cx="566928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0" name="Google Shape;2790;p18"/>
          <p:cNvSpPr/>
          <p:nvPr/>
        </p:nvSpPr>
        <p:spPr>
          <a:xfrm>
            <a:off x="246888" y="2011680"/>
            <a:ext cx="475488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1" name="Google Shape;2791;p18"/>
          <p:cNvSpPr/>
          <p:nvPr/>
        </p:nvSpPr>
        <p:spPr>
          <a:xfrm>
            <a:off x="768096" y="1993392"/>
            <a:ext cx="566928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2" name="Google Shape;2792;p18"/>
          <p:cNvSpPr/>
          <p:nvPr/>
        </p:nvSpPr>
        <p:spPr>
          <a:xfrm>
            <a:off x="813816" y="2011680"/>
            <a:ext cx="475488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unknown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3" name="Google Shape;2793;p18"/>
          <p:cNvSpPr/>
          <p:nvPr/>
        </p:nvSpPr>
        <p:spPr>
          <a:xfrm>
            <a:off x="1335024" y="1993392"/>
            <a:ext cx="566928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4" name="Google Shape;2794;p18"/>
          <p:cNvSpPr/>
          <p:nvPr/>
        </p:nvSpPr>
        <p:spPr>
          <a:xfrm>
            <a:off x="1380744" y="2011680"/>
            <a:ext cx="475488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5" name="Google Shape;2795;p18"/>
          <p:cNvSpPr/>
          <p:nvPr/>
        </p:nvSpPr>
        <p:spPr>
          <a:xfrm>
            <a:off x="201168" y="2217420"/>
            <a:ext cx="566928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6" name="Google Shape;2796;p18"/>
          <p:cNvSpPr/>
          <p:nvPr/>
        </p:nvSpPr>
        <p:spPr>
          <a:xfrm>
            <a:off x="246888" y="2235708"/>
            <a:ext cx="475488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7" name="Google Shape;2797;p18"/>
          <p:cNvSpPr/>
          <p:nvPr/>
        </p:nvSpPr>
        <p:spPr>
          <a:xfrm>
            <a:off x="768096" y="2217420"/>
            <a:ext cx="566928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8" name="Google Shape;2798;p18"/>
          <p:cNvSpPr/>
          <p:nvPr/>
        </p:nvSpPr>
        <p:spPr>
          <a:xfrm>
            <a:off x="813816" y="2235708"/>
            <a:ext cx="475488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male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9" name="Google Shape;2799;p18"/>
          <p:cNvSpPr/>
          <p:nvPr/>
        </p:nvSpPr>
        <p:spPr>
          <a:xfrm>
            <a:off x="1335024" y="2217420"/>
            <a:ext cx="566928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0" name="Google Shape;2800;p18"/>
          <p:cNvSpPr/>
          <p:nvPr/>
        </p:nvSpPr>
        <p:spPr>
          <a:xfrm>
            <a:off x="1380744" y="2235708"/>
            <a:ext cx="475488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1" name="Google Shape;2801;p18"/>
          <p:cNvSpPr/>
          <p:nvPr/>
        </p:nvSpPr>
        <p:spPr>
          <a:xfrm>
            <a:off x="201168" y="2441448"/>
            <a:ext cx="566928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2" name="Google Shape;2802;p18"/>
          <p:cNvSpPr/>
          <p:nvPr/>
        </p:nvSpPr>
        <p:spPr>
          <a:xfrm>
            <a:off x="246888" y="2459736"/>
            <a:ext cx="475488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3" name="Google Shape;2803;p18"/>
          <p:cNvSpPr/>
          <p:nvPr/>
        </p:nvSpPr>
        <p:spPr>
          <a:xfrm>
            <a:off x="768096" y="2441448"/>
            <a:ext cx="566928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4" name="Google Shape;2804;p18"/>
          <p:cNvSpPr/>
          <p:nvPr/>
        </p:nvSpPr>
        <p:spPr>
          <a:xfrm>
            <a:off x="813816" y="2459736"/>
            <a:ext cx="475488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female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5" name="Google Shape;2805;p18"/>
          <p:cNvSpPr/>
          <p:nvPr/>
        </p:nvSpPr>
        <p:spPr>
          <a:xfrm>
            <a:off x="1335024" y="2441448"/>
            <a:ext cx="566928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6" name="Google Shape;2806;p18"/>
          <p:cNvSpPr/>
          <p:nvPr/>
        </p:nvSpPr>
        <p:spPr>
          <a:xfrm>
            <a:off x="1380744" y="2459736"/>
            <a:ext cx="475488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7" name="Google Shape;2807;p18"/>
          <p:cNvSpPr/>
          <p:nvPr/>
        </p:nvSpPr>
        <p:spPr>
          <a:xfrm>
            <a:off x="2029968" y="175564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8" name="Google Shape;2808;p18"/>
          <p:cNvSpPr/>
          <p:nvPr/>
        </p:nvSpPr>
        <p:spPr>
          <a:xfrm>
            <a:off x="2011680" y="2011680"/>
            <a:ext cx="4389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9" name="Google Shape;2809;p18"/>
          <p:cNvSpPr/>
          <p:nvPr/>
        </p:nvSpPr>
        <p:spPr>
          <a:xfrm>
            <a:off x="2487168" y="841248"/>
            <a:ext cx="54864" cy="237744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0" name="Google Shape;2810;p18"/>
          <p:cNvSpPr/>
          <p:nvPr/>
        </p:nvSpPr>
        <p:spPr>
          <a:xfrm>
            <a:off x="2578608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9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9E8A"/>
                </a:solidFill>
                <a:latin typeface="Calibri"/>
                <a:ea typeface="Calibri"/>
                <a:cs typeface="Calibri"/>
                <a:sym typeface="Calibri"/>
              </a:rPr>
              <a:t>get_dummies(prefix='gender')  →  3 binary columns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1" name="Google Shape;2811;p18"/>
          <p:cNvSpPr/>
          <p:nvPr/>
        </p:nvSpPr>
        <p:spPr>
          <a:xfrm>
            <a:off x="2487168" y="1097280"/>
            <a:ext cx="621792" cy="224028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2" name="Google Shape;2812;p18"/>
          <p:cNvSpPr/>
          <p:nvPr/>
        </p:nvSpPr>
        <p:spPr>
          <a:xfrm>
            <a:off x="2532888" y="1115568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3" name="Google Shape;2813;p18"/>
          <p:cNvSpPr/>
          <p:nvPr/>
        </p:nvSpPr>
        <p:spPr>
          <a:xfrm>
            <a:off x="3108960" y="1097280"/>
            <a:ext cx="621792" cy="224028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4" name="Google Shape;2814;p18"/>
          <p:cNvSpPr/>
          <p:nvPr/>
        </p:nvSpPr>
        <p:spPr>
          <a:xfrm>
            <a:off x="3154680" y="1115568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g_female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5" name="Google Shape;2815;p18"/>
          <p:cNvSpPr/>
          <p:nvPr/>
        </p:nvSpPr>
        <p:spPr>
          <a:xfrm>
            <a:off x="3730752" y="1097280"/>
            <a:ext cx="621792" cy="224028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6" name="Google Shape;2816;p18"/>
          <p:cNvSpPr/>
          <p:nvPr/>
        </p:nvSpPr>
        <p:spPr>
          <a:xfrm>
            <a:off x="3776472" y="1115568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g_male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7" name="Google Shape;2817;p18"/>
          <p:cNvSpPr/>
          <p:nvPr/>
        </p:nvSpPr>
        <p:spPr>
          <a:xfrm>
            <a:off x="4352544" y="1097280"/>
            <a:ext cx="621792" cy="224028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8" name="Google Shape;2818;p18"/>
          <p:cNvSpPr/>
          <p:nvPr/>
        </p:nvSpPr>
        <p:spPr>
          <a:xfrm>
            <a:off x="4398264" y="1115568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g_unknown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9" name="Google Shape;2819;p18"/>
          <p:cNvSpPr/>
          <p:nvPr/>
        </p:nvSpPr>
        <p:spPr>
          <a:xfrm>
            <a:off x="2487168" y="1321308"/>
            <a:ext cx="621792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0" name="Google Shape;2820;p18"/>
          <p:cNvSpPr/>
          <p:nvPr/>
        </p:nvSpPr>
        <p:spPr>
          <a:xfrm>
            <a:off x="2532888" y="1339596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1" name="Google Shape;2821;p18"/>
          <p:cNvSpPr/>
          <p:nvPr/>
        </p:nvSpPr>
        <p:spPr>
          <a:xfrm>
            <a:off x="3108960" y="1321308"/>
            <a:ext cx="621792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2" name="Google Shape;2822;p18"/>
          <p:cNvSpPr/>
          <p:nvPr/>
        </p:nvSpPr>
        <p:spPr>
          <a:xfrm>
            <a:off x="3154680" y="1339596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3" name="Google Shape;2823;p18"/>
          <p:cNvSpPr/>
          <p:nvPr/>
        </p:nvSpPr>
        <p:spPr>
          <a:xfrm>
            <a:off x="3730752" y="1321308"/>
            <a:ext cx="621792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4" name="Google Shape;2824;p18"/>
          <p:cNvSpPr/>
          <p:nvPr/>
        </p:nvSpPr>
        <p:spPr>
          <a:xfrm>
            <a:off x="3776472" y="1339596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5" name="Google Shape;2825;p18"/>
          <p:cNvSpPr/>
          <p:nvPr/>
        </p:nvSpPr>
        <p:spPr>
          <a:xfrm>
            <a:off x="4352544" y="1321308"/>
            <a:ext cx="621792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6" name="Google Shape;2826;p18"/>
          <p:cNvSpPr/>
          <p:nvPr/>
        </p:nvSpPr>
        <p:spPr>
          <a:xfrm>
            <a:off x="4398264" y="1339596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7" name="Google Shape;2827;p18"/>
          <p:cNvSpPr/>
          <p:nvPr/>
        </p:nvSpPr>
        <p:spPr>
          <a:xfrm>
            <a:off x="2487168" y="1545336"/>
            <a:ext cx="621792" cy="224028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8" name="Google Shape;2828;p18"/>
          <p:cNvSpPr/>
          <p:nvPr/>
        </p:nvSpPr>
        <p:spPr>
          <a:xfrm>
            <a:off x="2532888" y="1563624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9" name="Google Shape;2829;p18"/>
          <p:cNvSpPr/>
          <p:nvPr/>
        </p:nvSpPr>
        <p:spPr>
          <a:xfrm>
            <a:off x="3108960" y="1545336"/>
            <a:ext cx="621792" cy="224028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0" name="Google Shape;2830;p18"/>
          <p:cNvSpPr/>
          <p:nvPr/>
        </p:nvSpPr>
        <p:spPr>
          <a:xfrm>
            <a:off x="3154680" y="1563624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1" name="Google Shape;2831;p18"/>
          <p:cNvSpPr/>
          <p:nvPr/>
        </p:nvSpPr>
        <p:spPr>
          <a:xfrm>
            <a:off x="3730752" y="1545336"/>
            <a:ext cx="621792" cy="224028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2" name="Google Shape;2832;p18"/>
          <p:cNvSpPr/>
          <p:nvPr/>
        </p:nvSpPr>
        <p:spPr>
          <a:xfrm>
            <a:off x="3776472" y="1563624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3" name="Google Shape;2833;p18"/>
          <p:cNvSpPr/>
          <p:nvPr/>
        </p:nvSpPr>
        <p:spPr>
          <a:xfrm>
            <a:off x="4352544" y="1545336"/>
            <a:ext cx="621792" cy="224028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4" name="Google Shape;2834;p18"/>
          <p:cNvSpPr/>
          <p:nvPr/>
        </p:nvSpPr>
        <p:spPr>
          <a:xfrm>
            <a:off x="4398264" y="1563624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5" name="Google Shape;2835;p18"/>
          <p:cNvSpPr/>
          <p:nvPr/>
        </p:nvSpPr>
        <p:spPr>
          <a:xfrm>
            <a:off x="2487168" y="1769364"/>
            <a:ext cx="621792" cy="224028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6" name="Google Shape;2836;p18"/>
          <p:cNvSpPr/>
          <p:nvPr/>
        </p:nvSpPr>
        <p:spPr>
          <a:xfrm>
            <a:off x="2532888" y="1787652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7" name="Google Shape;2837;p18"/>
          <p:cNvSpPr/>
          <p:nvPr/>
        </p:nvSpPr>
        <p:spPr>
          <a:xfrm>
            <a:off x="3108960" y="1769364"/>
            <a:ext cx="621792" cy="224028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8" name="Google Shape;2838;p18"/>
          <p:cNvSpPr/>
          <p:nvPr/>
        </p:nvSpPr>
        <p:spPr>
          <a:xfrm>
            <a:off x="3154680" y="1787652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9" name="Google Shape;2839;p18"/>
          <p:cNvSpPr/>
          <p:nvPr/>
        </p:nvSpPr>
        <p:spPr>
          <a:xfrm>
            <a:off x="3730752" y="1769364"/>
            <a:ext cx="621792" cy="224028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0" name="Google Shape;2840;p18"/>
          <p:cNvSpPr/>
          <p:nvPr/>
        </p:nvSpPr>
        <p:spPr>
          <a:xfrm>
            <a:off x="3776472" y="1787652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1" name="Google Shape;2841;p18"/>
          <p:cNvSpPr/>
          <p:nvPr/>
        </p:nvSpPr>
        <p:spPr>
          <a:xfrm>
            <a:off x="4352544" y="1769364"/>
            <a:ext cx="621792" cy="224028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2" name="Google Shape;2842;p18"/>
          <p:cNvSpPr/>
          <p:nvPr/>
        </p:nvSpPr>
        <p:spPr>
          <a:xfrm>
            <a:off x="4398264" y="1787652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3" name="Google Shape;2843;p18"/>
          <p:cNvSpPr/>
          <p:nvPr/>
        </p:nvSpPr>
        <p:spPr>
          <a:xfrm>
            <a:off x="2487168" y="1993392"/>
            <a:ext cx="621792" cy="224028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4" name="Google Shape;2844;p18"/>
          <p:cNvSpPr/>
          <p:nvPr/>
        </p:nvSpPr>
        <p:spPr>
          <a:xfrm>
            <a:off x="2532888" y="2011680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5" name="Google Shape;2845;p18"/>
          <p:cNvSpPr/>
          <p:nvPr/>
        </p:nvSpPr>
        <p:spPr>
          <a:xfrm>
            <a:off x="3108960" y="1993392"/>
            <a:ext cx="621792" cy="224028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6" name="Google Shape;2846;p18"/>
          <p:cNvSpPr/>
          <p:nvPr/>
        </p:nvSpPr>
        <p:spPr>
          <a:xfrm>
            <a:off x="3154680" y="2011680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7" name="Google Shape;2847;p18"/>
          <p:cNvSpPr/>
          <p:nvPr/>
        </p:nvSpPr>
        <p:spPr>
          <a:xfrm>
            <a:off x="3730752" y="1993392"/>
            <a:ext cx="621792" cy="224028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8" name="Google Shape;2848;p18"/>
          <p:cNvSpPr/>
          <p:nvPr/>
        </p:nvSpPr>
        <p:spPr>
          <a:xfrm>
            <a:off x="3776472" y="2011680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9" name="Google Shape;2849;p18"/>
          <p:cNvSpPr/>
          <p:nvPr/>
        </p:nvSpPr>
        <p:spPr>
          <a:xfrm>
            <a:off x="4352544" y="1993392"/>
            <a:ext cx="621792" cy="224028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0" name="Google Shape;2850;p18"/>
          <p:cNvSpPr/>
          <p:nvPr/>
        </p:nvSpPr>
        <p:spPr>
          <a:xfrm>
            <a:off x="4398264" y="2011680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1" name="Google Shape;2851;p18"/>
          <p:cNvSpPr/>
          <p:nvPr/>
        </p:nvSpPr>
        <p:spPr>
          <a:xfrm>
            <a:off x="2487168" y="2217420"/>
            <a:ext cx="621792" cy="224028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2" name="Google Shape;2852;p18"/>
          <p:cNvSpPr/>
          <p:nvPr/>
        </p:nvSpPr>
        <p:spPr>
          <a:xfrm>
            <a:off x="2532888" y="2235708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3" name="Google Shape;2853;p18"/>
          <p:cNvSpPr/>
          <p:nvPr/>
        </p:nvSpPr>
        <p:spPr>
          <a:xfrm>
            <a:off x="3108960" y="2217420"/>
            <a:ext cx="621792" cy="224028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4" name="Google Shape;2854;p18"/>
          <p:cNvSpPr/>
          <p:nvPr/>
        </p:nvSpPr>
        <p:spPr>
          <a:xfrm>
            <a:off x="3154680" y="2235708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5" name="Google Shape;2855;p18"/>
          <p:cNvSpPr/>
          <p:nvPr/>
        </p:nvSpPr>
        <p:spPr>
          <a:xfrm>
            <a:off x="3730752" y="2217420"/>
            <a:ext cx="621792" cy="224028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6" name="Google Shape;2856;p18"/>
          <p:cNvSpPr/>
          <p:nvPr/>
        </p:nvSpPr>
        <p:spPr>
          <a:xfrm>
            <a:off x="3776472" y="2235708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7" name="Google Shape;2857;p18"/>
          <p:cNvSpPr/>
          <p:nvPr/>
        </p:nvSpPr>
        <p:spPr>
          <a:xfrm>
            <a:off x="4352544" y="2217420"/>
            <a:ext cx="621792" cy="224028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8" name="Google Shape;2858;p18"/>
          <p:cNvSpPr/>
          <p:nvPr/>
        </p:nvSpPr>
        <p:spPr>
          <a:xfrm>
            <a:off x="4398264" y="2235708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9" name="Google Shape;2859;p18"/>
          <p:cNvSpPr/>
          <p:nvPr/>
        </p:nvSpPr>
        <p:spPr>
          <a:xfrm>
            <a:off x="2487168" y="2441448"/>
            <a:ext cx="621792" cy="224028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0" name="Google Shape;2860;p18"/>
          <p:cNvSpPr/>
          <p:nvPr/>
        </p:nvSpPr>
        <p:spPr>
          <a:xfrm>
            <a:off x="2532888" y="2459736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1" name="Google Shape;2861;p18"/>
          <p:cNvSpPr/>
          <p:nvPr/>
        </p:nvSpPr>
        <p:spPr>
          <a:xfrm>
            <a:off x="3108960" y="2441448"/>
            <a:ext cx="621792" cy="224028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2" name="Google Shape;2862;p18"/>
          <p:cNvSpPr/>
          <p:nvPr/>
        </p:nvSpPr>
        <p:spPr>
          <a:xfrm>
            <a:off x="3154680" y="2459736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3" name="Google Shape;2863;p18"/>
          <p:cNvSpPr/>
          <p:nvPr/>
        </p:nvSpPr>
        <p:spPr>
          <a:xfrm>
            <a:off x="3730752" y="2441448"/>
            <a:ext cx="621792" cy="224028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4" name="Google Shape;2864;p18"/>
          <p:cNvSpPr/>
          <p:nvPr/>
        </p:nvSpPr>
        <p:spPr>
          <a:xfrm>
            <a:off x="3776472" y="2459736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5" name="Google Shape;2865;p18"/>
          <p:cNvSpPr/>
          <p:nvPr/>
        </p:nvSpPr>
        <p:spPr>
          <a:xfrm>
            <a:off x="4352544" y="2441448"/>
            <a:ext cx="621792" cy="224028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6" name="Google Shape;2866;p18"/>
          <p:cNvSpPr/>
          <p:nvPr/>
        </p:nvSpPr>
        <p:spPr>
          <a:xfrm>
            <a:off x="4398264" y="2459736"/>
            <a:ext cx="530352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7" name="Google Shape;2867;p18"/>
          <p:cNvSpPr/>
          <p:nvPr/>
        </p:nvSpPr>
        <p:spPr>
          <a:xfrm>
            <a:off x="5102352" y="175564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8" name="Google Shape;2868;p18"/>
          <p:cNvSpPr/>
          <p:nvPr/>
        </p:nvSpPr>
        <p:spPr>
          <a:xfrm>
            <a:off x="5084064" y="2011680"/>
            <a:ext cx="4389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9" name="Google Shape;2869;p18"/>
          <p:cNvSpPr/>
          <p:nvPr/>
        </p:nvSpPr>
        <p:spPr>
          <a:xfrm>
            <a:off x="5559552" y="841248"/>
            <a:ext cx="54864" cy="237744"/>
          </a:xfrm>
          <a:prstGeom prst="rect">
            <a:avLst/>
          </a:prstGeom>
          <a:solidFill>
            <a:srgbClr val="D4850A"/>
          </a:solidFill>
          <a:ln cap="flat" cmpd="sng" w="12700">
            <a:solidFill>
              <a:srgbClr val="D485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0" name="Google Shape;2870;p18"/>
          <p:cNvSpPr/>
          <p:nvPr/>
        </p:nvSpPr>
        <p:spPr>
          <a:xfrm>
            <a:off x="5650992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50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4850A"/>
                </a:solidFill>
                <a:latin typeface="Calibri"/>
                <a:ea typeface="Calibri"/>
                <a:cs typeface="Calibri"/>
                <a:sym typeface="Calibri"/>
              </a:rPr>
              <a:t>drop_first=True  →  2 columns  (avoids dummy trap)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1" name="Google Shape;2871;p18"/>
          <p:cNvSpPr/>
          <p:nvPr/>
        </p:nvSpPr>
        <p:spPr>
          <a:xfrm>
            <a:off x="5559552" y="1097280"/>
            <a:ext cx="609600" cy="224028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2" name="Google Shape;2872;p18"/>
          <p:cNvSpPr/>
          <p:nvPr/>
        </p:nvSpPr>
        <p:spPr>
          <a:xfrm>
            <a:off x="5605272" y="1115568"/>
            <a:ext cx="51816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3" name="Google Shape;2873;p18"/>
          <p:cNvSpPr/>
          <p:nvPr/>
        </p:nvSpPr>
        <p:spPr>
          <a:xfrm>
            <a:off x="6169152" y="1097280"/>
            <a:ext cx="609600" cy="224028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4" name="Google Shape;2874;p18"/>
          <p:cNvSpPr/>
          <p:nvPr/>
        </p:nvSpPr>
        <p:spPr>
          <a:xfrm>
            <a:off x="6214872" y="1115568"/>
            <a:ext cx="51816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g_male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5" name="Google Shape;2875;p18"/>
          <p:cNvSpPr/>
          <p:nvPr/>
        </p:nvSpPr>
        <p:spPr>
          <a:xfrm>
            <a:off x="6778752" y="1097280"/>
            <a:ext cx="609600" cy="224028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6" name="Google Shape;2876;p18"/>
          <p:cNvSpPr/>
          <p:nvPr/>
        </p:nvSpPr>
        <p:spPr>
          <a:xfrm>
            <a:off x="6824472" y="1115568"/>
            <a:ext cx="51816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g_unknown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7" name="Google Shape;2877;p18"/>
          <p:cNvSpPr/>
          <p:nvPr/>
        </p:nvSpPr>
        <p:spPr>
          <a:xfrm>
            <a:off x="5559552" y="1321308"/>
            <a:ext cx="60960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8" name="Google Shape;2878;p18"/>
          <p:cNvSpPr/>
          <p:nvPr/>
        </p:nvSpPr>
        <p:spPr>
          <a:xfrm>
            <a:off x="5605272" y="1339596"/>
            <a:ext cx="51816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9" name="Google Shape;2879;p18"/>
          <p:cNvSpPr/>
          <p:nvPr/>
        </p:nvSpPr>
        <p:spPr>
          <a:xfrm>
            <a:off x="6169152" y="1321308"/>
            <a:ext cx="60960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0" name="Google Shape;2880;p18"/>
          <p:cNvSpPr/>
          <p:nvPr/>
        </p:nvSpPr>
        <p:spPr>
          <a:xfrm>
            <a:off x="6214872" y="1339596"/>
            <a:ext cx="51816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1" name="Google Shape;2881;p18"/>
          <p:cNvSpPr/>
          <p:nvPr/>
        </p:nvSpPr>
        <p:spPr>
          <a:xfrm>
            <a:off x="6778752" y="1321308"/>
            <a:ext cx="60960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2" name="Google Shape;2882;p18"/>
          <p:cNvSpPr/>
          <p:nvPr/>
        </p:nvSpPr>
        <p:spPr>
          <a:xfrm>
            <a:off x="6824472" y="1339596"/>
            <a:ext cx="51816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3" name="Google Shape;2883;p18"/>
          <p:cNvSpPr/>
          <p:nvPr/>
        </p:nvSpPr>
        <p:spPr>
          <a:xfrm>
            <a:off x="5559552" y="1545336"/>
            <a:ext cx="60960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4" name="Google Shape;2884;p18"/>
          <p:cNvSpPr/>
          <p:nvPr/>
        </p:nvSpPr>
        <p:spPr>
          <a:xfrm>
            <a:off x="5605272" y="1563624"/>
            <a:ext cx="51816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5" name="Google Shape;2885;p18"/>
          <p:cNvSpPr/>
          <p:nvPr/>
        </p:nvSpPr>
        <p:spPr>
          <a:xfrm>
            <a:off x="6169152" y="1545336"/>
            <a:ext cx="60960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6" name="Google Shape;2886;p18"/>
          <p:cNvSpPr/>
          <p:nvPr/>
        </p:nvSpPr>
        <p:spPr>
          <a:xfrm>
            <a:off x="6214872" y="1563624"/>
            <a:ext cx="51816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7" name="Google Shape;2887;p18"/>
          <p:cNvSpPr/>
          <p:nvPr/>
        </p:nvSpPr>
        <p:spPr>
          <a:xfrm>
            <a:off x="6778752" y="1545336"/>
            <a:ext cx="60960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8" name="Google Shape;2888;p18"/>
          <p:cNvSpPr/>
          <p:nvPr/>
        </p:nvSpPr>
        <p:spPr>
          <a:xfrm>
            <a:off x="6824472" y="1563624"/>
            <a:ext cx="51816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9" name="Google Shape;2889;p18"/>
          <p:cNvSpPr/>
          <p:nvPr/>
        </p:nvSpPr>
        <p:spPr>
          <a:xfrm>
            <a:off x="5559552" y="1769364"/>
            <a:ext cx="60960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0" name="Google Shape;2890;p18"/>
          <p:cNvSpPr/>
          <p:nvPr/>
        </p:nvSpPr>
        <p:spPr>
          <a:xfrm>
            <a:off x="5605272" y="1787652"/>
            <a:ext cx="51816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1" name="Google Shape;2891;p18"/>
          <p:cNvSpPr/>
          <p:nvPr/>
        </p:nvSpPr>
        <p:spPr>
          <a:xfrm>
            <a:off x="6169152" y="1769364"/>
            <a:ext cx="60960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2" name="Google Shape;2892;p18"/>
          <p:cNvSpPr/>
          <p:nvPr/>
        </p:nvSpPr>
        <p:spPr>
          <a:xfrm>
            <a:off x="6214872" y="1787652"/>
            <a:ext cx="51816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3" name="Google Shape;2893;p18"/>
          <p:cNvSpPr/>
          <p:nvPr/>
        </p:nvSpPr>
        <p:spPr>
          <a:xfrm>
            <a:off x="6778752" y="1769364"/>
            <a:ext cx="60960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4" name="Google Shape;2894;p18"/>
          <p:cNvSpPr/>
          <p:nvPr/>
        </p:nvSpPr>
        <p:spPr>
          <a:xfrm>
            <a:off x="6824472" y="1787652"/>
            <a:ext cx="51816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5" name="Google Shape;2895;p18"/>
          <p:cNvSpPr/>
          <p:nvPr/>
        </p:nvSpPr>
        <p:spPr>
          <a:xfrm>
            <a:off x="5559552" y="1993392"/>
            <a:ext cx="60960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6" name="Google Shape;2896;p18"/>
          <p:cNvSpPr/>
          <p:nvPr/>
        </p:nvSpPr>
        <p:spPr>
          <a:xfrm>
            <a:off x="5605272" y="2011680"/>
            <a:ext cx="51816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7" name="Google Shape;2897;p18"/>
          <p:cNvSpPr/>
          <p:nvPr/>
        </p:nvSpPr>
        <p:spPr>
          <a:xfrm>
            <a:off x="6169152" y="1993392"/>
            <a:ext cx="60960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8" name="Google Shape;2898;p18"/>
          <p:cNvSpPr/>
          <p:nvPr/>
        </p:nvSpPr>
        <p:spPr>
          <a:xfrm>
            <a:off x="6214872" y="2011680"/>
            <a:ext cx="51816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9" name="Google Shape;2899;p18"/>
          <p:cNvSpPr/>
          <p:nvPr/>
        </p:nvSpPr>
        <p:spPr>
          <a:xfrm>
            <a:off x="6778752" y="1993392"/>
            <a:ext cx="60960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0" name="Google Shape;2900;p18"/>
          <p:cNvSpPr/>
          <p:nvPr/>
        </p:nvSpPr>
        <p:spPr>
          <a:xfrm>
            <a:off x="6824472" y="2011680"/>
            <a:ext cx="51816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1" name="Google Shape;2901;p18"/>
          <p:cNvSpPr/>
          <p:nvPr/>
        </p:nvSpPr>
        <p:spPr>
          <a:xfrm>
            <a:off x="5559552" y="2217420"/>
            <a:ext cx="60960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2" name="Google Shape;2902;p18"/>
          <p:cNvSpPr/>
          <p:nvPr/>
        </p:nvSpPr>
        <p:spPr>
          <a:xfrm>
            <a:off x="5605272" y="2235708"/>
            <a:ext cx="51816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3" name="Google Shape;2903;p18"/>
          <p:cNvSpPr/>
          <p:nvPr/>
        </p:nvSpPr>
        <p:spPr>
          <a:xfrm>
            <a:off x="6169152" y="2217420"/>
            <a:ext cx="60960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4" name="Google Shape;2904;p18"/>
          <p:cNvSpPr/>
          <p:nvPr/>
        </p:nvSpPr>
        <p:spPr>
          <a:xfrm>
            <a:off x="6214872" y="2235708"/>
            <a:ext cx="51816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5" name="Google Shape;2905;p18"/>
          <p:cNvSpPr/>
          <p:nvPr/>
        </p:nvSpPr>
        <p:spPr>
          <a:xfrm>
            <a:off x="6778752" y="2217420"/>
            <a:ext cx="609600" cy="224028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6" name="Google Shape;2906;p18"/>
          <p:cNvSpPr/>
          <p:nvPr/>
        </p:nvSpPr>
        <p:spPr>
          <a:xfrm>
            <a:off x="6824472" y="2235708"/>
            <a:ext cx="51816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7" name="Google Shape;2907;p18"/>
          <p:cNvSpPr/>
          <p:nvPr/>
        </p:nvSpPr>
        <p:spPr>
          <a:xfrm>
            <a:off x="5559552" y="2441448"/>
            <a:ext cx="60960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8" name="Google Shape;2908;p18"/>
          <p:cNvSpPr/>
          <p:nvPr/>
        </p:nvSpPr>
        <p:spPr>
          <a:xfrm>
            <a:off x="5605272" y="2459736"/>
            <a:ext cx="51816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9" name="Google Shape;2909;p18"/>
          <p:cNvSpPr/>
          <p:nvPr/>
        </p:nvSpPr>
        <p:spPr>
          <a:xfrm>
            <a:off x="6169152" y="2441448"/>
            <a:ext cx="60960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0" name="Google Shape;2910;p18"/>
          <p:cNvSpPr/>
          <p:nvPr/>
        </p:nvSpPr>
        <p:spPr>
          <a:xfrm>
            <a:off x="6214872" y="2459736"/>
            <a:ext cx="51816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1" name="Google Shape;2911;p18"/>
          <p:cNvSpPr/>
          <p:nvPr/>
        </p:nvSpPr>
        <p:spPr>
          <a:xfrm>
            <a:off x="6778752" y="2441448"/>
            <a:ext cx="60960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2" name="Google Shape;2912;p18"/>
          <p:cNvSpPr/>
          <p:nvPr/>
        </p:nvSpPr>
        <p:spPr>
          <a:xfrm>
            <a:off x="6824472" y="2459736"/>
            <a:ext cx="518160" cy="187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3" name="Google Shape;2913;p18"/>
          <p:cNvSpPr/>
          <p:nvPr/>
        </p:nvSpPr>
        <p:spPr>
          <a:xfrm>
            <a:off x="7479792" y="1225296"/>
            <a:ext cx="1463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g_female dropped: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if g_male=0 AND g_unknown=0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→ must be female (redundant)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4" name="Google Shape;2914;p18"/>
          <p:cNvSpPr/>
          <p:nvPr/>
        </p:nvSpPr>
        <p:spPr>
          <a:xfrm>
            <a:off x="173725" y="2889500"/>
            <a:ext cx="8741700" cy="1522500"/>
          </a:xfrm>
          <a:prstGeom prst="rect">
            <a:avLst/>
          </a:prstGeom>
          <a:solidFill>
            <a:srgbClr val="1A2B3C"/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5" name="Google Shape;2915;p18"/>
          <p:cNvSpPr/>
          <p:nvPr/>
        </p:nvSpPr>
        <p:spPr>
          <a:xfrm>
            <a:off x="173718" y="2706616"/>
            <a:ext cx="8741700" cy="1830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6" name="Google Shape;2916;p18"/>
          <p:cNvSpPr/>
          <p:nvPr/>
        </p:nvSpPr>
        <p:spPr>
          <a:xfrm>
            <a:off x="173720" y="2720404"/>
            <a:ext cx="1280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7" name="Google Shape;2917;p18"/>
          <p:cNvSpPr/>
          <p:nvPr/>
        </p:nvSpPr>
        <p:spPr>
          <a:xfrm>
            <a:off x="246900" y="2889500"/>
            <a:ext cx="4105800" cy="14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 = pd.DataFrame({'gender':['female','female','male','unknown','male','female'],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               'votes': range(6,12)})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Basic encoding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dummies = pd.get_dummies(df['gender'])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With prefix — essential when encoding multiple columns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dummies = pd.get_dummies(df['gender'], prefix='gender')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8" name="Google Shape;2918;p18"/>
          <p:cNvSpPr/>
          <p:nvPr/>
        </p:nvSpPr>
        <p:spPr>
          <a:xfrm>
            <a:off x="173725" y="4476000"/>
            <a:ext cx="5780100" cy="329100"/>
          </a:xfrm>
          <a:prstGeom prst="rect">
            <a:avLst/>
          </a:prstGeom>
          <a:solidFill>
            <a:srgbClr val="C0392B">
              <a:alpha val="10196"/>
            </a:srgbClr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9" name="Google Shape;2919;p18"/>
          <p:cNvSpPr/>
          <p:nvPr/>
        </p:nvSpPr>
        <p:spPr>
          <a:xfrm>
            <a:off x="127968" y="4475990"/>
            <a:ext cx="54900" cy="3291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0" name="Google Shape;2920;p18"/>
          <p:cNvSpPr/>
          <p:nvPr/>
        </p:nvSpPr>
        <p:spPr>
          <a:xfrm>
            <a:off x="201175" y="4498825"/>
            <a:ext cx="5752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⚠️ THE DUMMY TRAP: k categories need only k−1 dummy columns. The k-th is always predictable from the rest → causes multicollinearity in regression models.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1" name="Google Shape;2921;p18"/>
          <p:cNvSpPr/>
          <p:nvPr/>
        </p:nvSpPr>
        <p:spPr>
          <a:xfrm>
            <a:off x="6224050" y="4434950"/>
            <a:ext cx="2664000" cy="425100"/>
          </a:xfrm>
          <a:prstGeom prst="rect">
            <a:avLst/>
          </a:prstGeom>
          <a:solidFill>
            <a:srgbClr val="1A7A34">
              <a:alpha val="10196"/>
            </a:srgbClr>
          </a:solidFill>
          <a:ln cap="flat" cmpd="sng" w="15225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2" name="Google Shape;2922;p18"/>
          <p:cNvSpPr/>
          <p:nvPr/>
        </p:nvSpPr>
        <p:spPr>
          <a:xfrm>
            <a:off x="6141851" y="4434951"/>
            <a:ext cx="82200" cy="402300"/>
          </a:xfrm>
          <a:prstGeom prst="rect">
            <a:avLst/>
          </a:prstGeom>
          <a:solidFill>
            <a:srgbClr val="1A7A34"/>
          </a:solidFill>
          <a:ln cap="flat" cmpd="sng" w="12700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3" name="Google Shape;2923;p18"/>
          <p:cNvSpPr/>
          <p:nvPr/>
        </p:nvSpPr>
        <p:spPr>
          <a:xfrm>
            <a:off x="6306250" y="4471550"/>
            <a:ext cx="2472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🌐 Use case: one-hot encoding for logistic regression, SVM, neural networks — same as sklearn's OneHotEncoder.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4" name="Google Shape;2924;p18"/>
          <p:cNvSpPr/>
          <p:nvPr/>
        </p:nvSpPr>
        <p:spPr>
          <a:xfrm>
            <a:off x="4600900" y="2830075"/>
            <a:ext cx="4242000" cy="14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With prefix — essential when encoding multiple columns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dummies = pd.get_dummies(df['gender'], prefix='gender')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Avoid the dummy trap — drop one column per categorical feature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dummies = pd.get_dummies(df['gender'], prefix='gender', drop_first=True)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Attach back to original DataFrame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df_enc = pd.concat([df.drop('gender', axis=1), dummies], axis=1)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5" name="Google Shape;2925;p18"/>
          <p:cNvCxnSpPr/>
          <p:nvPr/>
        </p:nvCxnSpPr>
        <p:spPr>
          <a:xfrm>
            <a:off x="4352700" y="2909438"/>
            <a:ext cx="3000" cy="1514700"/>
          </a:xfrm>
          <a:prstGeom prst="straightConnector1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2930" name="Shape 2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1" name="Google Shape;2931;p19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2" name="Google Shape;2932;p19"/>
          <p:cNvSpPr/>
          <p:nvPr/>
        </p:nvSpPr>
        <p:spPr>
          <a:xfrm>
            <a:off x="0" y="0"/>
            <a:ext cx="82296" cy="804672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3" name="Google Shape;2933;p19"/>
          <p:cNvSpPr/>
          <p:nvPr/>
        </p:nvSpPr>
        <p:spPr>
          <a:xfrm>
            <a:off x="182880" y="64008"/>
            <a:ext cx="8778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Renaming Indexes — map() and rename()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4" name="Google Shape;2934;p19"/>
          <p:cNvSpPr/>
          <p:nvPr/>
        </p:nvSpPr>
        <p:spPr>
          <a:xfrm>
            <a:off x="182880" y="493776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C8E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FC8E0"/>
                </a:solidFill>
                <a:latin typeface="Calibri"/>
                <a:ea typeface="Calibri"/>
                <a:cs typeface="Calibri"/>
                <a:sym typeface="Calibri"/>
              </a:rPr>
              <a:t>Transforming row and column labels programmatically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5" name="Google Shape;2935;p1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6" name="Google Shape;2936;p19"/>
          <p:cNvSpPr/>
          <p:nvPr/>
        </p:nvSpPr>
        <p:spPr>
          <a:xfrm>
            <a:off x="201168" y="4910328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F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FC8"/>
                </a:solidFill>
                <a:latin typeface="Calibri"/>
                <a:ea typeface="Calibri"/>
                <a:cs typeface="Calibri"/>
                <a:sym typeface="Calibri"/>
              </a:rPr>
              <a:t>EDA | Module 2 | 23CSE422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7" name="Google Shape;2937;p19"/>
          <p:cNvSpPr/>
          <p:nvPr/>
        </p:nvSpPr>
        <p:spPr>
          <a:xfrm>
            <a:off x="201168" y="841248"/>
            <a:ext cx="54864" cy="237744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8" name="Google Shape;2938;p19"/>
          <p:cNvSpPr/>
          <p:nvPr/>
        </p:nvSpPr>
        <p:spPr>
          <a:xfrm>
            <a:off x="292608" y="8412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dframe1  (original)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9" name="Google Shape;2939;p19"/>
          <p:cNvSpPr/>
          <p:nvPr/>
        </p:nvSpPr>
        <p:spPr>
          <a:xfrm>
            <a:off x="201168" y="1097280"/>
            <a:ext cx="819912" cy="251460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0" name="Google Shape;2940;p19"/>
          <p:cNvSpPr/>
          <p:nvPr/>
        </p:nvSpPr>
        <p:spPr>
          <a:xfrm>
            <a:off x="246888" y="1115568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1" name="Google Shape;2941;p19"/>
          <p:cNvSpPr/>
          <p:nvPr/>
        </p:nvSpPr>
        <p:spPr>
          <a:xfrm>
            <a:off x="1021080" y="1097280"/>
            <a:ext cx="819912" cy="251460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2" name="Google Shape;2942;p19"/>
          <p:cNvSpPr/>
          <p:nvPr/>
        </p:nvSpPr>
        <p:spPr>
          <a:xfrm>
            <a:off x="1066800" y="1115568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Bergen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3" name="Google Shape;2943;p19"/>
          <p:cNvSpPr/>
          <p:nvPr/>
        </p:nvSpPr>
        <p:spPr>
          <a:xfrm>
            <a:off x="1840992" y="1097280"/>
            <a:ext cx="819912" cy="251460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4" name="Google Shape;2944;p19"/>
          <p:cNvSpPr/>
          <p:nvPr/>
        </p:nvSpPr>
        <p:spPr>
          <a:xfrm>
            <a:off x="1886712" y="1115568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5" name="Google Shape;2945;p19"/>
          <p:cNvSpPr/>
          <p:nvPr/>
        </p:nvSpPr>
        <p:spPr>
          <a:xfrm>
            <a:off x="2660904" y="1097280"/>
            <a:ext cx="819912" cy="251460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6" name="Google Shape;2946;p19"/>
          <p:cNvSpPr/>
          <p:nvPr/>
        </p:nvSpPr>
        <p:spPr>
          <a:xfrm>
            <a:off x="2706624" y="1115568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Trondheim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7" name="Google Shape;2947;p19"/>
          <p:cNvSpPr/>
          <p:nvPr/>
        </p:nvSpPr>
        <p:spPr>
          <a:xfrm>
            <a:off x="3480816" y="1097280"/>
            <a:ext cx="819912" cy="251460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8" name="Google Shape;2948;p19"/>
          <p:cNvSpPr/>
          <p:nvPr/>
        </p:nvSpPr>
        <p:spPr>
          <a:xfrm>
            <a:off x="3526536" y="1115568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Stavanger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9" name="Google Shape;2949;p19"/>
          <p:cNvSpPr/>
          <p:nvPr/>
        </p:nvSpPr>
        <p:spPr>
          <a:xfrm>
            <a:off x="4300728" y="1097280"/>
            <a:ext cx="819912" cy="251460"/>
          </a:xfrm>
          <a:prstGeom prst="rect">
            <a:avLst/>
          </a:prstGeom>
          <a:solidFill>
            <a:srgbClr val="0D6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0" name="Google Shape;2950;p19"/>
          <p:cNvSpPr/>
          <p:nvPr/>
        </p:nvSpPr>
        <p:spPr>
          <a:xfrm>
            <a:off x="4346448" y="1115568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Kristiansand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1" name="Google Shape;2951;p19"/>
          <p:cNvSpPr/>
          <p:nvPr/>
        </p:nvSpPr>
        <p:spPr>
          <a:xfrm>
            <a:off x="201168" y="1348740"/>
            <a:ext cx="819912" cy="25146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2" name="Google Shape;2952;p19"/>
          <p:cNvSpPr/>
          <p:nvPr/>
        </p:nvSpPr>
        <p:spPr>
          <a:xfrm>
            <a:off x="246888" y="1367028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Rainfall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3" name="Google Shape;2953;p19"/>
          <p:cNvSpPr/>
          <p:nvPr/>
        </p:nvSpPr>
        <p:spPr>
          <a:xfrm>
            <a:off x="1021080" y="1348740"/>
            <a:ext cx="819912" cy="25146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4" name="Google Shape;2954;p19"/>
          <p:cNvSpPr/>
          <p:nvPr/>
        </p:nvSpPr>
        <p:spPr>
          <a:xfrm>
            <a:off x="1066800" y="1367028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5" name="Google Shape;2955;p19"/>
          <p:cNvSpPr/>
          <p:nvPr/>
        </p:nvSpPr>
        <p:spPr>
          <a:xfrm>
            <a:off x="1840992" y="1348740"/>
            <a:ext cx="819912" cy="25146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6" name="Google Shape;2956;p19"/>
          <p:cNvSpPr/>
          <p:nvPr/>
        </p:nvSpPr>
        <p:spPr>
          <a:xfrm>
            <a:off x="1886712" y="1367028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7" name="Google Shape;2957;p19"/>
          <p:cNvSpPr/>
          <p:nvPr/>
        </p:nvSpPr>
        <p:spPr>
          <a:xfrm>
            <a:off x="2660904" y="1348740"/>
            <a:ext cx="819912" cy="25146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8" name="Google Shape;2958;p19"/>
          <p:cNvSpPr/>
          <p:nvPr/>
        </p:nvSpPr>
        <p:spPr>
          <a:xfrm>
            <a:off x="2706624" y="1367028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9" name="Google Shape;2959;p19"/>
          <p:cNvSpPr/>
          <p:nvPr/>
        </p:nvSpPr>
        <p:spPr>
          <a:xfrm>
            <a:off x="3480816" y="1348740"/>
            <a:ext cx="819912" cy="25146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0" name="Google Shape;2960;p19"/>
          <p:cNvSpPr/>
          <p:nvPr/>
        </p:nvSpPr>
        <p:spPr>
          <a:xfrm>
            <a:off x="3526536" y="1367028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1" name="Google Shape;2961;p19"/>
          <p:cNvSpPr/>
          <p:nvPr/>
        </p:nvSpPr>
        <p:spPr>
          <a:xfrm>
            <a:off x="4300728" y="1348740"/>
            <a:ext cx="819912" cy="25146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2" name="Google Shape;2962;p19"/>
          <p:cNvSpPr/>
          <p:nvPr/>
        </p:nvSpPr>
        <p:spPr>
          <a:xfrm>
            <a:off x="4346448" y="1367028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3" name="Google Shape;2963;p19"/>
          <p:cNvSpPr/>
          <p:nvPr/>
        </p:nvSpPr>
        <p:spPr>
          <a:xfrm>
            <a:off x="201168" y="1600200"/>
            <a:ext cx="819912" cy="2514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4" name="Google Shape;2964;p19"/>
          <p:cNvSpPr/>
          <p:nvPr/>
        </p:nvSpPr>
        <p:spPr>
          <a:xfrm>
            <a:off x="246888" y="1618488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Humidity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5" name="Google Shape;2965;p19"/>
          <p:cNvSpPr/>
          <p:nvPr/>
        </p:nvSpPr>
        <p:spPr>
          <a:xfrm>
            <a:off x="1021080" y="1600200"/>
            <a:ext cx="819912" cy="2514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6" name="Google Shape;2966;p19"/>
          <p:cNvSpPr/>
          <p:nvPr/>
        </p:nvSpPr>
        <p:spPr>
          <a:xfrm>
            <a:off x="1066800" y="1618488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7" name="Google Shape;2967;p19"/>
          <p:cNvSpPr/>
          <p:nvPr/>
        </p:nvSpPr>
        <p:spPr>
          <a:xfrm>
            <a:off x="1840992" y="1600200"/>
            <a:ext cx="819912" cy="2514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8" name="Google Shape;2968;p19"/>
          <p:cNvSpPr/>
          <p:nvPr/>
        </p:nvSpPr>
        <p:spPr>
          <a:xfrm>
            <a:off x="1886712" y="1618488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9" name="Google Shape;2969;p19"/>
          <p:cNvSpPr/>
          <p:nvPr/>
        </p:nvSpPr>
        <p:spPr>
          <a:xfrm>
            <a:off x="2660904" y="1600200"/>
            <a:ext cx="819912" cy="2514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0" name="Google Shape;2970;p19"/>
          <p:cNvSpPr/>
          <p:nvPr/>
        </p:nvSpPr>
        <p:spPr>
          <a:xfrm>
            <a:off x="2706624" y="1618488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1" name="Google Shape;2971;p19"/>
          <p:cNvSpPr/>
          <p:nvPr/>
        </p:nvSpPr>
        <p:spPr>
          <a:xfrm>
            <a:off x="3480816" y="1600200"/>
            <a:ext cx="819912" cy="2514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2" name="Google Shape;2972;p19"/>
          <p:cNvSpPr/>
          <p:nvPr/>
        </p:nvSpPr>
        <p:spPr>
          <a:xfrm>
            <a:off x="3526536" y="1618488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3" name="Google Shape;2973;p19"/>
          <p:cNvSpPr/>
          <p:nvPr/>
        </p:nvSpPr>
        <p:spPr>
          <a:xfrm>
            <a:off x="4300728" y="1600200"/>
            <a:ext cx="819912" cy="2514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4" name="Google Shape;2974;p19"/>
          <p:cNvSpPr/>
          <p:nvPr/>
        </p:nvSpPr>
        <p:spPr>
          <a:xfrm>
            <a:off x="4346448" y="1618488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5" name="Google Shape;2975;p19"/>
          <p:cNvSpPr/>
          <p:nvPr/>
        </p:nvSpPr>
        <p:spPr>
          <a:xfrm>
            <a:off x="201168" y="1851660"/>
            <a:ext cx="819912" cy="25146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6" name="Google Shape;2976;p19"/>
          <p:cNvSpPr/>
          <p:nvPr/>
        </p:nvSpPr>
        <p:spPr>
          <a:xfrm>
            <a:off x="246888" y="1869948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Wind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7" name="Google Shape;2977;p19"/>
          <p:cNvSpPr/>
          <p:nvPr/>
        </p:nvSpPr>
        <p:spPr>
          <a:xfrm>
            <a:off x="1021080" y="1851660"/>
            <a:ext cx="819912" cy="25146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8" name="Google Shape;2978;p19"/>
          <p:cNvSpPr/>
          <p:nvPr/>
        </p:nvSpPr>
        <p:spPr>
          <a:xfrm>
            <a:off x="1066800" y="1869948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9" name="Google Shape;2979;p19"/>
          <p:cNvSpPr/>
          <p:nvPr/>
        </p:nvSpPr>
        <p:spPr>
          <a:xfrm>
            <a:off x="1840992" y="1851660"/>
            <a:ext cx="819912" cy="25146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0" name="Google Shape;2980;p19"/>
          <p:cNvSpPr/>
          <p:nvPr/>
        </p:nvSpPr>
        <p:spPr>
          <a:xfrm>
            <a:off x="1886712" y="1869948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1" name="Google Shape;2981;p19"/>
          <p:cNvSpPr/>
          <p:nvPr/>
        </p:nvSpPr>
        <p:spPr>
          <a:xfrm>
            <a:off x="2660904" y="1851660"/>
            <a:ext cx="819912" cy="25146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2" name="Google Shape;2982;p19"/>
          <p:cNvSpPr/>
          <p:nvPr/>
        </p:nvSpPr>
        <p:spPr>
          <a:xfrm>
            <a:off x="2706624" y="1869948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3" name="Google Shape;2983;p19"/>
          <p:cNvSpPr/>
          <p:nvPr/>
        </p:nvSpPr>
        <p:spPr>
          <a:xfrm>
            <a:off x="3480816" y="1851660"/>
            <a:ext cx="819912" cy="25146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4" name="Google Shape;2984;p19"/>
          <p:cNvSpPr/>
          <p:nvPr/>
        </p:nvSpPr>
        <p:spPr>
          <a:xfrm>
            <a:off x="3526536" y="1869948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5" name="Google Shape;2985;p19"/>
          <p:cNvSpPr/>
          <p:nvPr/>
        </p:nvSpPr>
        <p:spPr>
          <a:xfrm>
            <a:off x="4300728" y="1851660"/>
            <a:ext cx="819912" cy="25146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6" name="Google Shape;2986;p19"/>
          <p:cNvSpPr/>
          <p:nvPr/>
        </p:nvSpPr>
        <p:spPr>
          <a:xfrm>
            <a:off x="4346448" y="1869948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7" name="Google Shape;2987;p19"/>
          <p:cNvSpPr/>
          <p:nvPr/>
        </p:nvSpPr>
        <p:spPr>
          <a:xfrm>
            <a:off x="201168" y="2139696"/>
            <a:ext cx="54864" cy="237744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8" name="Google Shape;2988;p19"/>
          <p:cNvSpPr/>
          <p:nvPr/>
        </p:nvSpPr>
        <p:spPr>
          <a:xfrm>
            <a:off x="292608" y="2139696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9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9E8A"/>
                </a:solidFill>
                <a:latin typeface="Calibri"/>
                <a:ea typeface="Calibri"/>
                <a:cs typeface="Calibri"/>
                <a:sym typeface="Calibri"/>
              </a:rPr>
              <a:t>After  index.map(str.upper)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9" name="Google Shape;2989;p19"/>
          <p:cNvSpPr/>
          <p:nvPr/>
        </p:nvSpPr>
        <p:spPr>
          <a:xfrm>
            <a:off x="201168" y="2395728"/>
            <a:ext cx="819912" cy="251460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0" name="Google Shape;2990;p19"/>
          <p:cNvSpPr/>
          <p:nvPr/>
        </p:nvSpPr>
        <p:spPr>
          <a:xfrm>
            <a:off x="246888" y="2414016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1" name="Google Shape;2991;p19"/>
          <p:cNvSpPr/>
          <p:nvPr/>
        </p:nvSpPr>
        <p:spPr>
          <a:xfrm>
            <a:off x="1021080" y="2395728"/>
            <a:ext cx="819912" cy="251460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2" name="Google Shape;2992;p19"/>
          <p:cNvSpPr/>
          <p:nvPr/>
        </p:nvSpPr>
        <p:spPr>
          <a:xfrm>
            <a:off x="1066800" y="2414016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Bergen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3" name="Google Shape;2993;p19"/>
          <p:cNvSpPr/>
          <p:nvPr/>
        </p:nvSpPr>
        <p:spPr>
          <a:xfrm>
            <a:off x="1840992" y="2395728"/>
            <a:ext cx="819912" cy="251460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4" name="Google Shape;2994;p19"/>
          <p:cNvSpPr/>
          <p:nvPr/>
        </p:nvSpPr>
        <p:spPr>
          <a:xfrm>
            <a:off x="1886712" y="2414016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5" name="Google Shape;2995;p19"/>
          <p:cNvSpPr/>
          <p:nvPr/>
        </p:nvSpPr>
        <p:spPr>
          <a:xfrm>
            <a:off x="2660904" y="2395728"/>
            <a:ext cx="819912" cy="251460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6" name="Google Shape;2996;p19"/>
          <p:cNvSpPr/>
          <p:nvPr/>
        </p:nvSpPr>
        <p:spPr>
          <a:xfrm>
            <a:off x="2706624" y="2414016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Trondheim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7" name="Google Shape;2997;p19"/>
          <p:cNvSpPr/>
          <p:nvPr/>
        </p:nvSpPr>
        <p:spPr>
          <a:xfrm>
            <a:off x="3480816" y="2395728"/>
            <a:ext cx="819912" cy="251460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8" name="Google Shape;2998;p19"/>
          <p:cNvSpPr/>
          <p:nvPr/>
        </p:nvSpPr>
        <p:spPr>
          <a:xfrm>
            <a:off x="3526536" y="2414016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Stavanger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9" name="Google Shape;2999;p19"/>
          <p:cNvSpPr/>
          <p:nvPr/>
        </p:nvSpPr>
        <p:spPr>
          <a:xfrm>
            <a:off x="4300728" y="2395728"/>
            <a:ext cx="819912" cy="251460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0" name="Google Shape;3000;p19"/>
          <p:cNvSpPr/>
          <p:nvPr/>
        </p:nvSpPr>
        <p:spPr>
          <a:xfrm>
            <a:off x="4346448" y="2414016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Kristiansand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1" name="Google Shape;3001;p19"/>
          <p:cNvSpPr/>
          <p:nvPr/>
        </p:nvSpPr>
        <p:spPr>
          <a:xfrm>
            <a:off x="201168" y="2647188"/>
            <a:ext cx="819912" cy="25146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2" name="Google Shape;3002;p19"/>
          <p:cNvSpPr/>
          <p:nvPr/>
        </p:nvSpPr>
        <p:spPr>
          <a:xfrm>
            <a:off x="246888" y="2665476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RAINFALL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3" name="Google Shape;3003;p19"/>
          <p:cNvSpPr/>
          <p:nvPr/>
        </p:nvSpPr>
        <p:spPr>
          <a:xfrm>
            <a:off x="1021080" y="2647188"/>
            <a:ext cx="819912" cy="25146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4" name="Google Shape;3004;p19"/>
          <p:cNvSpPr/>
          <p:nvPr/>
        </p:nvSpPr>
        <p:spPr>
          <a:xfrm>
            <a:off x="1066800" y="2665476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5" name="Google Shape;3005;p19"/>
          <p:cNvSpPr/>
          <p:nvPr/>
        </p:nvSpPr>
        <p:spPr>
          <a:xfrm>
            <a:off x="1840992" y="2647188"/>
            <a:ext cx="819912" cy="25146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6" name="Google Shape;3006;p19"/>
          <p:cNvSpPr/>
          <p:nvPr/>
        </p:nvSpPr>
        <p:spPr>
          <a:xfrm>
            <a:off x="1886712" y="2665476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7" name="Google Shape;3007;p19"/>
          <p:cNvSpPr/>
          <p:nvPr/>
        </p:nvSpPr>
        <p:spPr>
          <a:xfrm>
            <a:off x="2660904" y="2647188"/>
            <a:ext cx="819912" cy="25146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8" name="Google Shape;3008;p19"/>
          <p:cNvSpPr/>
          <p:nvPr/>
        </p:nvSpPr>
        <p:spPr>
          <a:xfrm>
            <a:off x="2706624" y="2665476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9" name="Google Shape;3009;p19"/>
          <p:cNvSpPr/>
          <p:nvPr/>
        </p:nvSpPr>
        <p:spPr>
          <a:xfrm>
            <a:off x="3480816" y="2647188"/>
            <a:ext cx="819912" cy="25146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0" name="Google Shape;3010;p19"/>
          <p:cNvSpPr/>
          <p:nvPr/>
        </p:nvSpPr>
        <p:spPr>
          <a:xfrm>
            <a:off x="3526536" y="2665476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1" name="Google Shape;3011;p19"/>
          <p:cNvSpPr/>
          <p:nvPr/>
        </p:nvSpPr>
        <p:spPr>
          <a:xfrm>
            <a:off x="4300728" y="2647188"/>
            <a:ext cx="819912" cy="25146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2" name="Google Shape;3012;p19"/>
          <p:cNvSpPr/>
          <p:nvPr/>
        </p:nvSpPr>
        <p:spPr>
          <a:xfrm>
            <a:off x="4346448" y="2665476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3" name="Google Shape;3013;p19"/>
          <p:cNvSpPr/>
          <p:nvPr/>
        </p:nvSpPr>
        <p:spPr>
          <a:xfrm>
            <a:off x="201168" y="2898648"/>
            <a:ext cx="819912" cy="25146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4" name="Google Shape;3014;p19"/>
          <p:cNvSpPr/>
          <p:nvPr/>
        </p:nvSpPr>
        <p:spPr>
          <a:xfrm>
            <a:off x="246888" y="2916936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HUMIDITY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5" name="Google Shape;3015;p19"/>
          <p:cNvSpPr/>
          <p:nvPr/>
        </p:nvSpPr>
        <p:spPr>
          <a:xfrm>
            <a:off x="1021080" y="2898648"/>
            <a:ext cx="819912" cy="25146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6" name="Google Shape;3016;p19"/>
          <p:cNvSpPr/>
          <p:nvPr/>
        </p:nvSpPr>
        <p:spPr>
          <a:xfrm>
            <a:off x="1066800" y="2916936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7" name="Google Shape;3017;p19"/>
          <p:cNvSpPr/>
          <p:nvPr/>
        </p:nvSpPr>
        <p:spPr>
          <a:xfrm>
            <a:off x="1840992" y="2898648"/>
            <a:ext cx="819912" cy="25146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8" name="Google Shape;3018;p19"/>
          <p:cNvSpPr/>
          <p:nvPr/>
        </p:nvSpPr>
        <p:spPr>
          <a:xfrm>
            <a:off x="1886712" y="2916936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9" name="Google Shape;3019;p19"/>
          <p:cNvSpPr/>
          <p:nvPr/>
        </p:nvSpPr>
        <p:spPr>
          <a:xfrm>
            <a:off x="2660904" y="2898648"/>
            <a:ext cx="819912" cy="25146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0" name="Google Shape;3020;p19"/>
          <p:cNvSpPr/>
          <p:nvPr/>
        </p:nvSpPr>
        <p:spPr>
          <a:xfrm>
            <a:off x="2706624" y="2916936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1" name="Google Shape;3021;p19"/>
          <p:cNvSpPr/>
          <p:nvPr/>
        </p:nvSpPr>
        <p:spPr>
          <a:xfrm>
            <a:off x="3480816" y="2898648"/>
            <a:ext cx="819912" cy="25146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2" name="Google Shape;3022;p19"/>
          <p:cNvSpPr/>
          <p:nvPr/>
        </p:nvSpPr>
        <p:spPr>
          <a:xfrm>
            <a:off x="3526536" y="2916936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3" name="Google Shape;3023;p19"/>
          <p:cNvSpPr/>
          <p:nvPr/>
        </p:nvSpPr>
        <p:spPr>
          <a:xfrm>
            <a:off x="4300728" y="2898648"/>
            <a:ext cx="819912" cy="25146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4" name="Google Shape;3024;p19"/>
          <p:cNvSpPr/>
          <p:nvPr/>
        </p:nvSpPr>
        <p:spPr>
          <a:xfrm>
            <a:off x="4346448" y="2916936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5" name="Google Shape;3025;p19"/>
          <p:cNvSpPr/>
          <p:nvPr/>
        </p:nvSpPr>
        <p:spPr>
          <a:xfrm>
            <a:off x="201168" y="3150108"/>
            <a:ext cx="819912" cy="25146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6" name="Google Shape;3026;p19"/>
          <p:cNvSpPr/>
          <p:nvPr/>
        </p:nvSpPr>
        <p:spPr>
          <a:xfrm>
            <a:off x="246888" y="3168396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WIND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7" name="Google Shape;3027;p19"/>
          <p:cNvSpPr/>
          <p:nvPr/>
        </p:nvSpPr>
        <p:spPr>
          <a:xfrm>
            <a:off x="1021080" y="3150108"/>
            <a:ext cx="819912" cy="25146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8" name="Google Shape;3028;p19"/>
          <p:cNvSpPr/>
          <p:nvPr/>
        </p:nvSpPr>
        <p:spPr>
          <a:xfrm>
            <a:off x="1066800" y="3168396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9" name="Google Shape;3029;p19"/>
          <p:cNvSpPr/>
          <p:nvPr/>
        </p:nvSpPr>
        <p:spPr>
          <a:xfrm>
            <a:off x="1840992" y="3150108"/>
            <a:ext cx="819912" cy="25146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0" name="Google Shape;3030;p19"/>
          <p:cNvSpPr/>
          <p:nvPr/>
        </p:nvSpPr>
        <p:spPr>
          <a:xfrm>
            <a:off x="1886712" y="3168396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1" name="Google Shape;3031;p19"/>
          <p:cNvSpPr/>
          <p:nvPr/>
        </p:nvSpPr>
        <p:spPr>
          <a:xfrm>
            <a:off x="2660904" y="3150108"/>
            <a:ext cx="819912" cy="25146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2" name="Google Shape;3032;p19"/>
          <p:cNvSpPr/>
          <p:nvPr/>
        </p:nvSpPr>
        <p:spPr>
          <a:xfrm>
            <a:off x="2706624" y="3168396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3" name="Google Shape;3033;p19"/>
          <p:cNvSpPr/>
          <p:nvPr/>
        </p:nvSpPr>
        <p:spPr>
          <a:xfrm>
            <a:off x="3480816" y="3150108"/>
            <a:ext cx="819912" cy="25146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4" name="Google Shape;3034;p19"/>
          <p:cNvSpPr/>
          <p:nvPr/>
        </p:nvSpPr>
        <p:spPr>
          <a:xfrm>
            <a:off x="3526536" y="3168396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5" name="Google Shape;3035;p19"/>
          <p:cNvSpPr/>
          <p:nvPr/>
        </p:nvSpPr>
        <p:spPr>
          <a:xfrm>
            <a:off x="4300728" y="3150108"/>
            <a:ext cx="819912" cy="25146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6" name="Google Shape;3036;p19"/>
          <p:cNvSpPr/>
          <p:nvPr/>
        </p:nvSpPr>
        <p:spPr>
          <a:xfrm>
            <a:off x="4346448" y="3168396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7" name="Google Shape;3037;p19"/>
          <p:cNvSpPr/>
          <p:nvPr/>
        </p:nvSpPr>
        <p:spPr>
          <a:xfrm>
            <a:off x="201168" y="3438144"/>
            <a:ext cx="54864" cy="237744"/>
          </a:xfrm>
          <a:prstGeom prst="rect">
            <a:avLst/>
          </a:prstGeom>
          <a:solidFill>
            <a:srgbClr val="D4850A"/>
          </a:solidFill>
          <a:ln cap="flat" cmpd="sng" w="12700">
            <a:solidFill>
              <a:srgbClr val="D485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8" name="Google Shape;3038;p19"/>
          <p:cNvSpPr/>
          <p:nvPr/>
        </p:nvSpPr>
        <p:spPr>
          <a:xfrm>
            <a:off x="292608" y="3438144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50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4850A"/>
                </a:solidFill>
                <a:latin typeface="Calibri"/>
                <a:ea typeface="Calibri"/>
                <a:cs typeface="Calibri"/>
                <a:sym typeface="Calibri"/>
              </a:rPr>
              <a:t>After  rename(index=str.title, columns=str.upper)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9" name="Google Shape;3039;p19"/>
          <p:cNvSpPr/>
          <p:nvPr/>
        </p:nvSpPr>
        <p:spPr>
          <a:xfrm>
            <a:off x="201168" y="3694176"/>
            <a:ext cx="819912" cy="251460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0" name="Google Shape;3040;p19"/>
          <p:cNvSpPr/>
          <p:nvPr/>
        </p:nvSpPr>
        <p:spPr>
          <a:xfrm>
            <a:off x="246888" y="3712464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1" name="Google Shape;3041;p19"/>
          <p:cNvSpPr/>
          <p:nvPr/>
        </p:nvSpPr>
        <p:spPr>
          <a:xfrm>
            <a:off x="1021080" y="3694176"/>
            <a:ext cx="819912" cy="251460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2" name="Google Shape;3042;p19"/>
          <p:cNvSpPr/>
          <p:nvPr/>
        </p:nvSpPr>
        <p:spPr>
          <a:xfrm>
            <a:off x="1066800" y="3712464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BERGEN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3" name="Google Shape;3043;p19"/>
          <p:cNvSpPr/>
          <p:nvPr/>
        </p:nvSpPr>
        <p:spPr>
          <a:xfrm>
            <a:off x="1840992" y="3694176"/>
            <a:ext cx="819912" cy="251460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4" name="Google Shape;3044;p19"/>
          <p:cNvSpPr/>
          <p:nvPr/>
        </p:nvSpPr>
        <p:spPr>
          <a:xfrm>
            <a:off x="1886712" y="3712464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5" name="Google Shape;3045;p19"/>
          <p:cNvSpPr/>
          <p:nvPr/>
        </p:nvSpPr>
        <p:spPr>
          <a:xfrm>
            <a:off x="2660904" y="3694176"/>
            <a:ext cx="819912" cy="251460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6" name="Google Shape;3046;p19"/>
          <p:cNvSpPr/>
          <p:nvPr/>
        </p:nvSpPr>
        <p:spPr>
          <a:xfrm>
            <a:off x="2706624" y="3712464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TRONDHEIM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7" name="Google Shape;3047;p19"/>
          <p:cNvSpPr/>
          <p:nvPr/>
        </p:nvSpPr>
        <p:spPr>
          <a:xfrm>
            <a:off x="3480816" y="3694176"/>
            <a:ext cx="819912" cy="251460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8" name="Google Shape;3048;p19"/>
          <p:cNvSpPr/>
          <p:nvPr/>
        </p:nvSpPr>
        <p:spPr>
          <a:xfrm>
            <a:off x="3526536" y="3712464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STAVANGER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9" name="Google Shape;3049;p19"/>
          <p:cNvSpPr/>
          <p:nvPr/>
        </p:nvSpPr>
        <p:spPr>
          <a:xfrm>
            <a:off x="4300728" y="3694176"/>
            <a:ext cx="819912" cy="251460"/>
          </a:xfrm>
          <a:prstGeom prst="rect">
            <a:avLst/>
          </a:prstGeom>
          <a:solidFill>
            <a:srgbClr val="D4850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0" name="Google Shape;3050;p19"/>
          <p:cNvSpPr/>
          <p:nvPr/>
        </p:nvSpPr>
        <p:spPr>
          <a:xfrm>
            <a:off x="4346448" y="3712464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KRISTIANSAND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1" name="Google Shape;3051;p19"/>
          <p:cNvSpPr/>
          <p:nvPr/>
        </p:nvSpPr>
        <p:spPr>
          <a:xfrm>
            <a:off x="201168" y="3945636"/>
            <a:ext cx="819912" cy="25146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2" name="Google Shape;3052;p19"/>
          <p:cNvSpPr/>
          <p:nvPr/>
        </p:nvSpPr>
        <p:spPr>
          <a:xfrm>
            <a:off x="246888" y="3963924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Rainfall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3" name="Google Shape;3053;p19"/>
          <p:cNvSpPr/>
          <p:nvPr/>
        </p:nvSpPr>
        <p:spPr>
          <a:xfrm>
            <a:off x="1021080" y="3945636"/>
            <a:ext cx="819912" cy="25146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4" name="Google Shape;3054;p19"/>
          <p:cNvSpPr/>
          <p:nvPr/>
        </p:nvSpPr>
        <p:spPr>
          <a:xfrm>
            <a:off x="1066800" y="3963924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5" name="Google Shape;3055;p19"/>
          <p:cNvSpPr/>
          <p:nvPr/>
        </p:nvSpPr>
        <p:spPr>
          <a:xfrm>
            <a:off x="1840992" y="3945636"/>
            <a:ext cx="819912" cy="25146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6" name="Google Shape;3056;p19"/>
          <p:cNvSpPr/>
          <p:nvPr/>
        </p:nvSpPr>
        <p:spPr>
          <a:xfrm>
            <a:off x="1886712" y="3963924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7" name="Google Shape;3057;p19"/>
          <p:cNvSpPr/>
          <p:nvPr/>
        </p:nvSpPr>
        <p:spPr>
          <a:xfrm>
            <a:off x="2660904" y="3945636"/>
            <a:ext cx="819912" cy="25146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8" name="Google Shape;3058;p19"/>
          <p:cNvSpPr/>
          <p:nvPr/>
        </p:nvSpPr>
        <p:spPr>
          <a:xfrm>
            <a:off x="2706624" y="3963924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9" name="Google Shape;3059;p19"/>
          <p:cNvSpPr/>
          <p:nvPr/>
        </p:nvSpPr>
        <p:spPr>
          <a:xfrm>
            <a:off x="3480816" y="3945636"/>
            <a:ext cx="819912" cy="25146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0" name="Google Shape;3060;p19"/>
          <p:cNvSpPr/>
          <p:nvPr/>
        </p:nvSpPr>
        <p:spPr>
          <a:xfrm>
            <a:off x="3526536" y="3963924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1" name="Google Shape;3061;p19"/>
          <p:cNvSpPr/>
          <p:nvPr/>
        </p:nvSpPr>
        <p:spPr>
          <a:xfrm>
            <a:off x="4300728" y="3945636"/>
            <a:ext cx="819912" cy="251460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2" name="Google Shape;3062;p19"/>
          <p:cNvSpPr/>
          <p:nvPr/>
        </p:nvSpPr>
        <p:spPr>
          <a:xfrm>
            <a:off x="4346448" y="3963924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3" name="Google Shape;3063;p19"/>
          <p:cNvSpPr/>
          <p:nvPr/>
        </p:nvSpPr>
        <p:spPr>
          <a:xfrm>
            <a:off x="201168" y="4197096"/>
            <a:ext cx="819912" cy="25146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4" name="Google Shape;3064;p19"/>
          <p:cNvSpPr/>
          <p:nvPr/>
        </p:nvSpPr>
        <p:spPr>
          <a:xfrm>
            <a:off x="246888" y="4215384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Humidity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5" name="Google Shape;3065;p19"/>
          <p:cNvSpPr/>
          <p:nvPr/>
        </p:nvSpPr>
        <p:spPr>
          <a:xfrm>
            <a:off x="1021080" y="4197096"/>
            <a:ext cx="819912" cy="25146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6" name="Google Shape;3066;p19"/>
          <p:cNvSpPr/>
          <p:nvPr/>
        </p:nvSpPr>
        <p:spPr>
          <a:xfrm>
            <a:off x="1066800" y="4215384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7" name="Google Shape;3067;p19"/>
          <p:cNvSpPr/>
          <p:nvPr/>
        </p:nvSpPr>
        <p:spPr>
          <a:xfrm>
            <a:off x="1840992" y="4197096"/>
            <a:ext cx="819912" cy="25146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8" name="Google Shape;3068;p19"/>
          <p:cNvSpPr/>
          <p:nvPr/>
        </p:nvSpPr>
        <p:spPr>
          <a:xfrm>
            <a:off x="1886712" y="4215384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9" name="Google Shape;3069;p19"/>
          <p:cNvSpPr/>
          <p:nvPr/>
        </p:nvSpPr>
        <p:spPr>
          <a:xfrm>
            <a:off x="2660904" y="4197096"/>
            <a:ext cx="819912" cy="25146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0" name="Google Shape;3070;p19"/>
          <p:cNvSpPr/>
          <p:nvPr/>
        </p:nvSpPr>
        <p:spPr>
          <a:xfrm>
            <a:off x="2706624" y="4215384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1" name="Google Shape;3071;p19"/>
          <p:cNvSpPr/>
          <p:nvPr/>
        </p:nvSpPr>
        <p:spPr>
          <a:xfrm>
            <a:off x="3480816" y="4197096"/>
            <a:ext cx="819912" cy="25146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2" name="Google Shape;3072;p19"/>
          <p:cNvSpPr/>
          <p:nvPr/>
        </p:nvSpPr>
        <p:spPr>
          <a:xfrm>
            <a:off x="3526536" y="4215384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3" name="Google Shape;3073;p19"/>
          <p:cNvSpPr/>
          <p:nvPr/>
        </p:nvSpPr>
        <p:spPr>
          <a:xfrm>
            <a:off x="4300728" y="4197096"/>
            <a:ext cx="819912" cy="25146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4" name="Google Shape;3074;p19"/>
          <p:cNvSpPr/>
          <p:nvPr/>
        </p:nvSpPr>
        <p:spPr>
          <a:xfrm>
            <a:off x="4346448" y="4215384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5" name="Google Shape;3075;p19"/>
          <p:cNvSpPr/>
          <p:nvPr/>
        </p:nvSpPr>
        <p:spPr>
          <a:xfrm>
            <a:off x="201168" y="4448556"/>
            <a:ext cx="819912" cy="25146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6" name="Google Shape;3076;p19"/>
          <p:cNvSpPr/>
          <p:nvPr/>
        </p:nvSpPr>
        <p:spPr>
          <a:xfrm>
            <a:off x="246888" y="4466844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Wind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7" name="Google Shape;3077;p19"/>
          <p:cNvSpPr/>
          <p:nvPr/>
        </p:nvSpPr>
        <p:spPr>
          <a:xfrm>
            <a:off x="1021080" y="4448556"/>
            <a:ext cx="819912" cy="25146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8" name="Google Shape;3078;p19"/>
          <p:cNvSpPr/>
          <p:nvPr/>
        </p:nvSpPr>
        <p:spPr>
          <a:xfrm>
            <a:off x="1066800" y="4466844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9" name="Google Shape;3079;p19"/>
          <p:cNvSpPr/>
          <p:nvPr/>
        </p:nvSpPr>
        <p:spPr>
          <a:xfrm>
            <a:off x="1840992" y="4448556"/>
            <a:ext cx="819912" cy="25146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0" name="Google Shape;3080;p19"/>
          <p:cNvSpPr/>
          <p:nvPr/>
        </p:nvSpPr>
        <p:spPr>
          <a:xfrm>
            <a:off x="1886712" y="4466844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1" name="Google Shape;3081;p19"/>
          <p:cNvSpPr/>
          <p:nvPr/>
        </p:nvSpPr>
        <p:spPr>
          <a:xfrm>
            <a:off x="2660904" y="4448556"/>
            <a:ext cx="819912" cy="25146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2" name="Google Shape;3082;p19"/>
          <p:cNvSpPr/>
          <p:nvPr/>
        </p:nvSpPr>
        <p:spPr>
          <a:xfrm>
            <a:off x="2706624" y="4466844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3" name="Google Shape;3083;p19"/>
          <p:cNvSpPr/>
          <p:nvPr/>
        </p:nvSpPr>
        <p:spPr>
          <a:xfrm>
            <a:off x="3480816" y="4448556"/>
            <a:ext cx="819912" cy="25146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4" name="Google Shape;3084;p19"/>
          <p:cNvSpPr/>
          <p:nvPr/>
        </p:nvSpPr>
        <p:spPr>
          <a:xfrm>
            <a:off x="3526536" y="4466844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5" name="Google Shape;3085;p19"/>
          <p:cNvSpPr/>
          <p:nvPr/>
        </p:nvSpPr>
        <p:spPr>
          <a:xfrm>
            <a:off x="4300728" y="4448556"/>
            <a:ext cx="819912" cy="251460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6" name="Google Shape;3086;p19"/>
          <p:cNvSpPr/>
          <p:nvPr/>
        </p:nvSpPr>
        <p:spPr>
          <a:xfrm>
            <a:off x="4346448" y="4466844"/>
            <a:ext cx="72847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7" name="Google Shape;3087;p19"/>
          <p:cNvSpPr/>
          <p:nvPr/>
        </p:nvSpPr>
        <p:spPr>
          <a:xfrm>
            <a:off x="5212075" y="841250"/>
            <a:ext cx="3730800" cy="3216900"/>
          </a:xfrm>
          <a:prstGeom prst="rect">
            <a:avLst/>
          </a:prstGeom>
          <a:solidFill>
            <a:srgbClr val="1A2B3C"/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8" name="Google Shape;3088;p19"/>
          <p:cNvSpPr/>
          <p:nvPr/>
        </p:nvSpPr>
        <p:spPr>
          <a:xfrm>
            <a:off x="5212150" y="841250"/>
            <a:ext cx="3730800" cy="1830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9" name="Google Shape;3089;p19"/>
          <p:cNvSpPr/>
          <p:nvPr/>
        </p:nvSpPr>
        <p:spPr>
          <a:xfrm>
            <a:off x="5303442" y="855274"/>
            <a:ext cx="1280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0" name="Google Shape;3090;p19"/>
          <p:cNvSpPr/>
          <p:nvPr/>
        </p:nvSpPr>
        <p:spPr>
          <a:xfrm>
            <a:off x="5303450" y="1061314"/>
            <a:ext cx="3639300" cy="30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map() — uniform transform on all index labels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dframe1.index = dframe1.index.map(str.upper)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Rainfall→RAINFALL, Humidity→HUMIDITY, Wind→WIND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map() with lambda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dframe1.index = dframe1.index.map(lambda x: x[:3])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Rainfall→Rai, Humidity→Hum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rename() — transforms index AND columns simultaneously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dframe1.rename(index=str.title, columns=str.upper)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rename() with specific dict mapping (selective)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dframe1.rename(index={'Rainfall': 'Precipitation'},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             columns={'Bergen': 'BER', 'Oslo': 'OSL'})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When to use: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map()    → uniform transform (every label through same function)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rename() → mixed/selective (index and columns independently)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1" name="Google Shape;3091;p19"/>
          <p:cNvSpPr/>
          <p:nvPr/>
        </p:nvSpPr>
        <p:spPr>
          <a:xfrm>
            <a:off x="2660925" y="4718249"/>
            <a:ext cx="6492300" cy="255900"/>
          </a:xfrm>
          <a:prstGeom prst="rect">
            <a:avLst/>
          </a:prstGeom>
          <a:solidFill>
            <a:srgbClr val="0D6E8A">
              <a:alpha val="10196"/>
            </a:srgbClr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2" name="Google Shape;3092;p19"/>
          <p:cNvSpPr/>
          <p:nvPr/>
        </p:nvSpPr>
        <p:spPr>
          <a:xfrm>
            <a:off x="2610551" y="4745599"/>
            <a:ext cx="54900" cy="2469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3" name="Google Shape;3093;p19"/>
          <p:cNvSpPr/>
          <p:nvPr/>
        </p:nvSpPr>
        <p:spPr>
          <a:xfrm>
            <a:off x="2912396" y="4699996"/>
            <a:ext cx="632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📌 map() modifies index in-place (reassign needed). rename() returns new DF — assign back or use inplace=True.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4" name="Google Shape;3094;p19"/>
          <p:cNvSpPr/>
          <p:nvPr/>
        </p:nvSpPr>
        <p:spPr>
          <a:xfrm>
            <a:off x="6806250" y="4094801"/>
            <a:ext cx="2157900" cy="372000"/>
          </a:xfrm>
          <a:prstGeom prst="rect">
            <a:avLst/>
          </a:prstGeom>
          <a:solidFill>
            <a:srgbClr val="1A7A34">
              <a:alpha val="10196"/>
            </a:srgbClr>
          </a:solidFill>
          <a:ln cap="flat" cmpd="sng" w="15225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5" name="Google Shape;3095;p19"/>
          <p:cNvSpPr/>
          <p:nvPr/>
        </p:nvSpPr>
        <p:spPr>
          <a:xfrm>
            <a:off x="6760449" y="4094801"/>
            <a:ext cx="54900" cy="402300"/>
          </a:xfrm>
          <a:prstGeom prst="rect">
            <a:avLst/>
          </a:prstGeom>
          <a:solidFill>
            <a:srgbClr val="1A7A34"/>
          </a:solidFill>
          <a:ln cap="flat" cmpd="sng" w="12700">
            <a:solidFill>
              <a:srgbClr val="1A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6" name="Google Shape;3096;p19"/>
          <p:cNvSpPr/>
          <p:nvPr/>
        </p:nvSpPr>
        <p:spPr>
          <a:xfrm>
            <a:off x="6967676" y="4149721"/>
            <a:ext cx="1993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🌐 Use case: standardising column names (lowercase, strip spaces) before merging two DataFrames.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3101" name="Shape 3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" name="Google Shape;3102;p2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3" name="Google Shape;3103;p20"/>
          <p:cNvSpPr/>
          <p:nvPr/>
        </p:nvSpPr>
        <p:spPr>
          <a:xfrm>
            <a:off x="0" y="0"/>
            <a:ext cx="82296" cy="804672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4" name="Google Shape;3104;p20"/>
          <p:cNvSpPr/>
          <p:nvPr/>
        </p:nvSpPr>
        <p:spPr>
          <a:xfrm>
            <a:off x="182880" y="64008"/>
            <a:ext cx="8778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Permutation &amp; Random Sampling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5" name="Google Shape;3105;p20"/>
          <p:cNvSpPr/>
          <p:nvPr/>
        </p:nvSpPr>
        <p:spPr>
          <a:xfrm>
            <a:off x="182880" y="493776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C8E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FC8E0"/>
                </a:solidFill>
                <a:latin typeface="Calibri"/>
                <a:ea typeface="Calibri"/>
                <a:cs typeface="Calibri"/>
                <a:sym typeface="Calibri"/>
              </a:rPr>
              <a:t>Shuffling rows and selecting subsets — essential for ML train/test splits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6" name="Google Shape;3106;p2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7" name="Google Shape;3107;p20"/>
          <p:cNvSpPr/>
          <p:nvPr/>
        </p:nvSpPr>
        <p:spPr>
          <a:xfrm>
            <a:off x="201168" y="4910328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F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FC8"/>
                </a:solidFill>
                <a:latin typeface="Calibri"/>
                <a:ea typeface="Calibri"/>
                <a:cs typeface="Calibri"/>
                <a:sym typeface="Calibri"/>
              </a:rPr>
              <a:t>EDA | Module 2 | 23CSE422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8" name="Google Shape;3108;p20"/>
          <p:cNvSpPr/>
          <p:nvPr/>
        </p:nvSpPr>
        <p:spPr>
          <a:xfrm>
            <a:off x="201168" y="841248"/>
            <a:ext cx="425196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9" name="Google Shape;3109;p20"/>
          <p:cNvSpPr/>
          <p:nvPr/>
        </p:nvSpPr>
        <p:spPr>
          <a:xfrm>
            <a:off x="310896" y="896112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Permutation — shuffle ALL rows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0" name="Google Shape;3110;p20"/>
          <p:cNvSpPr/>
          <p:nvPr/>
        </p:nvSpPr>
        <p:spPr>
          <a:xfrm>
            <a:off x="310896" y="1188720"/>
            <a:ext cx="54864" cy="237744"/>
          </a:xfrm>
          <a:prstGeom prst="rect">
            <a:avLst/>
          </a:prstGeom>
          <a:solidFill>
            <a:srgbClr val="4A5568"/>
          </a:solidFill>
          <a:ln cap="flat" cmpd="sng" w="12700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1" name="Google Shape;3111;p20"/>
          <p:cNvSpPr/>
          <p:nvPr/>
        </p:nvSpPr>
        <p:spPr>
          <a:xfrm>
            <a:off x="402336" y="1188720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Original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2" name="Google Shape;3112;p20"/>
          <p:cNvSpPr/>
          <p:nvPr/>
        </p:nvSpPr>
        <p:spPr>
          <a:xfrm>
            <a:off x="310896" y="1426464"/>
            <a:ext cx="609600" cy="219456"/>
          </a:xfrm>
          <a:prstGeom prst="rect">
            <a:avLst/>
          </a:prstGeom>
          <a:solidFill>
            <a:srgbClr val="4A556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3" name="Google Shape;3113;p20"/>
          <p:cNvSpPr/>
          <p:nvPr/>
        </p:nvSpPr>
        <p:spPr>
          <a:xfrm>
            <a:off x="356616" y="1444752"/>
            <a:ext cx="518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4" name="Google Shape;3114;p20"/>
          <p:cNvSpPr/>
          <p:nvPr/>
        </p:nvSpPr>
        <p:spPr>
          <a:xfrm>
            <a:off x="920496" y="1426464"/>
            <a:ext cx="609600" cy="219456"/>
          </a:xfrm>
          <a:prstGeom prst="rect">
            <a:avLst/>
          </a:prstGeom>
          <a:solidFill>
            <a:srgbClr val="4A556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5" name="Google Shape;3115;p20"/>
          <p:cNvSpPr/>
          <p:nvPr/>
        </p:nvSpPr>
        <p:spPr>
          <a:xfrm>
            <a:off x="966216" y="1444752"/>
            <a:ext cx="518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6" name="Google Shape;3116;p20"/>
          <p:cNvSpPr/>
          <p:nvPr/>
        </p:nvSpPr>
        <p:spPr>
          <a:xfrm>
            <a:off x="1530096" y="1426464"/>
            <a:ext cx="609600" cy="219456"/>
          </a:xfrm>
          <a:prstGeom prst="rect">
            <a:avLst/>
          </a:prstGeom>
          <a:solidFill>
            <a:srgbClr val="4A556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7" name="Google Shape;3117;p20"/>
          <p:cNvSpPr/>
          <p:nvPr/>
        </p:nvSpPr>
        <p:spPr>
          <a:xfrm>
            <a:off x="1575816" y="1444752"/>
            <a:ext cx="518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8" name="Google Shape;3118;p20"/>
          <p:cNvSpPr/>
          <p:nvPr/>
        </p:nvSpPr>
        <p:spPr>
          <a:xfrm>
            <a:off x="310896" y="1645920"/>
            <a:ext cx="6096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9" name="Google Shape;3119;p20"/>
          <p:cNvSpPr/>
          <p:nvPr/>
        </p:nvSpPr>
        <p:spPr>
          <a:xfrm>
            <a:off x="356616" y="1664208"/>
            <a:ext cx="518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0" name="Google Shape;3120;p20"/>
          <p:cNvSpPr/>
          <p:nvPr/>
        </p:nvSpPr>
        <p:spPr>
          <a:xfrm>
            <a:off x="920496" y="1645920"/>
            <a:ext cx="6096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1" name="Google Shape;3121;p20"/>
          <p:cNvSpPr/>
          <p:nvPr/>
        </p:nvSpPr>
        <p:spPr>
          <a:xfrm>
            <a:off x="966216" y="1664208"/>
            <a:ext cx="518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2" name="Google Shape;3122;p20"/>
          <p:cNvSpPr/>
          <p:nvPr/>
        </p:nvSpPr>
        <p:spPr>
          <a:xfrm>
            <a:off x="1530096" y="1645920"/>
            <a:ext cx="6096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3" name="Google Shape;3123;p20"/>
          <p:cNvSpPr/>
          <p:nvPr/>
        </p:nvSpPr>
        <p:spPr>
          <a:xfrm>
            <a:off x="1575816" y="1664208"/>
            <a:ext cx="518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4" name="Google Shape;3124;p20"/>
          <p:cNvSpPr/>
          <p:nvPr/>
        </p:nvSpPr>
        <p:spPr>
          <a:xfrm>
            <a:off x="310896" y="1865376"/>
            <a:ext cx="6096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5" name="Google Shape;3125;p20"/>
          <p:cNvSpPr/>
          <p:nvPr/>
        </p:nvSpPr>
        <p:spPr>
          <a:xfrm>
            <a:off x="356616" y="1883664"/>
            <a:ext cx="518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6" name="Google Shape;3126;p20"/>
          <p:cNvSpPr/>
          <p:nvPr/>
        </p:nvSpPr>
        <p:spPr>
          <a:xfrm>
            <a:off x="920496" y="1865376"/>
            <a:ext cx="6096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7" name="Google Shape;3127;p20"/>
          <p:cNvSpPr/>
          <p:nvPr/>
        </p:nvSpPr>
        <p:spPr>
          <a:xfrm>
            <a:off x="966216" y="1883664"/>
            <a:ext cx="518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8" name="Google Shape;3128;p20"/>
          <p:cNvSpPr/>
          <p:nvPr/>
        </p:nvSpPr>
        <p:spPr>
          <a:xfrm>
            <a:off x="1530096" y="1865376"/>
            <a:ext cx="6096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9" name="Google Shape;3129;p20"/>
          <p:cNvSpPr/>
          <p:nvPr/>
        </p:nvSpPr>
        <p:spPr>
          <a:xfrm>
            <a:off x="1575816" y="1883664"/>
            <a:ext cx="518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0" name="Google Shape;3130;p20"/>
          <p:cNvSpPr/>
          <p:nvPr/>
        </p:nvSpPr>
        <p:spPr>
          <a:xfrm>
            <a:off x="310896" y="2084832"/>
            <a:ext cx="6096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1" name="Google Shape;3131;p20"/>
          <p:cNvSpPr/>
          <p:nvPr/>
        </p:nvSpPr>
        <p:spPr>
          <a:xfrm>
            <a:off x="356616" y="2103120"/>
            <a:ext cx="518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2" name="Google Shape;3132;p20"/>
          <p:cNvSpPr/>
          <p:nvPr/>
        </p:nvSpPr>
        <p:spPr>
          <a:xfrm>
            <a:off x="920496" y="2084832"/>
            <a:ext cx="6096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3" name="Google Shape;3133;p20"/>
          <p:cNvSpPr/>
          <p:nvPr/>
        </p:nvSpPr>
        <p:spPr>
          <a:xfrm>
            <a:off x="966216" y="2103120"/>
            <a:ext cx="518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4" name="Google Shape;3134;p20"/>
          <p:cNvSpPr/>
          <p:nvPr/>
        </p:nvSpPr>
        <p:spPr>
          <a:xfrm>
            <a:off x="1530096" y="2084832"/>
            <a:ext cx="609600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5" name="Google Shape;3135;p20"/>
          <p:cNvSpPr/>
          <p:nvPr/>
        </p:nvSpPr>
        <p:spPr>
          <a:xfrm>
            <a:off x="1575816" y="2103120"/>
            <a:ext cx="518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6" name="Google Shape;3136;p20"/>
          <p:cNvSpPr/>
          <p:nvPr/>
        </p:nvSpPr>
        <p:spPr>
          <a:xfrm>
            <a:off x="310896" y="2304288"/>
            <a:ext cx="6096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7" name="Google Shape;3137;p20"/>
          <p:cNvSpPr/>
          <p:nvPr/>
        </p:nvSpPr>
        <p:spPr>
          <a:xfrm>
            <a:off x="356616" y="2322576"/>
            <a:ext cx="518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8" name="Google Shape;3138;p20"/>
          <p:cNvSpPr/>
          <p:nvPr/>
        </p:nvSpPr>
        <p:spPr>
          <a:xfrm>
            <a:off x="920496" y="2304288"/>
            <a:ext cx="6096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9" name="Google Shape;3139;p20"/>
          <p:cNvSpPr/>
          <p:nvPr/>
        </p:nvSpPr>
        <p:spPr>
          <a:xfrm>
            <a:off x="966216" y="2322576"/>
            <a:ext cx="518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0" name="Google Shape;3140;p20"/>
          <p:cNvSpPr/>
          <p:nvPr/>
        </p:nvSpPr>
        <p:spPr>
          <a:xfrm>
            <a:off x="1530096" y="2304288"/>
            <a:ext cx="6096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1" name="Google Shape;3141;p20"/>
          <p:cNvSpPr/>
          <p:nvPr/>
        </p:nvSpPr>
        <p:spPr>
          <a:xfrm>
            <a:off x="1575816" y="2322576"/>
            <a:ext cx="518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2" name="Google Shape;3142;p20"/>
          <p:cNvSpPr/>
          <p:nvPr/>
        </p:nvSpPr>
        <p:spPr>
          <a:xfrm>
            <a:off x="2231136" y="1682496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3" name="Google Shape;3143;p20"/>
          <p:cNvSpPr/>
          <p:nvPr/>
        </p:nvSpPr>
        <p:spPr>
          <a:xfrm>
            <a:off x="2212848" y="1938528"/>
            <a:ext cx="4389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4" name="Google Shape;3144;p20"/>
          <p:cNvSpPr/>
          <p:nvPr/>
        </p:nvSpPr>
        <p:spPr>
          <a:xfrm>
            <a:off x="2688336" y="1188720"/>
            <a:ext cx="54864" cy="237744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5" name="Google Shape;3145;p20"/>
          <p:cNvSpPr/>
          <p:nvPr/>
        </p:nvSpPr>
        <p:spPr>
          <a:xfrm>
            <a:off x="2779776" y="1188720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9E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9E8A"/>
                </a:solidFill>
                <a:latin typeface="Calibri"/>
                <a:ea typeface="Calibri"/>
                <a:cs typeface="Calibri"/>
                <a:sym typeface="Calibri"/>
              </a:rPr>
              <a:t>After permutation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6" name="Google Shape;3146;p20"/>
          <p:cNvSpPr/>
          <p:nvPr/>
        </p:nvSpPr>
        <p:spPr>
          <a:xfrm>
            <a:off x="2688336" y="1426464"/>
            <a:ext cx="554736" cy="219456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7" name="Google Shape;3147;p20"/>
          <p:cNvSpPr/>
          <p:nvPr/>
        </p:nvSpPr>
        <p:spPr>
          <a:xfrm>
            <a:off x="2734056" y="1444752"/>
            <a:ext cx="4632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8" name="Google Shape;3148;p20"/>
          <p:cNvSpPr/>
          <p:nvPr/>
        </p:nvSpPr>
        <p:spPr>
          <a:xfrm>
            <a:off x="3243072" y="1426464"/>
            <a:ext cx="554736" cy="219456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9" name="Google Shape;3149;p20"/>
          <p:cNvSpPr/>
          <p:nvPr/>
        </p:nvSpPr>
        <p:spPr>
          <a:xfrm>
            <a:off x="3288792" y="1444752"/>
            <a:ext cx="4632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0" name="Google Shape;3150;p20"/>
          <p:cNvSpPr/>
          <p:nvPr/>
        </p:nvSpPr>
        <p:spPr>
          <a:xfrm>
            <a:off x="3797808" y="1426464"/>
            <a:ext cx="554736" cy="219456"/>
          </a:xfrm>
          <a:prstGeom prst="rect">
            <a:avLst/>
          </a:prstGeom>
          <a:solidFill>
            <a:srgbClr val="1A9E8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1" name="Google Shape;3151;p20"/>
          <p:cNvSpPr/>
          <p:nvPr/>
        </p:nvSpPr>
        <p:spPr>
          <a:xfrm>
            <a:off x="3843528" y="1444752"/>
            <a:ext cx="4632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2" name="Google Shape;3152;p20"/>
          <p:cNvSpPr/>
          <p:nvPr/>
        </p:nvSpPr>
        <p:spPr>
          <a:xfrm>
            <a:off x="2688336" y="1645920"/>
            <a:ext cx="554736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3" name="Google Shape;3153;p20"/>
          <p:cNvSpPr/>
          <p:nvPr/>
        </p:nvSpPr>
        <p:spPr>
          <a:xfrm>
            <a:off x="2734056" y="1664208"/>
            <a:ext cx="4632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4" name="Google Shape;3154;p20"/>
          <p:cNvSpPr/>
          <p:nvPr/>
        </p:nvSpPr>
        <p:spPr>
          <a:xfrm>
            <a:off x="3243072" y="1645920"/>
            <a:ext cx="554736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5" name="Google Shape;3155;p20"/>
          <p:cNvSpPr/>
          <p:nvPr/>
        </p:nvSpPr>
        <p:spPr>
          <a:xfrm>
            <a:off x="3288792" y="1664208"/>
            <a:ext cx="4632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6" name="Google Shape;3156;p20"/>
          <p:cNvSpPr/>
          <p:nvPr/>
        </p:nvSpPr>
        <p:spPr>
          <a:xfrm>
            <a:off x="3797808" y="1645920"/>
            <a:ext cx="554736" cy="219456"/>
          </a:xfrm>
          <a:prstGeom prst="rect">
            <a:avLst/>
          </a:prstGeom>
          <a:solidFill>
            <a:srgbClr val="F7FBF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7" name="Google Shape;3157;p20"/>
          <p:cNvSpPr/>
          <p:nvPr/>
        </p:nvSpPr>
        <p:spPr>
          <a:xfrm>
            <a:off x="3843528" y="1664208"/>
            <a:ext cx="4632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8" name="Google Shape;3158;p20"/>
          <p:cNvSpPr/>
          <p:nvPr/>
        </p:nvSpPr>
        <p:spPr>
          <a:xfrm>
            <a:off x="2688336" y="1865376"/>
            <a:ext cx="554736" cy="219456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9" name="Google Shape;3159;p20"/>
          <p:cNvSpPr/>
          <p:nvPr/>
        </p:nvSpPr>
        <p:spPr>
          <a:xfrm>
            <a:off x="2734056" y="1883664"/>
            <a:ext cx="4632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0" name="Google Shape;3160;p20"/>
          <p:cNvSpPr/>
          <p:nvPr/>
        </p:nvSpPr>
        <p:spPr>
          <a:xfrm>
            <a:off x="3243072" y="1865376"/>
            <a:ext cx="554736" cy="219456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1" name="Google Shape;3161;p20"/>
          <p:cNvSpPr/>
          <p:nvPr/>
        </p:nvSpPr>
        <p:spPr>
          <a:xfrm>
            <a:off x="3288792" y="1883664"/>
            <a:ext cx="4632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2" name="Google Shape;3162;p20"/>
          <p:cNvSpPr/>
          <p:nvPr/>
        </p:nvSpPr>
        <p:spPr>
          <a:xfrm>
            <a:off x="3797808" y="1865376"/>
            <a:ext cx="554736" cy="219456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3" name="Google Shape;3163;p20"/>
          <p:cNvSpPr/>
          <p:nvPr/>
        </p:nvSpPr>
        <p:spPr>
          <a:xfrm>
            <a:off x="3843528" y="1883664"/>
            <a:ext cx="4632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4" name="Google Shape;3164;p20"/>
          <p:cNvSpPr/>
          <p:nvPr/>
        </p:nvSpPr>
        <p:spPr>
          <a:xfrm>
            <a:off x="2688336" y="2084832"/>
            <a:ext cx="554736" cy="219456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5" name="Google Shape;3165;p20"/>
          <p:cNvSpPr/>
          <p:nvPr/>
        </p:nvSpPr>
        <p:spPr>
          <a:xfrm>
            <a:off x="2734056" y="2103120"/>
            <a:ext cx="4632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6" name="Google Shape;3166;p20"/>
          <p:cNvSpPr/>
          <p:nvPr/>
        </p:nvSpPr>
        <p:spPr>
          <a:xfrm>
            <a:off x="3243072" y="2084832"/>
            <a:ext cx="554736" cy="219456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7" name="Google Shape;3167;p20"/>
          <p:cNvSpPr/>
          <p:nvPr/>
        </p:nvSpPr>
        <p:spPr>
          <a:xfrm>
            <a:off x="3288792" y="2103120"/>
            <a:ext cx="4632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8" name="Google Shape;3168;p20"/>
          <p:cNvSpPr/>
          <p:nvPr/>
        </p:nvSpPr>
        <p:spPr>
          <a:xfrm>
            <a:off x="3797808" y="2084832"/>
            <a:ext cx="554736" cy="219456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9" name="Google Shape;3169;p20"/>
          <p:cNvSpPr/>
          <p:nvPr/>
        </p:nvSpPr>
        <p:spPr>
          <a:xfrm>
            <a:off x="3843528" y="2103120"/>
            <a:ext cx="4632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0" name="Google Shape;3170;p20"/>
          <p:cNvSpPr/>
          <p:nvPr/>
        </p:nvSpPr>
        <p:spPr>
          <a:xfrm>
            <a:off x="2688336" y="2304288"/>
            <a:ext cx="554736" cy="219456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1" name="Google Shape;3171;p20"/>
          <p:cNvSpPr/>
          <p:nvPr/>
        </p:nvSpPr>
        <p:spPr>
          <a:xfrm>
            <a:off x="2734056" y="2322576"/>
            <a:ext cx="4632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2" name="Google Shape;3172;p20"/>
          <p:cNvSpPr/>
          <p:nvPr/>
        </p:nvSpPr>
        <p:spPr>
          <a:xfrm>
            <a:off x="3243072" y="2304288"/>
            <a:ext cx="554736" cy="219456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3" name="Google Shape;3173;p20"/>
          <p:cNvSpPr/>
          <p:nvPr/>
        </p:nvSpPr>
        <p:spPr>
          <a:xfrm>
            <a:off x="3288792" y="2322576"/>
            <a:ext cx="4632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4" name="Google Shape;3174;p20"/>
          <p:cNvSpPr/>
          <p:nvPr/>
        </p:nvSpPr>
        <p:spPr>
          <a:xfrm>
            <a:off x="3797808" y="2304288"/>
            <a:ext cx="554736" cy="219456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5" name="Google Shape;3175;p20"/>
          <p:cNvSpPr/>
          <p:nvPr/>
        </p:nvSpPr>
        <p:spPr>
          <a:xfrm>
            <a:off x="3843528" y="2322576"/>
            <a:ext cx="4632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6" name="Google Shape;3176;p20"/>
          <p:cNvSpPr/>
          <p:nvPr/>
        </p:nvSpPr>
        <p:spPr>
          <a:xfrm>
            <a:off x="310900" y="2661000"/>
            <a:ext cx="4050900" cy="1170300"/>
          </a:xfrm>
          <a:prstGeom prst="rect">
            <a:avLst/>
          </a:prstGeom>
          <a:solidFill>
            <a:srgbClr val="1A2B3C"/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7" name="Google Shape;3177;p20"/>
          <p:cNvSpPr/>
          <p:nvPr/>
        </p:nvSpPr>
        <p:spPr>
          <a:xfrm>
            <a:off x="301671" y="2555777"/>
            <a:ext cx="4050900" cy="1830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8" name="Google Shape;3178;p20"/>
          <p:cNvSpPr/>
          <p:nvPr/>
        </p:nvSpPr>
        <p:spPr>
          <a:xfrm>
            <a:off x="402323" y="2551128"/>
            <a:ext cx="1280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9" name="Google Shape;3179;p20"/>
          <p:cNvSpPr/>
          <p:nvPr/>
        </p:nvSpPr>
        <p:spPr>
          <a:xfrm>
            <a:off x="402411" y="2788964"/>
            <a:ext cx="38679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dat = np.arange(80).reshape(10, 8)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  = pd.DataFrame(dat)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Permute all row indices randomly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sampler  = np.random.permutation(10)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shuffled = df.take(sampler)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Modern: df.sample(frac=1,random_state=42)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           .reset_index(drop=True)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0" name="Google Shape;3180;p20"/>
          <p:cNvSpPr/>
          <p:nvPr/>
        </p:nvSpPr>
        <p:spPr>
          <a:xfrm>
            <a:off x="301671" y="3831361"/>
            <a:ext cx="4050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E8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6E8A"/>
                </a:solidFill>
                <a:latin typeface="Calibri"/>
                <a:ea typeface="Calibri"/>
                <a:cs typeface="Calibri"/>
                <a:sym typeface="Calibri"/>
              </a:rPr>
              <a:t>80% train: df.sample(frac=0.8, random_state=42)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1" name="Google Shape;3181;p20"/>
          <p:cNvSpPr/>
          <p:nvPr/>
        </p:nvSpPr>
        <p:spPr>
          <a:xfrm>
            <a:off x="4636008" y="841248"/>
            <a:ext cx="4306824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85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2" name="Google Shape;3182;p20"/>
          <p:cNvSpPr/>
          <p:nvPr/>
        </p:nvSpPr>
        <p:spPr>
          <a:xfrm>
            <a:off x="4745736" y="896112"/>
            <a:ext cx="4142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50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4850A"/>
                </a:solidFill>
                <a:latin typeface="Calibri"/>
                <a:ea typeface="Calibri"/>
                <a:cs typeface="Calibri"/>
                <a:sym typeface="Calibri"/>
              </a:rPr>
              <a:t>Sampling — select a subset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3" name="Google Shape;3183;p20"/>
          <p:cNvSpPr/>
          <p:nvPr/>
        </p:nvSpPr>
        <p:spPr>
          <a:xfrm>
            <a:off x="4745736" y="1170432"/>
            <a:ext cx="41422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50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850A"/>
                </a:solidFill>
                <a:latin typeface="Calibri"/>
                <a:ea typeface="Calibri"/>
                <a:cs typeface="Calibri"/>
                <a:sym typeface="Calibri"/>
              </a:rPr>
              <a:t>WITHOUT replacement (no repeats)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4" name="Google Shape;3184;p20"/>
          <p:cNvSpPr/>
          <p:nvPr/>
        </p:nvSpPr>
        <p:spPr>
          <a:xfrm>
            <a:off x="4745736" y="1389888"/>
            <a:ext cx="4105656" cy="1316736"/>
          </a:xfrm>
          <a:prstGeom prst="rect">
            <a:avLst/>
          </a:prstGeom>
          <a:solidFill>
            <a:srgbClr val="1A2B3C"/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5" name="Google Shape;3185;p20"/>
          <p:cNvSpPr/>
          <p:nvPr/>
        </p:nvSpPr>
        <p:spPr>
          <a:xfrm>
            <a:off x="4745736" y="1389888"/>
            <a:ext cx="4105656" cy="18288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6" name="Google Shape;3186;p20"/>
          <p:cNvSpPr/>
          <p:nvPr/>
        </p:nvSpPr>
        <p:spPr>
          <a:xfrm>
            <a:off x="4818888" y="1408176"/>
            <a:ext cx="12801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7" name="Google Shape;3187;p20"/>
          <p:cNvSpPr/>
          <p:nvPr/>
        </p:nvSpPr>
        <p:spPr>
          <a:xfrm>
            <a:off x="4837176" y="1600200"/>
            <a:ext cx="3922776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perm = np.random.permutation(len(df))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df.take(perm[:3])              # 3 unique rows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Modern: df.sample(n=3, random_state=42)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80"/>
              <a:buFont typeface="Calibri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80/20 train-test split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train = df.sample(frac=0.8, random_state=42)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test  = df.drop(train.index)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8" name="Google Shape;3188;p20"/>
          <p:cNvSpPr/>
          <p:nvPr/>
        </p:nvSpPr>
        <p:spPr>
          <a:xfrm>
            <a:off x="4745736" y="2761488"/>
            <a:ext cx="41422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WITH replacement (repeats allowed)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9" name="Google Shape;3189;p20"/>
          <p:cNvSpPr/>
          <p:nvPr/>
        </p:nvSpPr>
        <p:spPr>
          <a:xfrm>
            <a:off x="4745736" y="2980944"/>
            <a:ext cx="4105656" cy="1097280"/>
          </a:xfrm>
          <a:prstGeom prst="rect">
            <a:avLst/>
          </a:prstGeom>
          <a:solidFill>
            <a:srgbClr val="1A2B3C"/>
          </a:solidFill>
          <a:ln cap="flat" cmpd="sng" w="15225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0" name="Google Shape;3190;p20"/>
          <p:cNvSpPr/>
          <p:nvPr/>
        </p:nvSpPr>
        <p:spPr>
          <a:xfrm>
            <a:off x="4745736" y="2980944"/>
            <a:ext cx="4105656" cy="18288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1" name="Google Shape;3191;p20"/>
          <p:cNvSpPr/>
          <p:nvPr/>
        </p:nvSpPr>
        <p:spPr>
          <a:xfrm>
            <a:off x="4818888" y="2999232"/>
            <a:ext cx="12801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2" name="Google Shape;3192;p20"/>
          <p:cNvSpPr/>
          <p:nvPr/>
        </p:nvSpPr>
        <p:spPr>
          <a:xfrm>
            <a:off x="4837176" y="3191256"/>
            <a:ext cx="3922776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sack    = np.array([4, 8, -2, 7, 5])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sampler = np.random.randint(0,len(sack),size=10)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draw    = sack.take(sampler)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[7,7,4,5,4,4,8,-2,8,5] — repeats occur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A8D8EA"/>
              </a:buClr>
              <a:buSzPts val="880"/>
              <a:buFont typeface="Consolas"/>
              <a:buNone/>
            </a:pPr>
            <a:r>
              <a:rPr b="0" i="0" lang="en-US" sz="880" u="none" cap="none" strike="noStrik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# Modern: pd.Series(sack).sample(n=10,replace=True)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3" name="Google Shape;3193;p20"/>
          <p:cNvSpPr/>
          <p:nvPr/>
        </p:nvSpPr>
        <p:spPr>
          <a:xfrm>
            <a:off x="201168" y="4517094"/>
            <a:ext cx="8741700" cy="329100"/>
          </a:xfrm>
          <a:prstGeom prst="rect">
            <a:avLst/>
          </a:prstGeom>
          <a:solidFill>
            <a:srgbClr val="D4850A">
              <a:alpha val="10196"/>
            </a:srgbClr>
          </a:solidFill>
          <a:ln cap="flat" cmpd="sng" w="15225">
            <a:solidFill>
              <a:srgbClr val="D485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4" name="Google Shape;3194;p20"/>
          <p:cNvSpPr/>
          <p:nvPr/>
        </p:nvSpPr>
        <p:spPr>
          <a:xfrm>
            <a:off x="182868" y="4494282"/>
            <a:ext cx="54900" cy="329100"/>
          </a:xfrm>
          <a:prstGeom prst="rect">
            <a:avLst/>
          </a:prstGeom>
          <a:solidFill>
            <a:srgbClr val="D4850A"/>
          </a:solidFill>
          <a:ln cap="flat" cmpd="sng" w="12700">
            <a:solidFill>
              <a:srgbClr val="D485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5" name="Google Shape;3195;p20"/>
          <p:cNvSpPr/>
          <p:nvPr/>
        </p:nvSpPr>
        <p:spPr>
          <a:xfrm>
            <a:off x="283496" y="4562695"/>
            <a:ext cx="8577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💡 Always set random_state=42 for reproducibility — same split every run. Essential for ML experiments.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0" name="Shape 3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1" name="Google Shape;3201;g3d4ede4960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0300" y="212050"/>
            <a:ext cx="377355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2" name="Google Shape;3202;g3d4ede49605_0_0"/>
          <p:cNvSpPr txBox="1"/>
          <p:nvPr/>
        </p:nvSpPr>
        <p:spPr>
          <a:xfrm>
            <a:off x="182225" y="2325450"/>
            <a:ext cx="390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Permutation &amp; Random Sampling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207" name="Shape 3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8" name="Google Shape;3208;p21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9" name="Google Shape;3209;p21"/>
          <p:cNvSpPr/>
          <p:nvPr/>
        </p:nvSpPr>
        <p:spPr>
          <a:xfrm>
            <a:off x="201168" y="91440"/>
            <a:ext cx="8686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Your Understanding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0" name="Google Shape;3210;p21"/>
          <p:cNvSpPr/>
          <p:nvPr/>
        </p:nvSpPr>
        <p:spPr>
          <a:xfrm>
            <a:off x="201168" y="530352"/>
            <a:ext cx="8741664" cy="36576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1" name="Google Shape;3211;p21"/>
          <p:cNvSpPr txBox="1"/>
          <p:nvPr/>
        </p:nvSpPr>
        <p:spPr>
          <a:xfrm>
            <a:off x="298725" y="1360000"/>
            <a:ext cx="86442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Q1. </a:t>
            </a:r>
            <a:r>
              <a:rPr lang="en-US">
                <a:solidFill>
                  <a:schemeClr val="lt1"/>
                </a:solidFill>
              </a:rPr>
              <a:t>Apply pd.merge() on the following two DataFrames and show the result of all four types of joins: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df1 = pd.DataFrame({'EmpID':[101,102,103], 'Name':['Alice','Bob','Charlie']})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df2 = pd.DataFrame({'EmpID':[102,103,104],a'Dept':['HR','IT','Finance']})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Write the code for each join type and interpret the resulting DataFrames.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216" name="Shape 3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7" name="Google Shape;3217;g386fd86d3e8_0_64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8" name="Google Shape;3218;g386fd86d3e8_0_64"/>
          <p:cNvSpPr/>
          <p:nvPr/>
        </p:nvSpPr>
        <p:spPr>
          <a:xfrm>
            <a:off x="201168" y="91440"/>
            <a:ext cx="868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9" name="Google Shape;3219;g386fd86d3e8_0_64"/>
          <p:cNvSpPr/>
          <p:nvPr/>
        </p:nvSpPr>
        <p:spPr>
          <a:xfrm>
            <a:off x="201168" y="530352"/>
            <a:ext cx="8741700" cy="36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0" name="Google Shape;3220;g386fd86d3e8_0_64"/>
          <p:cNvSpPr txBox="1"/>
          <p:nvPr/>
        </p:nvSpPr>
        <p:spPr>
          <a:xfrm>
            <a:off x="268900" y="644885"/>
            <a:ext cx="4328100" cy="3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import pandas as pd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df1 = pd.DataFrame({'EmpID': [101, 102, 103],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                    'Name':  ['Alice', 'Bob', 'Charlie']})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df2 = pd.DataFrame({'EmpID': [102, 103, 104],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                    'Dept':  ['HR', 'IT', 'Finance']})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print('--- df1 ---')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print(df1)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print('--- df2 ---')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print(df2)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inner = pd.merge(df1, df2, on='EmpID', how='inner')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print('\n=== INNER JOIN ===')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print(inner)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3221" name="Google Shape;3221;g386fd86d3e8_0_64"/>
          <p:cNvSpPr txBox="1"/>
          <p:nvPr/>
        </p:nvSpPr>
        <p:spPr>
          <a:xfrm>
            <a:off x="4681875" y="659793"/>
            <a:ext cx="4328100" cy="27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left = pd.merge(df1, df2, on='EmpID', how='left')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print('\n=== LEFT JOIN ===')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print(left)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right = pd.merge(df1, df2, on='EmpID', how='right')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print('\n=== RIGHT JOIN ===')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print(right)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outer = pd.merge(df1, df2, on='EmpID', how='outer')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print('\n=== OUTER JOIN ===')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print(outer)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226" name="Shape 3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7" name="Google Shape;3227;g386fd86d3e8_0_77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8" name="Google Shape;3228;g386fd86d3e8_0_77"/>
          <p:cNvSpPr/>
          <p:nvPr/>
        </p:nvSpPr>
        <p:spPr>
          <a:xfrm>
            <a:off x="201168" y="91440"/>
            <a:ext cx="868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9" name="Google Shape;3229;g386fd86d3e8_0_77"/>
          <p:cNvSpPr/>
          <p:nvPr/>
        </p:nvSpPr>
        <p:spPr>
          <a:xfrm>
            <a:off x="201168" y="530352"/>
            <a:ext cx="8741700" cy="36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0" name="Google Shape;3230;g386fd86d3e8_0_77"/>
          <p:cNvSpPr txBox="1"/>
          <p:nvPr/>
        </p:nvSpPr>
        <p:spPr>
          <a:xfrm>
            <a:off x="268900" y="644885"/>
            <a:ext cx="43281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3231" name="Google Shape;3231;g386fd86d3e8_0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00" y="644870"/>
            <a:ext cx="3910225" cy="262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2" name="Google Shape;3232;g386fd86d3e8_0_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1800" y="644875"/>
            <a:ext cx="2744225" cy="439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237" name="Shape 3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8" name="Google Shape;3238;g386fd86d3e8_0_16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9" name="Google Shape;3239;g386fd86d3e8_0_16"/>
          <p:cNvSpPr/>
          <p:nvPr/>
        </p:nvSpPr>
        <p:spPr>
          <a:xfrm>
            <a:off x="201168" y="91440"/>
            <a:ext cx="868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Your Understanding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0" name="Google Shape;3240;g386fd86d3e8_0_16"/>
          <p:cNvSpPr/>
          <p:nvPr/>
        </p:nvSpPr>
        <p:spPr>
          <a:xfrm>
            <a:off x="201168" y="530352"/>
            <a:ext cx="8741700" cy="36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1" name="Google Shape;3241;g386fd86d3e8_0_16"/>
          <p:cNvSpPr txBox="1"/>
          <p:nvPr/>
        </p:nvSpPr>
        <p:spPr>
          <a:xfrm>
            <a:off x="298725" y="904450"/>
            <a:ext cx="8644200" cy="3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Q2. Apply the following transformation code on the given dataset and interpret the output at each step.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import pandas as pd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import numpy as np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df = pd.DataFrame({'A':[1,2,np.nan,4,5],'B':[np.nan,2,3,np.nan,5],'C':[1,2,3,4,5]}) print(df.isnull().sum())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df_filled = df.fillna(df.mean())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print(df_filled)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df_dropped = df.dropna()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print(df_dropped)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246" name="Shape 3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7" name="Google Shape;3247;g386fd86d3e8_0_92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8" name="Google Shape;3248;g386fd86d3e8_0_92"/>
          <p:cNvSpPr/>
          <p:nvPr/>
        </p:nvSpPr>
        <p:spPr>
          <a:xfrm>
            <a:off x="201168" y="91440"/>
            <a:ext cx="868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9" name="Google Shape;3249;g386fd86d3e8_0_92"/>
          <p:cNvSpPr/>
          <p:nvPr/>
        </p:nvSpPr>
        <p:spPr>
          <a:xfrm>
            <a:off x="201168" y="530352"/>
            <a:ext cx="8741700" cy="36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0" name="Google Shape;3250;g386fd86d3e8_0_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175" y="735100"/>
            <a:ext cx="3963325" cy="430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255" name="Shape 3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" name="Google Shape;3256;g386fd86d3e8_0_24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7" name="Google Shape;3257;g386fd86d3e8_0_24"/>
          <p:cNvSpPr/>
          <p:nvPr/>
        </p:nvSpPr>
        <p:spPr>
          <a:xfrm>
            <a:off x="201168" y="91440"/>
            <a:ext cx="868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Your Understanding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8" name="Google Shape;3258;g386fd86d3e8_0_24"/>
          <p:cNvSpPr/>
          <p:nvPr/>
        </p:nvSpPr>
        <p:spPr>
          <a:xfrm>
            <a:off x="201168" y="530352"/>
            <a:ext cx="8741700" cy="36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9" name="Google Shape;3259;g386fd86d3e8_0_24"/>
          <p:cNvSpPr txBox="1"/>
          <p:nvPr/>
        </p:nvSpPr>
        <p:spPr>
          <a:xfrm>
            <a:off x="82200" y="904450"/>
            <a:ext cx="9061800" cy="3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Q3. </a:t>
            </a:r>
            <a:r>
              <a:rPr lang="en-US">
                <a:solidFill>
                  <a:schemeClr val="lt1"/>
                </a:solidFill>
              </a:rPr>
              <a:t>Analyse the following code snippet and Interpret the output at each step: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import pandas as pd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df = pd.DataFrame({'Mumbai':[200,250],'Delhi':[300,350]}, index=['2023-01','2023-02']) print('Original DataFrame:');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print(df)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print('After stack():');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stacked = df.stack();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print(stacked)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print('After unstack():');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print(stacked.unstack())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264" name="Shape 3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5" name="Google Shape;3265;g386fd86d3e8_0_101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6" name="Google Shape;3266;g386fd86d3e8_0_101"/>
          <p:cNvSpPr/>
          <p:nvPr/>
        </p:nvSpPr>
        <p:spPr>
          <a:xfrm>
            <a:off x="201168" y="91440"/>
            <a:ext cx="868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7" name="Google Shape;3267;g386fd86d3e8_0_101"/>
          <p:cNvSpPr/>
          <p:nvPr/>
        </p:nvSpPr>
        <p:spPr>
          <a:xfrm>
            <a:off x="201168" y="530352"/>
            <a:ext cx="8741700" cy="36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68" name="Google Shape;3268;g386fd86d3e8_0_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425" y="674627"/>
            <a:ext cx="3048000" cy="41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273" name="Shape 3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4" name="Google Shape;3274;g386fd86d3e8_0_32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5" name="Google Shape;3275;g386fd86d3e8_0_32"/>
          <p:cNvSpPr/>
          <p:nvPr/>
        </p:nvSpPr>
        <p:spPr>
          <a:xfrm>
            <a:off x="201168" y="91440"/>
            <a:ext cx="868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Your Understanding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6" name="Google Shape;3276;g386fd86d3e8_0_32"/>
          <p:cNvSpPr/>
          <p:nvPr/>
        </p:nvSpPr>
        <p:spPr>
          <a:xfrm>
            <a:off x="201168" y="530352"/>
            <a:ext cx="8741700" cy="36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7" name="Google Shape;3277;g386fd86d3e8_0_32"/>
          <p:cNvSpPr txBox="1"/>
          <p:nvPr/>
        </p:nvSpPr>
        <p:spPr>
          <a:xfrm>
            <a:off x="82200" y="904450"/>
            <a:ext cx="90618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Q4. </a:t>
            </a:r>
            <a:r>
              <a:rPr lang="en-US">
                <a:solidFill>
                  <a:schemeClr val="lt1"/>
                </a:solidFill>
              </a:rPr>
              <a:t>Interpret the output: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df = pd.DataFrame({'A':[1,2,3],'B':[4,5,6]}, index=['x','y','z'])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print(df)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df = df.rename(columns={'A':'Score','B':'Rank'}, index={'x':'Row1','y':'Row2','z':'Row3'})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print("After renaming:")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print(df)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282" name="Shape 3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3" name="Google Shape;3283;g386fd86d3e8_0_110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4" name="Google Shape;3284;g386fd86d3e8_0_110"/>
          <p:cNvSpPr/>
          <p:nvPr/>
        </p:nvSpPr>
        <p:spPr>
          <a:xfrm>
            <a:off x="201168" y="91440"/>
            <a:ext cx="868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5" name="Google Shape;3285;g386fd86d3e8_0_110"/>
          <p:cNvSpPr/>
          <p:nvPr/>
        </p:nvSpPr>
        <p:spPr>
          <a:xfrm>
            <a:off x="201168" y="530352"/>
            <a:ext cx="8741700" cy="36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6" name="Google Shape;3286;g386fd86d3e8_0_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00" y="719350"/>
            <a:ext cx="2990650" cy="288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291" name="Shape 3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2" name="Google Shape;3292;g386fd86d3e8_0_40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3" name="Google Shape;3293;g386fd86d3e8_0_40"/>
          <p:cNvSpPr/>
          <p:nvPr/>
        </p:nvSpPr>
        <p:spPr>
          <a:xfrm>
            <a:off x="201168" y="91440"/>
            <a:ext cx="868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Your Understanding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4" name="Google Shape;3294;g386fd86d3e8_0_40"/>
          <p:cNvSpPr/>
          <p:nvPr/>
        </p:nvSpPr>
        <p:spPr>
          <a:xfrm>
            <a:off x="201168" y="530352"/>
            <a:ext cx="8741700" cy="36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5" name="Google Shape;3295;g386fd86d3e8_0_40"/>
          <p:cNvSpPr txBox="1"/>
          <p:nvPr/>
        </p:nvSpPr>
        <p:spPr>
          <a:xfrm>
            <a:off x="82200" y="904450"/>
            <a:ext cx="9061800" cy="3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Q5.</a:t>
            </a:r>
            <a:r>
              <a:rPr lang="en-US">
                <a:solidFill>
                  <a:schemeClr val="lt1"/>
                </a:solidFill>
              </a:rPr>
              <a:t>The following two </a:t>
            </a:r>
            <a:r>
              <a:rPr lang="en-US">
                <a:solidFill>
                  <a:schemeClr val="lt1"/>
                </a:solidFill>
              </a:rPr>
              <a:t>Data Frames</a:t>
            </a:r>
            <a:r>
              <a:rPr lang="en-US">
                <a:solidFill>
                  <a:schemeClr val="lt1"/>
                </a:solidFill>
              </a:rPr>
              <a:t> are given: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df1 = pd.DataFrame({'A':[1,2],'B':[3,4]})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df2 = pd.DataFrame({'A':[5,6],'B':[7,8]})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print(df1)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print(df2)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Write Python code to: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lphaLcParenR"/>
            </a:pPr>
            <a:r>
              <a:rPr lang="en-US">
                <a:solidFill>
                  <a:schemeClr val="lt1"/>
                </a:solidFill>
              </a:rPr>
              <a:t>Perform vertical concatenation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lphaLcParenR"/>
            </a:pPr>
            <a:r>
              <a:rPr lang="en-US">
                <a:solidFill>
                  <a:schemeClr val="lt1"/>
                </a:solidFill>
              </a:rPr>
              <a:t>Perform horizontal concatenation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300" name="Shape 3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1" name="Google Shape;3301;g386fd86d3e8_0_217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2" name="Google Shape;3302;g386fd86d3e8_0_217"/>
          <p:cNvSpPr/>
          <p:nvPr/>
        </p:nvSpPr>
        <p:spPr>
          <a:xfrm>
            <a:off x="201168" y="91440"/>
            <a:ext cx="868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Your Understanding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3" name="Google Shape;3303;g386fd86d3e8_0_217"/>
          <p:cNvSpPr/>
          <p:nvPr/>
        </p:nvSpPr>
        <p:spPr>
          <a:xfrm>
            <a:off x="201168" y="530352"/>
            <a:ext cx="8741700" cy="36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4" name="Google Shape;3304;g386fd86d3e8_0_217"/>
          <p:cNvSpPr txBox="1"/>
          <p:nvPr/>
        </p:nvSpPr>
        <p:spPr>
          <a:xfrm>
            <a:off x="82200" y="904450"/>
            <a:ext cx="9061800" cy="43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# === Output 1: Vertical concatenation (axis=0) ===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output1 = pd.concat([df1, df2])             # axis=0 is default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# OR: pd.concat([df1, df2], axis=0)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print('\n=== Output 1: pd.concat axis=0 (vertical) ===')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print(output1)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# Reset index to get sequential 0,1,2,3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output1_reset = pd.concat([df1, df2], ignore_index=True)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print('\n=== Output 1 with ignore_index=True ===')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print(output1_reset)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# === Output 2: Horizontal concatenation (axis=1) ===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output2 = pd.concat([df1, df2], axis=1)    # axis=1 = side-by-side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print('\n=== Output 2: pd.concat axis=1 (horizontal) ===')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print(output2)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309" name="Shape 3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0" name="Google Shape;3310;g386fd86d3e8_0_119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1" name="Google Shape;3311;g386fd86d3e8_0_119"/>
          <p:cNvSpPr/>
          <p:nvPr/>
        </p:nvSpPr>
        <p:spPr>
          <a:xfrm>
            <a:off x="201168" y="91440"/>
            <a:ext cx="868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2" name="Google Shape;3312;g386fd86d3e8_0_119"/>
          <p:cNvSpPr/>
          <p:nvPr/>
        </p:nvSpPr>
        <p:spPr>
          <a:xfrm>
            <a:off x="201168" y="530352"/>
            <a:ext cx="8741700" cy="36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3" name="Google Shape;3313;g386fd86d3e8_0_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00" y="719352"/>
            <a:ext cx="2143125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4" name="Google Shape;3314;g386fd86d3e8_0_1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375" y="2448752"/>
            <a:ext cx="1933575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5" name="Google Shape;3315;g386fd86d3e8_0_1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0125" y="726477"/>
            <a:ext cx="5108100" cy="430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320" name="Shape 3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1" name="Google Shape;3321;g386fd86d3e8_0_48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2" name="Google Shape;3322;g386fd86d3e8_0_48"/>
          <p:cNvSpPr/>
          <p:nvPr/>
        </p:nvSpPr>
        <p:spPr>
          <a:xfrm>
            <a:off x="201168" y="91440"/>
            <a:ext cx="868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Your Understanding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3" name="Google Shape;3323;g386fd86d3e8_0_48"/>
          <p:cNvSpPr/>
          <p:nvPr/>
        </p:nvSpPr>
        <p:spPr>
          <a:xfrm>
            <a:off x="201168" y="530352"/>
            <a:ext cx="8741700" cy="36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4" name="Google Shape;3324;g386fd86d3e8_0_48"/>
          <p:cNvSpPr txBox="1"/>
          <p:nvPr/>
        </p:nvSpPr>
        <p:spPr>
          <a:xfrm>
            <a:off x="82200" y="904450"/>
            <a:ext cx="90618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Q6. </a:t>
            </a:r>
            <a:r>
              <a:rPr lang="en-US">
                <a:solidFill>
                  <a:schemeClr val="lt1"/>
                </a:solidFill>
              </a:rPr>
              <a:t>Write Python code to perform the following tasks for the given dataframe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Columns: Bergen, Oslo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Rows: Rainfall, Humidity, Wind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i) Convert index to uppercase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ii) Truncate index to contain only first three characters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329" name="Shape 3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0" name="Google Shape;3330;g386fd86d3e8_0_130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1" name="Google Shape;3331;g386fd86d3e8_0_130"/>
          <p:cNvSpPr/>
          <p:nvPr/>
        </p:nvSpPr>
        <p:spPr>
          <a:xfrm>
            <a:off x="201168" y="91440"/>
            <a:ext cx="868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2" name="Google Shape;3332;g386fd86d3e8_0_130"/>
          <p:cNvSpPr/>
          <p:nvPr/>
        </p:nvSpPr>
        <p:spPr>
          <a:xfrm>
            <a:off x="201168" y="530352"/>
            <a:ext cx="8741700" cy="36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3" name="Google Shape;3333;g386fd86d3e8_0_130"/>
          <p:cNvSpPr txBox="1"/>
          <p:nvPr/>
        </p:nvSpPr>
        <p:spPr>
          <a:xfrm>
            <a:off x="82200" y="566950"/>
            <a:ext cx="4261200" cy="43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import pandas as pd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import numpy as np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# Create the DataFrame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df = pd.DataFrame({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'Bergen': [45, 82, 23],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'Oslo':   [38, 75, 19]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}, index=['Rainfall', 'Humidity', 'Wind'])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print('Original DataFrame:')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print(df)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34" name="Google Shape;3334;g386fd86d3e8_0_130"/>
          <p:cNvSpPr txBox="1"/>
          <p:nvPr/>
        </p:nvSpPr>
        <p:spPr>
          <a:xfrm>
            <a:off x="4626775" y="566950"/>
            <a:ext cx="42612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# Using index.map()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df.index = df.index.map(str.upper)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print('After converting index to uppercase:')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print(df)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# Using index.map() with a lambda function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d</a:t>
            </a:r>
            <a:r>
              <a:rPr lang="en-US">
                <a:solidFill>
                  <a:schemeClr val="lt1"/>
                </a:solidFill>
              </a:rPr>
              <a:t>f.index = df.index.map(lambda x: x[:3])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print('After truncating index to first 3 characters:')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print(df)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339" name="Shape 3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0" name="Google Shape;3340;g386fd86d3e8_0_139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1" name="Google Shape;3341;g386fd86d3e8_0_139"/>
          <p:cNvSpPr/>
          <p:nvPr/>
        </p:nvSpPr>
        <p:spPr>
          <a:xfrm>
            <a:off x="201168" y="91440"/>
            <a:ext cx="868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2" name="Google Shape;3342;g386fd86d3e8_0_139"/>
          <p:cNvSpPr/>
          <p:nvPr/>
        </p:nvSpPr>
        <p:spPr>
          <a:xfrm>
            <a:off x="201168" y="530352"/>
            <a:ext cx="8741700" cy="36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3" name="Google Shape;3343;g386fd86d3e8_0_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9450" y="719350"/>
            <a:ext cx="4822150" cy="2380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4" name="Google Shape;3344;g386fd86d3e8_0_1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600" y="719350"/>
            <a:ext cx="3656825" cy="173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349" name="Shape 3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0" name="Google Shape;3350;g386fd86d3e8_0_56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1" name="Google Shape;3351;g386fd86d3e8_0_56"/>
          <p:cNvSpPr/>
          <p:nvPr/>
        </p:nvSpPr>
        <p:spPr>
          <a:xfrm>
            <a:off x="201168" y="91440"/>
            <a:ext cx="868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Your Understanding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2" name="Google Shape;3352;g386fd86d3e8_0_56"/>
          <p:cNvSpPr/>
          <p:nvPr/>
        </p:nvSpPr>
        <p:spPr>
          <a:xfrm>
            <a:off x="201168" y="530352"/>
            <a:ext cx="8741700" cy="36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3" name="Google Shape;3353;g386fd86d3e8_0_56"/>
          <p:cNvSpPr txBox="1"/>
          <p:nvPr/>
        </p:nvSpPr>
        <p:spPr>
          <a:xfrm>
            <a:off x="82200" y="904450"/>
            <a:ext cx="90618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Q7. </a:t>
            </a:r>
            <a:r>
              <a:rPr lang="en-US">
                <a:solidFill>
                  <a:schemeClr val="lt1"/>
                </a:solidFill>
              </a:rPr>
              <a:t>Write Python code and output to: Create a DataFrame, display summary statistics, display rows and columns, calculate TotalPrice = UnitPrice × Quantity, detect outliers where TotalPrice &gt; 3,000,000, and filter rows where TotalPrice &gt; 6,741,112.</a:t>
            </a:r>
            <a:endParaRPr>
              <a:solidFill>
                <a:schemeClr val="lt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358" name="Shape 3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9" name="Google Shape;3359;g386fd86d3e8_0_150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0" name="Google Shape;3360;g386fd86d3e8_0_150"/>
          <p:cNvSpPr/>
          <p:nvPr/>
        </p:nvSpPr>
        <p:spPr>
          <a:xfrm>
            <a:off x="201168" y="91440"/>
            <a:ext cx="868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1" name="Google Shape;3361;g386fd86d3e8_0_150"/>
          <p:cNvSpPr/>
          <p:nvPr/>
        </p:nvSpPr>
        <p:spPr>
          <a:xfrm>
            <a:off x="201168" y="530352"/>
            <a:ext cx="8741700" cy="36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2" name="Google Shape;3362;g386fd86d3e8_0_150"/>
          <p:cNvSpPr txBox="1"/>
          <p:nvPr/>
        </p:nvSpPr>
        <p:spPr>
          <a:xfrm>
            <a:off x="201175" y="585250"/>
            <a:ext cx="9061800" cy="46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import pandas as pd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import numpy as np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# Create the sales transactions dataset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data = {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'Transaction_ID': [1, 2, 3, 4, 5, 6, 7, 8, 9, 10],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'Quantity':       [10, 5, 2, 8, 12, 15, 20, 3, 9, 7],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'UnitPrice':      [150000, 750000, 400000, 550000, 70000,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                   100000, 65000, 1200000, 450000, 950000],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'Customer_ID':    [101, 102, 103, 104, 105, 106, 107, 108, 109, 110],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'Date':           ['2025-01-01','2025-01-02','2025-01-03','2025-01-04',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                   '2025-01-05','2025-01-06','2025-01-07','2025-01-08',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                   '2025-01-09','2025-01-10']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}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df = pd.DataFrame(data)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print('DataFrame created successfully!')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print(df.head())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367" name="Shape 3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" name="Google Shape;3368;g386fd86d3e8_0_158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9" name="Google Shape;3369;g386fd86d3e8_0_158"/>
          <p:cNvSpPr/>
          <p:nvPr/>
        </p:nvSpPr>
        <p:spPr>
          <a:xfrm>
            <a:off x="201168" y="91440"/>
            <a:ext cx="868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0" name="Google Shape;3370;g386fd86d3e8_0_158"/>
          <p:cNvSpPr/>
          <p:nvPr/>
        </p:nvSpPr>
        <p:spPr>
          <a:xfrm>
            <a:off x="201168" y="530352"/>
            <a:ext cx="8741700" cy="36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1" name="Google Shape;3371;g386fd86d3e8_0_158"/>
          <p:cNvSpPr txBox="1"/>
          <p:nvPr/>
        </p:nvSpPr>
        <p:spPr>
          <a:xfrm>
            <a:off x="201175" y="585250"/>
            <a:ext cx="9047100" cy="46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# Summary statistics — mean, std, min, max, quartiles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print('\nSummary Statistics:')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print(df.describe())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# Display shape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rows, cols = df.shape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print(f'\nNumber of rows: {rows}')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print(f'Number of columns: {cols}')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print(f'Shape: {df.shape}')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# Info — column names, dtypes, non-null counts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print('\nDataFrame Info:')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df.info()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# Add new derived column TotalPrice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df['TotalPrice'] = df['UnitPrice'] * df['Quantity']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print('\nDataFrame with TotalPrice column:')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print(df[['Transaction_ID', 'Quantity', 'UnitPrice', 'TotalPrice']])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376" name="Shape 3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7" name="Google Shape;3377;g386fd86d3e8_0_166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8" name="Google Shape;3378;g386fd86d3e8_0_166"/>
          <p:cNvSpPr/>
          <p:nvPr/>
        </p:nvSpPr>
        <p:spPr>
          <a:xfrm>
            <a:off x="201168" y="91440"/>
            <a:ext cx="868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9" name="Google Shape;3379;g386fd86d3e8_0_166"/>
          <p:cNvSpPr/>
          <p:nvPr/>
        </p:nvSpPr>
        <p:spPr>
          <a:xfrm>
            <a:off x="201168" y="530352"/>
            <a:ext cx="8741700" cy="36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0" name="Google Shape;3380;g386fd86d3e8_0_166"/>
          <p:cNvSpPr txBox="1"/>
          <p:nvPr/>
        </p:nvSpPr>
        <p:spPr>
          <a:xfrm>
            <a:off x="201175" y="585250"/>
            <a:ext cx="9047100" cy="2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# Detect outliers — transactions exceeding 3 million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TotalTransaction = df['TotalPrice']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outliers = TotalTransaction[np.abs(TotalTransaction) &gt; 3000000]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print('\nOutliers (TotalPrice &gt; 3,000,000):')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print(outliers)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print(f'\nNumber of outlier transactions: {len(outliers)}')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385" name="Shape 3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6" name="Google Shape;3386;g386fd86d3e8_0_174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7" name="Google Shape;3387;g386fd86d3e8_0_174"/>
          <p:cNvSpPr/>
          <p:nvPr/>
        </p:nvSpPr>
        <p:spPr>
          <a:xfrm>
            <a:off x="201168" y="91440"/>
            <a:ext cx="868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8" name="Google Shape;3388;g386fd86d3e8_0_174"/>
          <p:cNvSpPr/>
          <p:nvPr/>
        </p:nvSpPr>
        <p:spPr>
          <a:xfrm>
            <a:off x="201168" y="530352"/>
            <a:ext cx="8741700" cy="36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9" name="Google Shape;3389;g386fd86d3e8_0_1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00" y="719352"/>
            <a:ext cx="8286750" cy="202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394" name="Shape 3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5" name="Google Shape;3395;g386fd86d3e8_0_183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6" name="Google Shape;3396;g386fd86d3e8_0_183"/>
          <p:cNvSpPr/>
          <p:nvPr/>
        </p:nvSpPr>
        <p:spPr>
          <a:xfrm>
            <a:off x="201168" y="91440"/>
            <a:ext cx="868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7" name="Google Shape;3397;g386fd86d3e8_0_183"/>
          <p:cNvSpPr/>
          <p:nvPr/>
        </p:nvSpPr>
        <p:spPr>
          <a:xfrm>
            <a:off x="201168" y="530352"/>
            <a:ext cx="8741700" cy="36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98" name="Google Shape;3398;g386fd86d3e8_0_1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00" y="719352"/>
            <a:ext cx="7930552" cy="4271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403" name="Shape 3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4" name="Google Shape;3404;g386fd86d3e8_0_192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5" name="Google Shape;3405;g386fd86d3e8_0_192"/>
          <p:cNvSpPr/>
          <p:nvPr/>
        </p:nvSpPr>
        <p:spPr>
          <a:xfrm>
            <a:off x="201168" y="91440"/>
            <a:ext cx="868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6" name="Google Shape;3406;g386fd86d3e8_0_192"/>
          <p:cNvSpPr/>
          <p:nvPr/>
        </p:nvSpPr>
        <p:spPr>
          <a:xfrm>
            <a:off x="201168" y="530352"/>
            <a:ext cx="8741700" cy="36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07" name="Google Shape;3407;g386fd86d3e8_0_1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00" y="719352"/>
            <a:ext cx="6734175" cy="40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412" name="Shape 3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3" name="Google Shape;3413;g386fd86d3e8_0_200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4" name="Google Shape;3414;g386fd86d3e8_0_200"/>
          <p:cNvSpPr/>
          <p:nvPr/>
        </p:nvSpPr>
        <p:spPr>
          <a:xfrm>
            <a:off x="201168" y="91440"/>
            <a:ext cx="868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5" name="Google Shape;3415;g386fd86d3e8_0_200"/>
          <p:cNvSpPr/>
          <p:nvPr/>
        </p:nvSpPr>
        <p:spPr>
          <a:xfrm>
            <a:off x="201168" y="530352"/>
            <a:ext cx="8741700" cy="36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16" name="Google Shape;3416;g386fd86d3e8_0_2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00" y="719352"/>
            <a:ext cx="664845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421" name="Shape 3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2" name="Google Shape;3422;g386fd86d3e8_0_208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3" name="Google Shape;3423;g386fd86d3e8_0_208"/>
          <p:cNvSpPr/>
          <p:nvPr/>
        </p:nvSpPr>
        <p:spPr>
          <a:xfrm>
            <a:off x="201168" y="91440"/>
            <a:ext cx="868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4" name="Google Shape;3424;g386fd86d3e8_0_208"/>
          <p:cNvSpPr/>
          <p:nvPr/>
        </p:nvSpPr>
        <p:spPr>
          <a:xfrm>
            <a:off x="201168" y="530352"/>
            <a:ext cx="8741700" cy="36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25" name="Google Shape;3425;g386fd86d3e8_0_2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00" y="719352"/>
            <a:ext cx="6581775" cy="275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430" name="Shape 3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1" name="Google Shape;3431;g386fd86d3e8_0_6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2" name="Google Shape;3432;g386fd86d3e8_0_6"/>
          <p:cNvSpPr/>
          <p:nvPr/>
        </p:nvSpPr>
        <p:spPr>
          <a:xfrm>
            <a:off x="201168" y="91440"/>
            <a:ext cx="868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2 — Quick Reference Cheatsheet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3" name="Google Shape;3433;g386fd86d3e8_0_6"/>
          <p:cNvSpPr/>
          <p:nvPr/>
        </p:nvSpPr>
        <p:spPr>
          <a:xfrm>
            <a:off x="201168" y="530352"/>
            <a:ext cx="8741700" cy="36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34" name="Google Shape;3434;g386fd86d3e8_0_6"/>
          <p:cNvGraphicFramePr/>
          <p:nvPr/>
        </p:nvGraphicFramePr>
        <p:xfrm>
          <a:off x="290368" y="13244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{B92997F6-8EFB-4589-B066-1F20035BF573}</a:tableStyleId>
              </a:tblPr>
              <a:tblGrid>
                <a:gridCol w="2059125"/>
                <a:gridCol w="3404475"/>
                <a:gridCol w="3278100"/>
              </a:tblGrid>
              <a:tr h="210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6E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Function / Syntax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6E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Critical Note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6E8A"/>
                    </a:solidFill>
                  </a:tcPr>
                </a:tc>
              </a:tr>
              <a:tr h="20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Vertical concat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pd.concat([df1,df2], axis=0, ignore_index=True)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ignore_index resets to 0,1,2,... avoids duplicate indices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Horizontal concat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pd.concat([df1,df2], axis=1)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Row indices must align; drop duplicate columns afterward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Inner join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df1.merge(df2, how='inner', on='key')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Only matching rows — fewest rows, no NaN from join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Left join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df1.merge(df2, how='left', on='key')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left rows kept; NaN where right has no match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Right join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df1.merge(df2, how='right', on='key')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right rows kept; NaN where left has no match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Outer join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df1.merge(df2, how='outer', on='key')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rows from both; most rows, most NaN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Merge on index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pd.merge(l, r, left_on='col', right_index=True)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right_index=True uses the right DF's index as join key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Wide → Long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df.stack()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Columns → MultiIndex rows; result is a Series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 → Wide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series.unstack()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Index rows → columns; NaN for missing combinations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 duplicates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df.duplicated()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= repeat of an earlier row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Remove duplicates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df.drop_duplicates(keep='first')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keep='last' or subset=['col'] for column-specific check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Replace values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df.replace({-786: np.nan})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Returns new DF — assign back or use inplace=True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439" name="Shape 3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" name="Google Shape;3440;g1a60b15045870692_4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D6E8A"/>
          </a:solidFill>
          <a:ln cap="flat" cmpd="sng" w="12700">
            <a:solidFill>
              <a:srgbClr val="0D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1" name="Google Shape;3441;g1a60b15045870692_4"/>
          <p:cNvSpPr/>
          <p:nvPr/>
        </p:nvSpPr>
        <p:spPr>
          <a:xfrm>
            <a:off x="201168" y="91440"/>
            <a:ext cx="868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2 — Quick Reference Cheatsheet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2" name="Google Shape;3442;g1a60b15045870692_4"/>
          <p:cNvSpPr/>
          <p:nvPr/>
        </p:nvSpPr>
        <p:spPr>
          <a:xfrm>
            <a:off x="201168" y="530352"/>
            <a:ext cx="8741700" cy="36600"/>
          </a:xfrm>
          <a:prstGeom prst="rect">
            <a:avLst/>
          </a:prstGeom>
          <a:solidFill>
            <a:srgbClr val="1A9E8A"/>
          </a:solidFill>
          <a:ln cap="flat" cmpd="sng" w="12700">
            <a:solidFill>
              <a:srgbClr val="1A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43" name="Google Shape;3443;g1a60b15045870692_4"/>
          <p:cNvGraphicFramePr/>
          <p:nvPr/>
        </p:nvGraphicFramePr>
        <p:xfrm>
          <a:off x="173718" y="11089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{B92997F6-8EFB-4589-B066-1F20035BF573}</a:tableStyleId>
              </a:tblPr>
              <a:tblGrid>
                <a:gridCol w="2059125"/>
                <a:gridCol w="3404475"/>
                <a:gridCol w="3278100"/>
              </a:tblGrid>
              <a:tr h="210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6E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Function / Syntax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6E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Critical Note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6E8A"/>
                    </a:solidFill>
                  </a:tcPr>
                </a:tc>
              </a:tr>
              <a:tr h="20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 NaN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df.isnull().sum()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 column; .sum().sum() for total NaN count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 NaN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df.dropna(how='all', thresh=N, axis=1)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how='all' = only all-NaN rows; thresh=N = flexible cutoff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Fill NaN constant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df.fillna(0) or df.fillna(df.mean())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fill preserves column distribution; 0 distorts mean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Fill NaN sequence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df.fillna(method='ffill') or 'bfill'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ffill = carry forward; bfill = carry backward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Interpolate NaN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df.interpolate(method='linear')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Estimates between two known anchor points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 bins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pd.cut(data, bins, labels=[...])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right=False for left-closed [a,b) intervals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Equal-freq bins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pd.qcut(data, 4)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Quartiles; each bin gets ~equal record count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Outlier detection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df[np.abs(col) &gt; threshold]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IQR: flag below Q1−1.5×IQR or above Q3+1.5×IQR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Dummy encoding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pd.get_dummies(df['col'], prefix='p', drop_first=True)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drop_first=True avoids dummy trap / multicollinearity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Shuffle rows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df.sample(frac=1, random_state=42).reset_index(drop=True)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20"/>
                        <a:buFont typeface="Calibri"/>
                        <a:buNone/>
                      </a:pPr>
                      <a:r>
                        <a:rPr lang="en-US" sz="82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Train/test: df.sample(frac=0.8, random_state=42)</a:t>
                      </a:r>
                      <a:endParaRPr sz="8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2026-03-17T03:28:29Z</dcterms:created>
  <dc:creator>PptxGenJS</dc:creator>
</cp:coreProperties>
</file>